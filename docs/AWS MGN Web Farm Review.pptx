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IBM Plex Mono Bold" charset="1" panose="020B0809050203000203"/>
      <p:regular r:id="rId22"/>
    </p:embeddedFont>
    <p:embeddedFont>
      <p:font typeface="Montserrat Bold" charset="1" panose="00000800000000000000"/>
      <p:regular r:id="rId23"/>
    </p:embeddedFont>
    <p:embeddedFont>
      <p:font typeface="IBM Plex Sans" charset="1" panose="020B0503050203000203"/>
      <p:regular r:id="rId24"/>
    </p:embeddedFont>
    <p:embeddedFont>
      <p:font typeface="IBM Plex Sans Bold" charset="1" panose="020B0803050203000203"/>
      <p:regular r:id="rId25"/>
    </p:embeddedFont>
    <p:embeddedFont>
      <p:font typeface="IBM Plex Mono" charset="1" panose="020B05090502030002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notesSlides/notesSlide3.xml" Type="http://schemas.openxmlformats.org/officeDocument/2006/relationships/notesSlide"/><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Introduce the project and team. Highlight the focus on lift-and-shift migration of a web farm using AWS Application Migration Service, with an emphasis on demonstration and real implementation evidence rather than theory.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why migration is needed and the goals of the project. Emphasize the minimal changes requirement and desired scalability, setting the stage for the AWS-based solution.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Provide a high-level overview of the solution workflow, showing the complete chain from source replication to the live AWS environment and monitoring. Orange indicates migration replication; blue indicates application traffic.</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through the architecture, distinguishing orange migration data flows from blue user traffic. Highlight the multi-AZ deployment, VPC boundary, Internet Gateway, target group, security groups, and CloudWatch linkage.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Clarify actual progress versus blocked steps. Stress successful replication and readiness, while explaining that account eligibility prevented test launch and cutover; manual AWS web-farm validation completed the demonstration path.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 concrete proof of implemented components using real AWS Console evidence. Reinforce that replication, running EC2 instances, target health, and the active load balancer are verified.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Showcase the TechStore application running on the migrated environment, demonstrating end-to-end functionality and server identity per request. All business figures in the application are demo data.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Demonstrate the ALB as the single entry point for three healthy EC2 targets. Explain HTTP root health checks and show sequential requests reaching different server identities, confirming live traffic distribution.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Emphasize proactive monitoring through CloudWatch. Show the three implemented high-CPU alarms, each configured for CPU above 70 percent, alongside representative EC2 metrics.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how multi-AZ deployment, multiple EC2 instances, and ALB health checks provide resilience. Be explicit that the Web-02 failure sequence is designed behavior and was not executed as an actual failure test.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Summarize the measurable outcomes. Reinforce successful initial replication, healthy targets, multi-AZ placement, monitoring coverage, and verified traffic distribution.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Discuss the real-world constraints and how the team adapted. Emphasize that decisions preserved a working demonstration while keeping the original scalable architecture honest and traceable to evidence.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Wrap up by highlighting the demonstrated migration workflow, successful initial replication, working web farm, ALB distribution, and CloudWatch monitoring. Explain how Auto Scaling, HTTPS, WAF, Route 53, logging, automated cutover, and production dashboards complete the path to an eight-server production design.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sp>
        <p:nvSpPr>
          <p:cNvPr name="Freeform 2" id="2"/>
          <p:cNvSpPr/>
          <p:nvPr/>
        </p:nvSpPr>
        <p:spPr>
          <a:xfrm flipH="false" flipV="false" rot="0">
            <a:off x="7524750" y="0"/>
            <a:ext cx="10763250" cy="10287000"/>
          </a:xfrm>
          <a:custGeom>
            <a:avLst/>
            <a:gdLst/>
            <a:ahLst/>
            <a:cxnLst/>
            <a:rect r="r" b="b" t="t" l="l"/>
            <a:pathLst>
              <a:path h="10287000" w="10763250">
                <a:moveTo>
                  <a:pt x="0" y="0"/>
                </a:moveTo>
                <a:lnTo>
                  <a:pt x="10763250" y="0"/>
                </a:lnTo>
                <a:lnTo>
                  <a:pt x="10763250" y="10287000"/>
                </a:lnTo>
                <a:lnTo>
                  <a:pt x="0" y="10287000"/>
                </a:lnTo>
                <a:lnTo>
                  <a:pt x="0" y="0"/>
                </a:lnTo>
                <a:close/>
              </a:path>
            </a:pathLst>
          </a:custGeom>
          <a:blipFill>
            <a:blip r:embed="rId3"/>
            <a:stretch>
              <a:fillRect l="-39" t="0" r="-39" b="0"/>
            </a:stretch>
          </a:blipFill>
          <a:ln cap="sq">
            <a:noFill/>
            <a:prstDash val="solid"/>
            <a:miter/>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07111F">
                    <a:alpha val="100000"/>
                  </a:srgbClr>
                </a:gs>
                <a:gs pos="42000">
                  <a:srgbClr val="07111F">
                    <a:alpha val="92000"/>
                  </a:srgbClr>
                </a:gs>
                <a:gs pos="100000">
                  <a:srgbClr val="07111F">
                    <a:alpha val="15000"/>
                  </a:srgbClr>
                </a:gs>
              </a:gsLst>
              <a:lin ang="16200000"/>
            </a:gradFill>
            <a:ln cap="sq">
              <a:noFill/>
              <a:prstDash val="solid"/>
              <a:miter/>
            </a:ln>
          </p:spPr>
        </p:sp>
        <p:sp>
          <p:nvSpPr>
            <p:cNvPr name="TextBox 5" id="5"/>
            <p:cNvSpPr txBox="true"/>
            <p:nvPr/>
          </p:nvSpPr>
          <p:spPr>
            <a:xfrm>
              <a:off x="0" y="-38100"/>
              <a:ext cx="24384000" cy="137541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838200" y="962025"/>
            <a:ext cx="5715000" cy="2571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ENGINEERING PROJECT REVIEW</a:t>
            </a:r>
          </a:p>
        </p:txBody>
      </p:sp>
      <p:sp>
        <p:nvSpPr>
          <p:cNvPr name="TextBox 7" id="7"/>
          <p:cNvSpPr txBox="true"/>
          <p:nvPr/>
        </p:nvSpPr>
        <p:spPr>
          <a:xfrm rot="0">
            <a:off x="838200" y="2085975"/>
            <a:ext cx="9810750" cy="1527810"/>
          </a:xfrm>
          <a:prstGeom prst="rect">
            <a:avLst/>
          </a:prstGeom>
        </p:spPr>
        <p:txBody>
          <a:bodyPr anchor="t" rtlCol="false" tIns="0" lIns="0" bIns="0" rIns="0">
            <a:spAutoFit/>
          </a:bodyPr>
          <a:lstStyle/>
          <a:p>
            <a:pPr algn="l">
              <a:lnSpc>
                <a:spcPts val="5985"/>
              </a:lnSpc>
            </a:pPr>
            <a:r>
              <a:rPr lang="en-US" sz="5700" b="true">
                <a:solidFill>
                  <a:srgbClr val="F7FBFF"/>
                </a:solidFill>
                <a:latin typeface="Montserrat Bold"/>
                <a:ea typeface="Montserrat Bold"/>
                <a:cs typeface="Montserrat Bold"/>
                <a:sym typeface="Montserrat Bold"/>
              </a:rPr>
              <a:t>AWS Application</a:t>
            </a:r>
          </a:p>
          <a:p>
            <a:pPr algn="l">
              <a:lnSpc>
                <a:spcPts val="5985"/>
              </a:lnSpc>
            </a:pPr>
            <a:r>
              <a:rPr lang="en-US" sz="5700" b="true">
                <a:solidFill>
                  <a:srgbClr val="F7FBFF"/>
                </a:solidFill>
                <a:latin typeface="Montserrat Bold"/>
                <a:ea typeface="Montserrat Bold"/>
                <a:cs typeface="Montserrat Bold"/>
                <a:sym typeface="Montserrat Bold"/>
              </a:rPr>
              <a:t>Migration Service</a:t>
            </a:r>
          </a:p>
        </p:txBody>
      </p:sp>
      <p:sp>
        <p:nvSpPr>
          <p:cNvPr name="TextBox 8" id="8"/>
          <p:cNvSpPr txBox="true"/>
          <p:nvPr/>
        </p:nvSpPr>
        <p:spPr>
          <a:xfrm rot="0">
            <a:off x="838200" y="3867150"/>
            <a:ext cx="8382000" cy="421005"/>
          </a:xfrm>
          <a:prstGeom prst="rect">
            <a:avLst/>
          </a:prstGeom>
        </p:spPr>
        <p:txBody>
          <a:bodyPr anchor="t" rtlCol="false" tIns="0" lIns="0" bIns="0" rIns="0">
            <a:spAutoFit/>
          </a:bodyPr>
          <a:lstStyle/>
          <a:p>
            <a:pPr algn="l">
              <a:lnSpc>
                <a:spcPts val="3569"/>
              </a:lnSpc>
            </a:pPr>
            <a:r>
              <a:rPr lang="en-US" sz="2550">
                <a:solidFill>
                  <a:srgbClr val="F7FBFF"/>
                </a:solidFill>
                <a:latin typeface="IBM Plex Sans"/>
                <a:ea typeface="IBM Plex Sans"/>
                <a:cs typeface="IBM Plex Sans"/>
                <a:sym typeface="IBM Plex Sans"/>
              </a:rPr>
              <a:t>Lift-and-Shift Migration of a Web Farm</a:t>
            </a:r>
          </a:p>
        </p:txBody>
      </p:sp>
      <p:grpSp>
        <p:nvGrpSpPr>
          <p:cNvPr name="Group 9" id="9"/>
          <p:cNvGrpSpPr/>
          <p:nvPr/>
        </p:nvGrpSpPr>
        <p:grpSpPr>
          <a:xfrm rot="0">
            <a:off x="838200" y="5905500"/>
            <a:ext cx="1066800" cy="590550"/>
            <a:chOff x="0" y="0"/>
            <a:chExt cx="1422400" cy="787400"/>
          </a:xfrm>
        </p:grpSpPr>
        <p:sp>
          <p:nvSpPr>
            <p:cNvPr name="Freeform 10" id="10"/>
            <p:cNvSpPr/>
            <p:nvPr/>
          </p:nvSpPr>
          <p:spPr>
            <a:xfrm flipH="false" flipV="false" rot="0">
              <a:off x="0" y="0"/>
              <a:ext cx="1422400" cy="787400"/>
            </a:xfrm>
            <a:custGeom>
              <a:avLst/>
              <a:gdLst/>
              <a:ahLst/>
              <a:cxnLst/>
              <a:rect r="r" b="b" t="t" l="l"/>
              <a:pathLst>
                <a:path h="787400" w="1422400">
                  <a:moveTo>
                    <a:pt x="158750" y="0"/>
                  </a:moveTo>
                  <a:lnTo>
                    <a:pt x="1263650" y="0"/>
                  </a:lnTo>
                  <a:cubicBezTo>
                    <a:pt x="1351325" y="0"/>
                    <a:pt x="1422400" y="71075"/>
                    <a:pt x="1422400" y="158750"/>
                  </a:cubicBezTo>
                  <a:lnTo>
                    <a:pt x="1422400" y="628650"/>
                  </a:lnTo>
                  <a:cubicBezTo>
                    <a:pt x="1422400" y="716325"/>
                    <a:pt x="1351325" y="787400"/>
                    <a:pt x="1263650" y="787400"/>
                  </a:cubicBezTo>
                  <a:lnTo>
                    <a:pt x="158750" y="787400"/>
                  </a:lnTo>
                  <a:cubicBezTo>
                    <a:pt x="71075" y="787400"/>
                    <a:pt x="0" y="716325"/>
                    <a:pt x="0" y="628650"/>
                  </a:cubicBezTo>
                  <a:lnTo>
                    <a:pt x="0" y="158750"/>
                  </a:lnTo>
                  <a:cubicBezTo>
                    <a:pt x="0" y="71075"/>
                    <a:pt x="71075" y="0"/>
                    <a:pt x="158750" y="0"/>
                  </a:cubicBezTo>
                  <a:close/>
                </a:path>
              </a:pathLst>
            </a:custGeom>
            <a:solidFill>
              <a:srgbClr val="142A42"/>
            </a:solidFill>
            <a:ln w="19050" cap="sq">
              <a:solidFill>
                <a:srgbClr val="FF9900"/>
              </a:solidFill>
              <a:prstDash val="solid"/>
              <a:miter/>
            </a:ln>
          </p:spPr>
        </p:sp>
        <p:sp>
          <p:nvSpPr>
            <p:cNvPr name="TextBox 11" id="11"/>
            <p:cNvSpPr txBox="true"/>
            <p:nvPr/>
          </p:nvSpPr>
          <p:spPr>
            <a:xfrm>
              <a:off x="0" y="-38100"/>
              <a:ext cx="1422400" cy="8255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MGN</a:t>
              </a:r>
            </a:p>
          </p:txBody>
        </p:sp>
      </p:grpSp>
      <p:grpSp>
        <p:nvGrpSpPr>
          <p:cNvPr name="Group 12" id="12"/>
          <p:cNvGrpSpPr/>
          <p:nvPr/>
        </p:nvGrpSpPr>
        <p:grpSpPr>
          <a:xfrm rot="0">
            <a:off x="2095500" y="5905500"/>
            <a:ext cx="1066800" cy="590550"/>
            <a:chOff x="0" y="0"/>
            <a:chExt cx="1422400" cy="787400"/>
          </a:xfrm>
        </p:grpSpPr>
        <p:sp>
          <p:nvSpPr>
            <p:cNvPr name="Freeform 13" id="13"/>
            <p:cNvSpPr/>
            <p:nvPr/>
          </p:nvSpPr>
          <p:spPr>
            <a:xfrm flipH="false" flipV="false" rot="0">
              <a:off x="0" y="0"/>
              <a:ext cx="1422400" cy="787400"/>
            </a:xfrm>
            <a:custGeom>
              <a:avLst/>
              <a:gdLst/>
              <a:ahLst/>
              <a:cxnLst/>
              <a:rect r="r" b="b" t="t" l="l"/>
              <a:pathLst>
                <a:path h="787400" w="1422400">
                  <a:moveTo>
                    <a:pt x="158750" y="0"/>
                  </a:moveTo>
                  <a:lnTo>
                    <a:pt x="1263650" y="0"/>
                  </a:lnTo>
                  <a:cubicBezTo>
                    <a:pt x="1351325" y="0"/>
                    <a:pt x="1422400" y="71075"/>
                    <a:pt x="1422400" y="158750"/>
                  </a:cubicBezTo>
                  <a:lnTo>
                    <a:pt x="1422400" y="628650"/>
                  </a:lnTo>
                  <a:cubicBezTo>
                    <a:pt x="1422400" y="716325"/>
                    <a:pt x="1351325" y="787400"/>
                    <a:pt x="1263650" y="787400"/>
                  </a:cubicBezTo>
                  <a:lnTo>
                    <a:pt x="158750" y="787400"/>
                  </a:lnTo>
                  <a:cubicBezTo>
                    <a:pt x="71075" y="787400"/>
                    <a:pt x="0" y="716325"/>
                    <a:pt x="0" y="628650"/>
                  </a:cubicBezTo>
                  <a:lnTo>
                    <a:pt x="0" y="158750"/>
                  </a:lnTo>
                  <a:cubicBezTo>
                    <a:pt x="0" y="71075"/>
                    <a:pt x="71075" y="0"/>
                    <a:pt x="158750" y="0"/>
                  </a:cubicBezTo>
                  <a:close/>
                </a:path>
              </a:pathLst>
            </a:custGeom>
            <a:solidFill>
              <a:srgbClr val="142A42"/>
            </a:solidFill>
            <a:ln w="19050" cap="sq">
              <a:solidFill>
                <a:srgbClr val="20A4F3"/>
              </a:solidFill>
              <a:prstDash val="solid"/>
              <a:miter/>
            </a:ln>
          </p:spPr>
        </p:sp>
        <p:sp>
          <p:nvSpPr>
            <p:cNvPr name="TextBox 14" id="14"/>
            <p:cNvSpPr txBox="true"/>
            <p:nvPr/>
          </p:nvSpPr>
          <p:spPr>
            <a:xfrm>
              <a:off x="0" y="-38100"/>
              <a:ext cx="1422400" cy="8255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EC2</a:t>
              </a:r>
            </a:p>
          </p:txBody>
        </p:sp>
      </p:grpSp>
      <p:grpSp>
        <p:nvGrpSpPr>
          <p:cNvPr name="Group 15" id="15"/>
          <p:cNvGrpSpPr/>
          <p:nvPr/>
        </p:nvGrpSpPr>
        <p:grpSpPr>
          <a:xfrm rot="0">
            <a:off x="3352800" y="5905500"/>
            <a:ext cx="1066800" cy="590550"/>
            <a:chOff x="0" y="0"/>
            <a:chExt cx="1422400" cy="787400"/>
          </a:xfrm>
        </p:grpSpPr>
        <p:sp>
          <p:nvSpPr>
            <p:cNvPr name="Freeform 16" id="16"/>
            <p:cNvSpPr/>
            <p:nvPr/>
          </p:nvSpPr>
          <p:spPr>
            <a:xfrm flipH="false" flipV="false" rot="0">
              <a:off x="0" y="0"/>
              <a:ext cx="1422400" cy="787400"/>
            </a:xfrm>
            <a:custGeom>
              <a:avLst/>
              <a:gdLst/>
              <a:ahLst/>
              <a:cxnLst/>
              <a:rect r="r" b="b" t="t" l="l"/>
              <a:pathLst>
                <a:path h="787400" w="1422400">
                  <a:moveTo>
                    <a:pt x="158750" y="0"/>
                  </a:moveTo>
                  <a:lnTo>
                    <a:pt x="1263650" y="0"/>
                  </a:lnTo>
                  <a:cubicBezTo>
                    <a:pt x="1351325" y="0"/>
                    <a:pt x="1422400" y="71075"/>
                    <a:pt x="1422400" y="158750"/>
                  </a:cubicBezTo>
                  <a:lnTo>
                    <a:pt x="1422400" y="628650"/>
                  </a:lnTo>
                  <a:cubicBezTo>
                    <a:pt x="1422400" y="716325"/>
                    <a:pt x="1351325" y="787400"/>
                    <a:pt x="1263650" y="787400"/>
                  </a:cubicBezTo>
                  <a:lnTo>
                    <a:pt x="158750" y="787400"/>
                  </a:lnTo>
                  <a:cubicBezTo>
                    <a:pt x="71075" y="787400"/>
                    <a:pt x="0" y="716325"/>
                    <a:pt x="0" y="628650"/>
                  </a:cubicBezTo>
                  <a:lnTo>
                    <a:pt x="0" y="158750"/>
                  </a:lnTo>
                  <a:cubicBezTo>
                    <a:pt x="0" y="71075"/>
                    <a:pt x="71075" y="0"/>
                    <a:pt x="158750" y="0"/>
                  </a:cubicBezTo>
                  <a:close/>
                </a:path>
              </a:pathLst>
            </a:custGeom>
            <a:solidFill>
              <a:srgbClr val="142A42"/>
            </a:solidFill>
            <a:ln w="19050" cap="sq">
              <a:solidFill>
                <a:srgbClr val="20A4F3"/>
              </a:solidFill>
              <a:prstDash val="solid"/>
              <a:miter/>
            </a:ln>
          </p:spPr>
        </p:sp>
        <p:sp>
          <p:nvSpPr>
            <p:cNvPr name="TextBox 17" id="17"/>
            <p:cNvSpPr txBox="true"/>
            <p:nvPr/>
          </p:nvSpPr>
          <p:spPr>
            <a:xfrm>
              <a:off x="0" y="-38100"/>
              <a:ext cx="1422400" cy="8255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ALB</a:t>
              </a:r>
            </a:p>
          </p:txBody>
        </p:sp>
      </p:grpSp>
      <p:grpSp>
        <p:nvGrpSpPr>
          <p:cNvPr name="Group 18" id="18"/>
          <p:cNvGrpSpPr/>
          <p:nvPr/>
        </p:nvGrpSpPr>
        <p:grpSpPr>
          <a:xfrm rot="0">
            <a:off x="4610100" y="5905500"/>
            <a:ext cx="1066800" cy="590550"/>
            <a:chOff x="0" y="0"/>
            <a:chExt cx="1422400" cy="787400"/>
          </a:xfrm>
        </p:grpSpPr>
        <p:sp>
          <p:nvSpPr>
            <p:cNvPr name="Freeform 19" id="19"/>
            <p:cNvSpPr/>
            <p:nvPr/>
          </p:nvSpPr>
          <p:spPr>
            <a:xfrm flipH="false" flipV="false" rot="0">
              <a:off x="0" y="0"/>
              <a:ext cx="1422400" cy="787400"/>
            </a:xfrm>
            <a:custGeom>
              <a:avLst/>
              <a:gdLst/>
              <a:ahLst/>
              <a:cxnLst/>
              <a:rect r="r" b="b" t="t" l="l"/>
              <a:pathLst>
                <a:path h="787400" w="1422400">
                  <a:moveTo>
                    <a:pt x="158750" y="0"/>
                  </a:moveTo>
                  <a:lnTo>
                    <a:pt x="1263650" y="0"/>
                  </a:lnTo>
                  <a:cubicBezTo>
                    <a:pt x="1351325" y="0"/>
                    <a:pt x="1422400" y="71075"/>
                    <a:pt x="1422400" y="158750"/>
                  </a:cubicBezTo>
                  <a:lnTo>
                    <a:pt x="1422400" y="628650"/>
                  </a:lnTo>
                  <a:cubicBezTo>
                    <a:pt x="1422400" y="716325"/>
                    <a:pt x="1351325" y="787400"/>
                    <a:pt x="1263650" y="787400"/>
                  </a:cubicBezTo>
                  <a:lnTo>
                    <a:pt x="158750" y="787400"/>
                  </a:lnTo>
                  <a:cubicBezTo>
                    <a:pt x="71075" y="787400"/>
                    <a:pt x="0" y="716325"/>
                    <a:pt x="0" y="628650"/>
                  </a:cubicBezTo>
                  <a:lnTo>
                    <a:pt x="0" y="158750"/>
                  </a:lnTo>
                  <a:cubicBezTo>
                    <a:pt x="0" y="71075"/>
                    <a:pt x="71075" y="0"/>
                    <a:pt x="158750" y="0"/>
                  </a:cubicBezTo>
                  <a:close/>
                </a:path>
              </a:pathLst>
            </a:custGeom>
            <a:solidFill>
              <a:srgbClr val="142A42"/>
            </a:solidFill>
            <a:ln w="19050" cap="sq">
              <a:solidFill>
                <a:srgbClr val="20A4F3"/>
              </a:solidFill>
              <a:prstDash val="solid"/>
              <a:miter/>
            </a:ln>
          </p:spPr>
        </p:sp>
        <p:sp>
          <p:nvSpPr>
            <p:cNvPr name="TextBox 20" id="20"/>
            <p:cNvSpPr txBox="true"/>
            <p:nvPr/>
          </p:nvSpPr>
          <p:spPr>
            <a:xfrm>
              <a:off x="0" y="-38100"/>
              <a:ext cx="1422400" cy="8255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CW</a:t>
              </a:r>
            </a:p>
          </p:txBody>
        </p:sp>
      </p:grpSp>
      <p:sp>
        <p:nvSpPr>
          <p:cNvPr name="TextBox 21" id="21"/>
          <p:cNvSpPr txBox="true"/>
          <p:nvPr/>
        </p:nvSpPr>
        <p:spPr>
          <a:xfrm rot="0">
            <a:off x="838200" y="7191375"/>
            <a:ext cx="6381750" cy="681037"/>
          </a:xfrm>
          <a:prstGeom prst="rect">
            <a:avLst/>
          </a:prstGeom>
        </p:spPr>
        <p:txBody>
          <a:bodyPr anchor="t" rtlCol="false" tIns="0" lIns="0" bIns="0" rIns="0">
            <a:spAutoFit/>
          </a:bodyPr>
          <a:lstStyle/>
          <a:p>
            <a:pPr algn="l">
              <a:lnSpc>
                <a:spcPts val="2812"/>
              </a:lnSpc>
            </a:pPr>
            <a:r>
              <a:rPr lang="en-US" sz="1875">
                <a:solidFill>
                  <a:srgbClr val="9BB0C7"/>
                </a:solidFill>
                <a:latin typeface="IBM Plex Mono"/>
                <a:ea typeface="IBM Plex Mono"/>
                <a:cs typeface="IBM Plex Mono"/>
                <a:sym typeface="IBM Plex Mono"/>
              </a:rPr>
              <a:t>Y24-SAA-Team391</a:t>
            </a:r>
          </a:p>
          <a:p>
            <a:pPr algn="l">
              <a:lnSpc>
                <a:spcPts val="2812"/>
              </a:lnSpc>
            </a:pPr>
            <a:r>
              <a:rPr lang="en-US" sz="1875">
                <a:solidFill>
                  <a:srgbClr val="9BB0C7"/>
                </a:solidFill>
                <a:latin typeface="IBM Plex Mono"/>
                <a:ea typeface="IBM Plex Mono"/>
                <a:cs typeface="IBM Plex Mono"/>
                <a:sym typeface="IBM Plex Mono"/>
              </a:rPr>
              <a:t>Project Code 24CC3014-P109</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838200" y="514350"/>
            <a:ext cx="16592550" cy="893445"/>
            <a:chOff x="0" y="0"/>
            <a:chExt cx="22123400" cy="1191260"/>
          </a:xfrm>
        </p:grpSpPr>
        <p:sp>
          <p:nvSpPr>
            <p:cNvPr name="TextBox 3" id="3"/>
            <p:cNvSpPr txBox="true"/>
            <p:nvPr/>
          </p:nvSpPr>
          <p:spPr>
            <a:xfrm rot="0">
              <a:off x="0" y="-28575"/>
              <a:ext cx="889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PROJECT INTENT</a:t>
              </a:r>
            </a:p>
          </p:txBody>
        </p:sp>
        <p:sp>
          <p:nvSpPr>
            <p:cNvPr name="TextBox 4" id="4"/>
            <p:cNvSpPr txBox="true"/>
            <p:nvPr/>
          </p:nvSpPr>
          <p:spPr>
            <a:xfrm rot="0">
              <a:off x="0" y="508000"/>
              <a:ext cx="18034000" cy="683260"/>
            </a:xfrm>
            <a:prstGeom prst="rect">
              <a:avLst/>
            </a:prstGeom>
          </p:spPr>
          <p:txBody>
            <a:bodyPr anchor="t" rtlCol="false" tIns="0" lIns="0" bIns="0" rIns="0">
              <a:spAutoFit/>
            </a:bodyPr>
            <a:lstStyle/>
            <a:p>
              <a:pPr algn="l">
                <a:lnSpc>
                  <a:spcPts val="3960"/>
                </a:lnSpc>
              </a:pPr>
              <a:r>
                <a:rPr lang="en-US" sz="3600" b="true">
                  <a:solidFill>
                    <a:srgbClr val="F7FBFF"/>
                  </a:solidFill>
                  <a:latin typeface="Montserrat Bold"/>
                  <a:ea typeface="Montserrat Bold"/>
                  <a:cs typeface="Montserrat Bold"/>
                  <a:sym typeface="Montserrat Bold"/>
                </a:rPr>
                <a:t>Problem → requirements → AWS solution</a:t>
              </a:r>
            </a:p>
          </p:txBody>
        </p:sp>
        <p:sp>
          <p:nvSpPr>
            <p:cNvPr name="TextBox 5" id="5"/>
            <p:cNvSpPr txBox="true"/>
            <p:nvPr/>
          </p:nvSpPr>
          <p:spPr>
            <a:xfrm rot="0">
              <a:off x="20345400" y="98425"/>
              <a:ext cx="1778000" cy="333375"/>
            </a:xfrm>
            <a:prstGeom prst="rect">
              <a:avLst/>
            </a:prstGeom>
          </p:spPr>
          <p:txBody>
            <a:bodyPr anchor="t" rtlCol="false" tIns="0" lIns="0" bIns="0" rIns="0">
              <a:spAutoFit/>
            </a:bodyPr>
            <a:lstStyle/>
            <a:p>
              <a:pPr algn="r">
                <a:lnSpc>
                  <a:spcPts val="2100"/>
                </a:lnSpc>
              </a:pPr>
              <a:r>
                <a:rPr lang="en-US" sz="1500">
                  <a:solidFill>
                    <a:srgbClr val="9BB0C7"/>
                  </a:solidFill>
                  <a:latin typeface="IBM Plex Mono"/>
                  <a:ea typeface="IBM Plex Mono"/>
                  <a:cs typeface="IBM Plex Mono"/>
                  <a:sym typeface="IBM Plex Mono"/>
                </a:rPr>
                <a:t>01</a:t>
              </a:r>
            </a:p>
          </p:txBody>
        </p:sp>
      </p:grpSp>
      <p:grpSp>
        <p:nvGrpSpPr>
          <p:cNvPr name="Group 6" id="6"/>
          <p:cNvGrpSpPr/>
          <p:nvPr/>
        </p:nvGrpSpPr>
        <p:grpSpPr>
          <a:xfrm rot="0">
            <a:off x="1047750" y="2381250"/>
            <a:ext cx="4762500" cy="4762500"/>
            <a:chOff x="0" y="0"/>
            <a:chExt cx="6350000" cy="6350000"/>
          </a:xfrm>
        </p:grpSpPr>
        <p:grpSp>
          <p:nvGrpSpPr>
            <p:cNvPr name="Group 7" id="7"/>
            <p:cNvGrpSpPr/>
            <p:nvPr/>
          </p:nvGrpSpPr>
          <p:grpSpPr>
            <a:xfrm rot="0">
              <a:off x="0" y="0"/>
              <a:ext cx="6350000" cy="6350000"/>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0" y="0"/>
                    </a:moveTo>
                    <a:lnTo>
                      <a:pt x="6350000" y="0"/>
                    </a:lnTo>
                    <a:lnTo>
                      <a:pt x="6350000" y="6350000"/>
                    </a:lnTo>
                    <a:lnTo>
                      <a:pt x="0" y="6350000"/>
                    </a:lnTo>
                    <a:close/>
                  </a:path>
                </a:pathLst>
              </a:custGeom>
              <a:solidFill>
                <a:srgbClr val="101E31">
                  <a:alpha val="95686"/>
                </a:srgbClr>
              </a:solidFill>
              <a:ln w="9525" cap="sq">
                <a:solidFill>
                  <a:srgbClr val="29425F">
                    <a:alpha val="95686"/>
                  </a:srgbClr>
                </a:solidFill>
                <a:prstDash val="solid"/>
                <a:miter/>
              </a:ln>
            </p:spPr>
          </p:sp>
          <p:sp>
            <p:nvSpPr>
              <p:cNvPr name="TextBox 9" id="9"/>
              <p:cNvSpPr txBox="true"/>
              <p:nvPr/>
            </p:nvSpPr>
            <p:spPr>
              <a:xfrm>
                <a:off x="0" y="-38100"/>
                <a:ext cx="6350000" cy="6388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431800" y="454025"/>
              <a:ext cx="5715000" cy="333375"/>
            </a:xfrm>
            <a:prstGeom prst="rect">
              <a:avLst/>
            </a:prstGeom>
          </p:spPr>
          <p:txBody>
            <a:bodyPr anchor="t" rtlCol="false" tIns="0" lIns="0" bIns="0" rIns="0">
              <a:spAutoFit/>
            </a:bodyPr>
            <a:lstStyle/>
            <a:p>
              <a:pPr algn="l">
                <a:lnSpc>
                  <a:spcPts val="2100"/>
                </a:lnSpc>
              </a:pPr>
              <a:r>
                <a:rPr lang="en-US" sz="1500" spc="120" b="true">
                  <a:solidFill>
                    <a:srgbClr val="FF9900"/>
                  </a:solidFill>
                  <a:latin typeface="IBM Plex Mono Bold"/>
                  <a:ea typeface="IBM Plex Mono Bold"/>
                  <a:cs typeface="IBM Plex Mono Bold"/>
                  <a:sym typeface="IBM Plex Mono Bold"/>
                </a:rPr>
                <a:t>PROBLEM</a:t>
              </a:r>
            </a:p>
          </p:txBody>
        </p:sp>
        <p:sp>
          <p:nvSpPr>
            <p:cNvPr name="TextBox 11" id="11"/>
            <p:cNvSpPr txBox="true"/>
            <p:nvPr/>
          </p:nvSpPr>
          <p:spPr>
            <a:xfrm rot="0">
              <a:off x="431800" y="1276350"/>
              <a:ext cx="5461000" cy="1076325"/>
            </a:xfrm>
            <a:prstGeom prst="rect">
              <a:avLst/>
            </a:prstGeom>
          </p:spPr>
          <p:txBody>
            <a:bodyPr anchor="t" rtlCol="false" tIns="0" lIns="0" bIns="0" rIns="0">
              <a:spAutoFit/>
            </a:bodyPr>
            <a:lstStyle/>
            <a:p>
              <a:pPr algn="l">
                <a:lnSpc>
                  <a:spcPts val="3371"/>
                </a:lnSpc>
              </a:pPr>
              <a:r>
                <a:rPr lang="en-US" sz="2325" b="true">
                  <a:solidFill>
                    <a:srgbClr val="F7FBFF"/>
                  </a:solidFill>
                  <a:latin typeface="IBM Plex Sans Bold"/>
                  <a:ea typeface="IBM Plex Sans Bold"/>
                  <a:cs typeface="IBM Plex Sans Bold"/>
                  <a:sym typeface="IBM Plex Sans Bold"/>
                </a:rPr>
                <a:t>On-premises web farm</a:t>
              </a:r>
            </a:p>
            <a:p>
              <a:pPr algn="l">
                <a:lnSpc>
                  <a:spcPts val="3371"/>
                </a:lnSpc>
              </a:pPr>
              <a:r>
                <a:rPr lang="en-US" sz="2325" b="true">
                  <a:solidFill>
                    <a:srgbClr val="F7FBFF"/>
                  </a:solidFill>
                  <a:latin typeface="IBM Plex Sans Bold"/>
                  <a:ea typeface="IBM Plex Sans Bold"/>
                  <a:cs typeface="IBM Plex Sans Bold"/>
                  <a:sym typeface="IBM Plex Sans Bold"/>
                </a:rPr>
                <a:t>must move to AWS</a:t>
              </a:r>
            </a:p>
          </p:txBody>
        </p:sp>
      </p:grpSp>
      <p:grpSp>
        <p:nvGrpSpPr>
          <p:cNvPr name="Group 12" id="12"/>
          <p:cNvGrpSpPr/>
          <p:nvPr/>
        </p:nvGrpSpPr>
        <p:grpSpPr>
          <a:xfrm rot="0">
            <a:off x="6572250" y="2381250"/>
            <a:ext cx="4762500" cy="4762500"/>
            <a:chOff x="0" y="0"/>
            <a:chExt cx="6350000" cy="6350000"/>
          </a:xfrm>
        </p:grpSpPr>
        <p:grpSp>
          <p:nvGrpSpPr>
            <p:cNvPr name="Group 13" id="13"/>
            <p:cNvGrpSpPr/>
            <p:nvPr/>
          </p:nvGrpSpPr>
          <p:grpSpPr>
            <a:xfrm rot="0">
              <a:off x="0" y="0"/>
              <a:ext cx="6350000" cy="6350000"/>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0" y="0"/>
                    </a:moveTo>
                    <a:lnTo>
                      <a:pt x="6350000" y="0"/>
                    </a:lnTo>
                    <a:lnTo>
                      <a:pt x="6350000" y="6350000"/>
                    </a:lnTo>
                    <a:lnTo>
                      <a:pt x="0" y="6350000"/>
                    </a:lnTo>
                    <a:close/>
                  </a:path>
                </a:pathLst>
              </a:custGeom>
              <a:solidFill>
                <a:srgbClr val="101E31">
                  <a:alpha val="95686"/>
                </a:srgbClr>
              </a:solidFill>
              <a:ln w="9525" cap="sq">
                <a:solidFill>
                  <a:srgbClr val="29425F">
                    <a:alpha val="95686"/>
                  </a:srgbClr>
                </a:solidFill>
                <a:prstDash val="solid"/>
                <a:miter/>
              </a:ln>
            </p:spPr>
          </p:sp>
          <p:sp>
            <p:nvSpPr>
              <p:cNvPr name="TextBox 15" id="15"/>
              <p:cNvSpPr txBox="true"/>
              <p:nvPr/>
            </p:nvSpPr>
            <p:spPr>
              <a:xfrm>
                <a:off x="0" y="-38100"/>
                <a:ext cx="6350000" cy="6388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431800" y="454025"/>
              <a:ext cx="5715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REQUIREMENTS</a:t>
              </a:r>
            </a:p>
          </p:txBody>
        </p:sp>
        <p:sp>
          <p:nvSpPr>
            <p:cNvPr name="TextBox 17" id="17"/>
            <p:cNvSpPr txBox="true"/>
            <p:nvPr/>
          </p:nvSpPr>
          <p:spPr>
            <a:xfrm rot="0">
              <a:off x="431800" y="1276350"/>
              <a:ext cx="5461000" cy="1635125"/>
            </a:xfrm>
            <a:prstGeom prst="rect">
              <a:avLst/>
            </a:prstGeom>
          </p:spPr>
          <p:txBody>
            <a:bodyPr anchor="t" rtlCol="false" tIns="0" lIns="0" bIns="0" rIns="0">
              <a:spAutoFit/>
            </a:bodyPr>
            <a:lstStyle/>
            <a:p>
              <a:pPr algn="l">
                <a:lnSpc>
                  <a:spcPts val="3371"/>
                </a:lnSpc>
              </a:pPr>
              <a:r>
                <a:rPr lang="en-US" sz="2325" b="true">
                  <a:solidFill>
                    <a:srgbClr val="F7FBFF"/>
                  </a:solidFill>
                  <a:latin typeface="IBM Plex Sans Bold"/>
                  <a:ea typeface="IBM Plex Sans Bold"/>
                  <a:cs typeface="IBM Plex Sans Bold"/>
                  <a:sym typeface="IBM Plex Sans Bold"/>
                </a:rPr>
                <a:t>Minimal app changes</a:t>
              </a:r>
            </a:p>
            <a:p>
              <a:pPr algn="l">
                <a:lnSpc>
                  <a:spcPts val="3371"/>
                </a:lnSpc>
              </a:pPr>
              <a:r>
                <a:rPr lang="en-US" sz="2325" b="true">
                  <a:solidFill>
                    <a:srgbClr val="F7FBFF"/>
                  </a:solidFill>
                  <a:latin typeface="IBM Plex Sans Bold"/>
                  <a:ea typeface="IBM Plex Sans Bold"/>
                  <a:cs typeface="IBM Plex Sans Bold"/>
                  <a:sym typeface="IBM Plex Sans Bold"/>
                </a:rPr>
                <a:t>High availability</a:t>
              </a:r>
            </a:p>
            <a:p>
              <a:pPr algn="l">
                <a:lnSpc>
                  <a:spcPts val="3371"/>
                </a:lnSpc>
              </a:pPr>
              <a:r>
                <a:rPr lang="en-US" sz="2325" b="true">
                  <a:solidFill>
                    <a:srgbClr val="F7FBFF"/>
                  </a:solidFill>
                  <a:latin typeface="IBM Plex Sans Bold"/>
                  <a:ea typeface="IBM Plex Sans Bold"/>
                  <a:cs typeface="IBM Plex Sans Bold"/>
                  <a:sym typeface="IBM Plex Sans Bold"/>
                </a:rPr>
                <a:t>Scalable + observable</a:t>
              </a:r>
            </a:p>
          </p:txBody>
        </p:sp>
      </p:grpSp>
      <p:grpSp>
        <p:nvGrpSpPr>
          <p:cNvPr name="Group 18" id="18"/>
          <p:cNvGrpSpPr/>
          <p:nvPr/>
        </p:nvGrpSpPr>
        <p:grpSpPr>
          <a:xfrm rot="0">
            <a:off x="12096750" y="2381250"/>
            <a:ext cx="4762500" cy="4762500"/>
            <a:chOff x="0" y="0"/>
            <a:chExt cx="6350000" cy="6350000"/>
          </a:xfrm>
        </p:grpSpPr>
        <p:grpSp>
          <p:nvGrpSpPr>
            <p:cNvPr name="Group 19" id="19"/>
            <p:cNvGrpSpPr/>
            <p:nvPr/>
          </p:nvGrpSpPr>
          <p:grpSpPr>
            <a:xfrm rot="0">
              <a:off x="0" y="0"/>
              <a:ext cx="6350000" cy="6350000"/>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0" y="0"/>
                    </a:moveTo>
                    <a:lnTo>
                      <a:pt x="6350000" y="0"/>
                    </a:lnTo>
                    <a:lnTo>
                      <a:pt x="6350000" y="6350000"/>
                    </a:lnTo>
                    <a:lnTo>
                      <a:pt x="0" y="6350000"/>
                    </a:lnTo>
                    <a:close/>
                  </a:path>
                </a:pathLst>
              </a:custGeom>
              <a:solidFill>
                <a:srgbClr val="101E31">
                  <a:alpha val="95686"/>
                </a:srgbClr>
              </a:solidFill>
              <a:ln w="9525" cap="sq">
                <a:solidFill>
                  <a:srgbClr val="29425F">
                    <a:alpha val="95686"/>
                  </a:srgbClr>
                </a:solidFill>
                <a:prstDash val="solid"/>
                <a:miter/>
              </a:ln>
            </p:spPr>
          </p:sp>
          <p:sp>
            <p:nvSpPr>
              <p:cNvPr name="TextBox 21" id="21"/>
              <p:cNvSpPr txBox="true"/>
              <p:nvPr/>
            </p:nvSpPr>
            <p:spPr>
              <a:xfrm>
                <a:off x="0" y="-38100"/>
                <a:ext cx="6350000" cy="63881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431800" y="454025"/>
              <a:ext cx="5715000" cy="333375"/>
            </a:xfrm>
            <a:prstGeom prst="rect">
              <a:avLst/>
            </a:prstGeom>
          </p:spPr>
          <p:txBody>
            <a:bodyPr anchor="t" rtlCol="false" tIns="0" lIns="0" bIns="0" rIns="0">
              <a:spAutoFit/>
            </a:bodyPr>
            <a:lstStyle/>
            <a:p>
              <a:pPr algn="l">
                <a:lnSpc>
                  <a:spcPts val="2100"/>
                </a:lnSpc>
              </a:pPr>
              <a:r>
                <a:rPr lang="en-US" sz="1500" spc="120" b="true">
                  <a:solidFill>
                    <a:srgbClr val="36D399"/>
                  </a:solidFill>
                  <a:latin typeface="IBM Plex Mono Bold"/>
                  <a:ea typeface="IBM Plex Mono Bold"/>
                  <a:cs typeface="IBM Plex Mono Bold"/>
                  <a:sym typeface="IBM Plex Mono Bold"/>
                </a:rPr>
                <a:t>AWS SOLUTION</a:t>
              </a:r>
            </a:p>
          </p:txBody>
        </p:sp>
        <p:sp>
          <p:nvSpPr>
            <p:cNvPr name="TextBox 23" id="23"/>
            <p:cNvSpPr txBox="true"/>
            <p:nvPr/>
          </p:nvSpPr>
          <p:spPr>
            <a:xfrm rot="0">
              <a:off x="431800" y="1276350"/>
              <a:ext cx="5461000" cy="1635125"/>
            </a:xfrm>
            <a:prstGeom prst="rect">
              <a:avLst/>
            </a:prstGeom>
          </p:spPr>
          <p:txBody>
            <a:bodyPr anchor="t" rtlCol="false" tIns="0" lIns="0" bIns="0" rIns="0">
              <a:spAutoFit/>
            </a:bodyPr>
            <a:lstStyle/>
            <a:p>
              <a:pPr algn="l">
                <a:lnSpc>
                  <a:spcPts val="3371"/>
                </a:lnSpc>
              </a:pPr>
              <a:r>
                <a:rPr lang="en-US" sz="2325" b="true">
                  <a:solidFill>
                    <a:srgbClr val="F7FBFF"/>
                  </a:solidFill>
                  <a:latin typeface="IBM Plex Sans Bold"/>
                  <a:ea typeface="IBM Plex Sans Bold"/>
                  <a:cs typeface="IBM Plex Sans Bold"/>
                  <a:sym typeface="IBM Plex Sans Bold"/>
                </a:rPr>
                <a:t>MGN replication</a:t>
              </a:r>
            </a:p>
            <a:p>
              <a:pPr algn="l">
                <a:lnSpc>
                  <a:spcPts val="3371"/>
                </a:lnSpc>
              </a:pPr>
              <a:r>
                <a:rPr lang="en-US" sz="2325" b="true">
                  <a:solidFill>
                    <a:srgbClr val="F7FBFF"/>
                  </a:solidFill>
                  <a:latin typeface="IBM Plex Sans Bold"/>
                  <a:ea typeface="IBM Plex Sans Bold"/>
                  <a:cs typeface="IBM Plex Sans Bold"/>
                  <a:sym typeface="IBM Plex Sans Bold"/>
                </a:rPr>
                <a:t>EC2 compute</a:t>
              </a:r>
            </a:p>
            <a:p>
              <a:pPr algn="l">
                <a:lnSpc>
                  <a:spcPts val="3371"/>
                </a:lnSpc>
              </a:pPr>
              <a:r>
                <a:rPr lang="en-US" sz="2325" b="true">
                  <a:solidFill>
                    <a:srgbClr val="F7FBFF"/>
                  </a:solidFill>
                  <a:latin typeface="IBM Plex Sans Bold"/>
                  <a:ea typeface="IBM Plex Sans Bold"/>
                  <a:cs typeface="IBM Plex Sans Bold"/>
                  <a:sym typeface="IBM Plex Sans Bold"/>
                </a:rPr>
                <a:t>ALB + CloudWatch</a:t>
              </a:r>
            </a:p>
          </p:txBody>
        </p:sp>
      </p:grpSp>
      <p:sp>
        <p:nvSpPr>
          <p:cNvPr name="AutoShape 24" id="24"/>
          <p:cNvSpPr/>
          <p:nvPr/>
        </p:nvSpPr>
        <p:spPr>
          <a:xfrm>
            <a:off x="5810250" y="4762500"/>
            <a:ext cx="666750" cy="0"/>
          </a:xfrm>
          <a:prstGeom prst="line">
            <a:avLst/>
          </a:prstGeom>
          <a:ln cap="rnd" w="47625">
            <a:solidFill>
              <a:srgbClr val="FF9900"/>
            </a:solidFill>
            <a:prstDash val="solid"/>
            <a:headEnd type="none" len="sm" w="sm"/>
            <a:tailEnd type="none" len="sm" w="sm"/>
          </a:ln>
        </p:spPr>
      </p:sp>
      <p:sp>
        <p:nvSpPr>
          <p:cNvPr name="AutoShape 25" id="25"/>
          <p:cNvSpPr/>
          <p:nvPr/>
        </p:nvSpPr>
        <p:spPr>
          <a:xfrm>
            <a:off x="11334750" y="4762500"/>
            <a:ext cx="666750" cy="0"/>
          </a:xfrm>
          <a:prstGeom prst="line">
            <a:avLst/>
          </a:prstGeom>
          <a:ln cap="rnd" w="47625">
            <a:solidFill>
              <a:srgbClr val="20A4F3"/>
            </a:solidFill>
            <a:prstDash val="solid"/>
            <a:headEnd type="none" len="sm" w="sm"/>
            <a:tailEnd type="none" len="sm" w="sm"/>
          </a:ln>
        </p:spPr>
      </p:sp>
      <p:sp>
        <p:nvSpPr>
          <p:cNvPr name="TextBox 26" id="26"/>
          <p:cNvSpPr txBox="true"/>
          <p:nvPr/>
        </p:nvSpPr>
        <p:spPr>
          <a:xfrm rot="0">
            <a:off x="5334000" y="7953375"/>
            <a:ext cx="7620000" cy="363855"/>
          </a:xfrm>
          <a:prstGeom prst="rect">
            <a:avLst/>
          </a:prstGeom>
        </p:spPr>
        <p:txBody>
          <a:bodyPr anchor="t" rtlCol="false" tIns="0" lIns="0" bIns="0" rIns="0">
            <a:spAutoFit/>
          </a:bodyPr>
          <a:lstStyle/>
          <a:p>
            <a:pPr algn="ctr">
              <a:lnSpc>
                <a:spcPts val="2700"/>
              </a:lnSpc>
            </a:pPr>
            <a:r>
              <a:rPr lang="en-US" sz="2700" b="true">
                <a:solidFill>
                  <a:srgbClr val="FF9900"/>
                </a:solidFill>
                <a:latin typeface="Montserrat Bold"/>
                <a:ea typeface="Montserrat Bold"/>
                <a:cs typeface="Montserrat Bold"/>
                <a:sym typeface="Montserrat Bold"/>
              </a:rPr>
              <a:t>TARGET  •  8-SERVER AWS WEB FARM</a:t>
            </a:r>
          </a:p>
        </p:txBody>
      </p:sp>
      <p:sp>
        <p:nvSpPr>
          <p:cNvPr name="TextBox 27" id="27"/>
          <p:cNvSpPr txBox="true"/>
          <p:nvPr/>
        </p:nvSpPr>
        <p:spPr>
          <a:xfrm rot="0">
            <a:off x="838200" y="9763125"/>
            <a:ext cx="6858000" cy="232410"/>
          </a:xfrm>
          <a:prstGeom prst="rect">
            <a:avLst/>
          </a:prstGeom>
        </p:spPr>
        <p:txBody>
          <a:bodyPr anchor="t" rtlCol="false" tIns="0" lIns="0" bIns="0" rIns="0">
            <a:spAutoFit/>
          </a:bodyPr>
          <a:lstStyle/>
          <a:p>
            <a:pPr algn="l">
              <a:lnSpc>
                <a:spcPts val="1889"/>
              </a:lnSpc>
            </a:pPr>
            <a:r>
              <a:rPr lang="en-US" sz="1350">
                <a:solidFill>
                  <a:srgbClr val="9BB0C7"/>
                </a:solidFill>
                <a:latin typeface="IBM Plex Mono"/>
                <a:ea typeface="IBM Plex Mono"/>
                <a:cs typeface="IBM Plex Mono"/>
                <a:sym typeface="IBM Plex Mono"/>
              </a:rPr>
              <a:t>Y24-SAA-Team391  •  24CC3014-P109  •  02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838200" y="514350"/>
            <a:ext cx="16592550" cy="893445"/>
            <a:chOff x="0" y="0"/>
            <a:chExt cx="22123400" cy="1191260"/>
          </a:xfrm>
        </p:grpSpPr>
        <p:sp>
          <p:nvSpPr>
            <p:cNvPr name="TextBox 3" id="3"/>
            <p:cNvSpPr txBox="true"/>
            <p:nvPr/>
          </p:nvSpPr>
          <p:spPr>
            <a:xfrm rot="0">
              <a:off x="0" y="-28575"/>
              <a:ext cx="889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END-TO-END VIEW</a:t>
              </a:r>
            </a:p>
          </p:txBody>
        </p:sp>
        <p:sp>
          <p:nvSpPr>
            <p:cNvPr name="TextBox 4" id="4"/>
            <p:cNvSpPr txBox="true"/>
            <p:nvPr/>
          </p:nvSpPr>
          <p:spPr>
            <a:xfrm rot="0">
              <a:off x="0" y="508000"/>
              <a:ext cx="18034000" cy="683260"/>
            </a:xfrm>
            <a:prstGeom prst="rect">
              <a:avLst/>
            </a:prstGeom>
          </p:spPr>
          <p:txBody>
            <a:bodyPr anchor="t" rtlCol="false" tIns="0" lIns="0" bIns="0" rIns="0">
              <a:spAutoFit/>
            </a:bodyPr>
            <a:lstStyle/>
            <a:p>
              <a:pPr algn="l">
                <a:lnSpc>
                  <a:spcPts val="3960"/>
                </a:lnSpc>
              </a:pPr>
              <a:r>
                <a:rPr lang="en-US" sz="3600" b="true">
                  <a:solidFill>
                    <a:srgbClr val="F7FBFF"/>
                  </a:solidFill>
                  <a:latin typeface="Montserrat Bold"/>
                  <a:ea typeface="Montserrat Bold"/>
                  <a:cs typeface="Montserrat Bold"/>
                  <a:sym typeface="Montserrat Bold"/>
                </a:rPr>
                <a:t>Solution at a glance</a:t>
              </a:r>
            </a:p>
          </p:txBody>
        </p:sp>
        <p:sp>
          <p:nvSpPr>
            <p:cNvPr name="TextBox 5" id="5"/>
            <p:cNvSpPr txBox="true"/>
            <p:nvPr/>
          </p:nvSpPr>
          <p:spPr>
            <a:xfrm rot="0">
              <a:off x="20345400" y="98425"/>
              <a:ext cx="1778000" cy="333375"/>
            </a:xfrm>
            <a:prstGeom prst="rect">
              <a:avLst/>
            </a:prstGeom>
          </p:spPr>
          <p:txBody>
            <a:bodyPr anchor="t" rtlCol="false" tIns="0" lIns="0" bIns="0" rIns="0">
              <a:spAutoFit/>
            </a:bodyPr>
            <a:lstStyle/>
            <a:p>
              <a:pPr algn="r">
                <a:lnSpc>
                  <a:spcPts val="2100"/>
                </a:lnSpc>
              </a:pPr>
              <a:r>
                <a:rPr lang="en-US" sz="1500">
                  <a:solidFill>
                    <a:srgbClr val="9BB0C7"/>
                  </a:solidFill>
                  <a:latin typeface="IBM Plex Mono"/>
                  <a:ea typeface="IBM Plex Mono"/>
                  <a:cs typeface="IBM Plex Mono"/>
                  <a:sym typeface="IBM Plex Mono"/>
                </a:rPr>
                <a:t>02</a:t>
              </a:r>
            </a:p>
          </p:txBody>
        </p:sp>
      </p:grpSp>
      <p:grpSp>
        <p:nvGrpSpPr>
          <p:cNvPr name="Group 6" id="6"/>
          <p:cNvGrpSpPr/>
          <p:nvPr/>
        </p:nvGrpSpPr>
        <p:grpSpPr>
          <a:xfrm rot="0">
            <a:off x="685800" y="3333750"/>
            <a:ext cx="1562100" cy="1104900"/>
            <a:chOff x="0" y="0"/>
            <a:chExt cx="2082800" cy="1473200"/>
          </a:xfrm>
        </p:grpSpPr>
        <p:sp>
          <p:nvSpPr>
            <p:cNvPr name="Freeform 7" id="7"/>
            <p:cNvSpPr/>
            <p:nvPr/>
          </p:nvSpPr>
          <p:spPr>
            <a:xfrm flipH="false" flipV="false" rot="0">
              <a:off x="0" y="0"/>
              <a:ext cx="2082800" cy="1473200"/>
            </a:xfrm>
            <a:custGeom>
              <a:avLst/>
              <a:gdLst/>
              <a:ahLst/>
              <a:cxnLst/>
              <a:rect r="r" b="b" t="t" l="l"/>
              <a:pathLst>
                <a:path h="1473200" w="2082800">
                  <a:moveTo>
                    <a:pt x="108415" y="0"/>
                  </a:moveTo>
                  <a:lnTo>
                    <a:pt x="1974385" y="0"/>
                  </a:lnTo>
                  <a:cubicBezTo>
                    <a:pt x="2034261" y="0"/>
                    <a:pt x="2082800" y="48539"/>
                    <a:pt x="2082800" y="108415"/>
                  </a:cubicBezTo>
                  <a:lnTo>
                    <a:pt x="2082800" y="1364785"/>
                  </a:lnTo>
                  <a:cubicBezTo>
                    <a:pt x="2082800" y="1424661"/>
                    <a:pt x="2034261" y="1473200"/>
                    <a:pt x="1974385" y="1473200"/>
                  </a:cubicBezTo>
                  <a:lnTo>
                    <a:pt x="108415" y="1473200"/>
                  </a:lnTo>
                  <a:cubicBezTo>
                    <a:pt x="48539" y="1473200"/>
                    <a:pt x="0" y="1424661"/>
                    <a:pt x="0" y="1364785"/>
                  </a:cubicBezTo>
                  <a:lnTo>
                    <a:pt x="0" y="108415"/>
                  </a:lnTo>
                  <a:cubicBezTo>
                    <a:pt x="0" y="48539"/>
                    <a:pt x="48539" y="0"/>
                    <a:pt x="108415" y="0"/>
                  </a:cubicBezTo>
                  <a:close/>
                </a:path>
              </a:pathLst>
            </a:custGeom>
            <a:solidFill>
              <a:srgbClr val="142A42"/>
            </a:solidFill>
            <a:ln w="19050" cap="sq">
              <a:solidFill>
                <a:srgbClr val="FF9900"/>
              </a:solidFill>
              <a:prstDash val="solid"/>
              <a:miter/>
            </a:ln>
          </p:spPr>
        </p:sp>
        <p:sp>
          <p:nvSpPr>
            <p:cNvPr name="TextBox 8" id="8"/>
            <p:cNvSpPr txBox="true"/>
            <p:nvPr/>
          </p:nvSpPr>
          <p:spPr>
            <a:xfrm>
              <a:off x="0" y="-38100"/>
              <a:ext cx="2082800" cy="15113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Simulated</a:t>
              </a:r>
            </a:p>
            <a:p>
              <a:pPr algn="ctr">
                <a:lnSpc>
                  <a:spcPts val="2310"/>
                </a:lnSpc>
              </a:pPr>
              <a:r>
                <a:rPr lang="en-US" sz="1650" b="true">
                  <a:solidFill>
                    <a:srgbClr val="F7FBFF"/>
                  </a:solidFill>
                  <a:latin typeface="IBM Plex Sans Bold"/>
                  <a:ea typeface="IBM Plex Sans Bold"/>
                  <a:cs typeface="IBM Plex Sans Bold"/>
                  <a:sym typeface="IBM Plex Sans Bold"/>
                </a:rPr>
                <a:t>source</a:t>
              </a:r>
            </a:p>
          </p:txBody>
        </p:sp>
      </p:grpSp>
      <p:sp>
        <p:nvSpPr>
          <p:cNvPr name="AutoShape 9" id="9"/>
          <p:cNvSpPr/>
          <p:nvPr/>
        </p:nvSpPr>
        <p:spPr>
          <a:xfrm>
            <a:off x="2247900" y="3886200"/>
            <a:ext cx="304800" cy="0"/>
          </a:xfrm>
          <a:prstGeom prst="line">
            <a:avLst/>
          </a:prstGeom>
          <a:ln cap="rnd" w="47625">
            <a:solidFill>
              <a:srgbClr val="FF9900"/>
            </a:solidFill>
            <a:prstDash val="solid"/>
            <a:headEnd type="none" len="sm" w="sm"/>
            <a:tailEnd type="none" len="sm" w="sm"/>
          </a:ln>
        </p:spPr>
      </p:sp>
      <p:grpSp>
        <p:nvGrpSpPr>
          <p:cNvPr name="Group 10" id="10"/>
          <p:cNvGrpSpPr/>
          <p:nvPr/>
        </p:nvGrpSpPr>
        <p:grpSpPr>
          <a:xfrm rot="0">
            <a:off x="2628900" y="3333750"/>
            <a:ext cx="1562100" cy="1104900"/>
            <a:chOff x="0" y="0"/>
            <a:chExt cx="2082800" cy="1473200"/>
          </a:xfrm>
        </p:grpSpPr>
        <p:sp>
          <p:nvSpPr>
            <p:cNvPr name="Freeform 11" id="11"/>
            <p:cNvSpPr/>
            <p:nvPr/>
          </p:nvSpPr>
          <p:spPr>
            <a:xfrm flipH="false" flipV="false" rot="0">
              <a:off x="0" y="0"/>
              <a:ext cx="2082800" cy="1473200"/>
            </a:xfrm>
            <a:custGeom>
              <a:avLst/>
              <a:gdLst/>
              <a:ahLst/>
              <a:cxnLst/>
              <a:rect r="r" b="b" t="t" l="l"/>
              <a:pathLst>
                <a:path h="1473200" w="2082800">
                  <a:moveTo>
                    <a:pt x="108415" y="0"/>
                  </a:moveTo>
                  <a:lnTo>
                    <a:pt x="1974385" y="0"/>
                  </a:lnTo>
                  <a:cubicBezTo>
                    <a:pt x="2034261" y="0"/>
                    <a:pt x="2082800" y="48539"/>
                    <a:pt x="2082800" y="108415"/>
                  </a:cubicBezTo>
                  <a:lnTo>
                    <a:pt x="2082800" y="1364785"/>
                  </a:lnTo>
                  <a:cubicBezTo>
                    <a:pt x="2082800" y="1424661"/>
                    <a:pt x="2034261" y="1473200"/>
                    <a:pt x="1974385" y="1473200"/>
                  </a:cubicBezTo>
                  <a:lnTo>
                    <a:pt x="108415" y="1473200"/>
                  </a:lnTo>
                  <a:cubicBezTo>
                    <a:pt x="48539" y="1473200"/>
                    <a:pt x="0" y="1424661"/>
                    <a:pt x="0" y="1364785"/>
                  </a:cubicBezTo>
                  <a:lnTo>
                    <a:pt x="0" y="108415"/>
                  </a:lnTo>
                  <a:cubicBezTo>
                    <a:pt x="0" y="48539"/>
                    <a:pt x="48539" y="0"/>
                    <a:pt x="108415" y="0"/>
                  </a:cubicBezTo>
                  <a:close/>
                </a:path>
              </a:pathLst>
            </a:custGeom>
            <a:solidFill>
              <a:srgbClr val="142A42"/>
            </a:solidFill>
            <a:ln w="19050" cap="sq">
              <a:solidFill>
                <a:srgbClr val="FF9900"/>
              </a:solidFill>
              <a:prstDash val="solid"/>
              <a:miter/>
            </a:ln>
          </p:spPr>
        </p:sp>
        <p:sp>
          <p:nvSpPr>
            <p:cNvPr name="TextBox 12" id="12"/>
            <p:cNvSpPr txBox="true"/>
            <p:nvPr/>
          </p:nvSpPr>
          <p:spPr>
            <a:xfrm>
              <a:off x="0" y="-38100"/>
              <a:ext cx="2082800" cy="15113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MGN</a:t>
              </a:r>
            </a:p>
            <a:p>
              <a:pPr algn="ctr">
                <a:lnSpc>
                  <a:spcPts val="2310"/>
                </a:lnSpc>
              </a:pPr>
              <a:r>
                <a:rPr lang="en-US" sz="1650" b="true">
                  <a:solidFill>
                    <a:srgbClr val="F7FBFF"/>
                  </a:solidFill>
                  <a:latin typeface="IBM Plex Sans Bold"/>
                  <a:ea typeface="IBM Plex Sans Bold"/>
                  <a:cs typeface="IBM Plex Sans Bold"/>
                  <a:sym typeface="IBM Plex Sans Bold"/>
                </a:rPr>
                <a:t>agent</a:t>
              </a:r>
            </a:p>
          </p:txBody>
        </p:sp>
      </p:grpSp>
      <p:sp>
        <p:nvSpPr>
          <p:cNvPr name="AutoShape 13" id="13"/>
          <p:cNvSpPr/>
          <p:nvPr/>
        </p:nvSpPr>
        <p:spPr>
          <a:xfrm>
            <a:off x="4191000" y="3886200"/>
            <a:ext cx="304800" cy="0"/>
          </a:xfrm>
          <a:prstGeom prst="line">
            <a:avLst/>
          </a:prstGeom>
          <a:ln cap="rnd" w="47625">
            <a:solidFill>
              <a:srgbClr val="FF9900"/>
            </a:solidFill>
            <a:prstDash val="solid"/>
            <a:headEnd type="none" len="sm" w="sm"/>
            <a:tailEnd type="none" len="sm" w="sm"/>
          </a:ln>
        </p:spPr>
      </p:sp>
      <p:grpSp>
        <p:nvGrpSpPr>
          <p:cNvPr name="Group 14" id="14"/>
          <p:cNvGrpSpPr/>
          <p:nvPr/>
        </p:nvGrpSpPr>
        <p:grpSpPr>
          <a:xfrm rot="0">
            <a:off x="4572000" y="3333750"/>
            <a:ext cx="1562100" cy="1104900"/>
            <a:chOff x="0" y="0"/>
            <a:chExt cx="2082800" cy="1473200"/>
          </a:xfrm>
        </p:grpSpPr>
        <p:sp>
          <p:nvSpPr>
            <p:cNvPr name="Freeform 15" id="15"/>
            <p:cNvSpPr/>
            <p:nvPr/>
          </p:nvSpPr>
          <p:spPr>
            <a:xfrm flipH="false" flipV="false" rot="0">
              <a:off x="0" y="0"/>
              <a:ext cx="2082800" cy="1473200"/>
            </a:xfrm>
            <a:custGeom>
              <a:avLst/>
              <a:gdLst/>
              <a:ahLst/>
              <a:cxnLst/>
              <a:rect r="r" b="b" t="t" l="l"/>
              <a:pathLst>
                <a:path h="1473200" w="2082800">
                  <a:moveTo>
                    <a:pt x="108415" y="0"/>
                  </a:moveTo>
                  <a:lnTo>
                    <a:pt x="1974385" y="0"/>
                  </a:lnTo>
                  <a:cubicBezTo>
                    <a:pt x="2034261" y="0"/>
                    <a:pt x="2082800" y="48539"/>
                    <a:pt x="2082800" y="108415"/>
                  </a:cubicBezTo>
                  <a:lnTo>
                    <a:pt x="2082800" y="1364785"/>
                  </a:lnTo>
                  <a:cubicBezTo>
                    <a:pt x="2082800" y="1424661"/>
                    <a:pt x="2034261" y="1473200"/>
                    <a:pt x="1974385" y="1473200"/>
                  </a:cubicBezTo>
                  <a:lnTo>
                    <a:pt x="108415" y="1473200"/>
                  </a:lnTo>
                  <a:cubicBezTo>
                    <a:pt x="48539" y="1473200"/>
                    <a:pt x="0" y="1424661"/>
                    <a:pt x="0" y="1364785"/>
                  </a:cubicBezTo>
                  <a:lnTo>
                    <a:pt x="0" y="108415"/>
                  </a:lnTo>
                  <a:cubicBezTo>
                    <a:pt x="0" y="48539"/>
                    <a:pt x="48539" y="0"/>
                    <a:pt x="108415" y="0"/>
                  </a:cubicBezTo>
                  <a:close/>
                </a:path>
              </a:pathLst>
            </a:custGeom>
            <a:solidFill>
              <a:srgbClr val="142A42"/>
            </a:solidFill>
            <a:ln w="19050" cap="sq">
              <a:solidFill>
                <a:srgbClr val="FF9900"/>
              </a:solidFill>
              <a:prstDash val="solid"/>
              <a:miter/>
            </a:ln>
          </p:spPr>
        </p:sp>
        <p:sp>
          <p:nvSpPr>
            <p:cNvPr name="TextBox 16" id="16"/>
            <p:cNvSpPr txBox="true"/>
            <p:nvPr/>
          </p:nvSpPr>
          <p:spPr>
            <a:xfrm>
              <a:off x="0" y="-38100"/>
              <a:ext cx="2082800" cy="15113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AWS</a:t>
              </a:r>
            </a:p>
            <a:p>
              <a:pPr algn="ctr">
                <a:lnSpc>
                  <a:spcPts val="2310"/>
                </a:lnSpc>
              </a:pPr>
              <a:r>
                <a:rPr lang="en-US" sz="1650" b="true">
                  <a:solidFill>
                    <a:srgbClr val="F7FBFF"/>
                  </a:solidFill>
                  <a:latin typeface="IBM Plex Sans Bold"/>
                  <a:ea typeface="IBM Plex Sans Bold"/>
                  <a:cs typeface="IBM Plex Sans Bold"/>
                  <a:sym typeface="IBM Plex Sans Bold"/>
                </a:rPr>
                <a:t>MGN</a:t>
              </a:r>
            </a:p>
          </p:txBody>
        </p:sp>
      </p:grpSp>
      <p:sp>
        <p:nvSpPr>
          <p:cNvPr name="AutoShape 17" id="17"/>
          <p:cNvSpPr/>
          <p:nvPr/>
        </p:nvSpPr>
        <p:spPr>
          <a:xfrm>
            <a:off x="6134100" y="3886200"/>
            <a:ext cx="304800" cy="0"/>
          </a:xfrm>
          <a:prstGeom prst="line">
            <a:avLst/>
          </a:prstGeom>
          <a:ln cap="rnd" w="47625">
            <a:solidFill>
              <a:srgbClr val="FF9900"/>
            </a:solidFill>
            <a:prstDash val="solid"/>
            <a:headEnd type="none" len="sm" w="sm"/>
            <a:tailEnd type="none" len="sm" w="sm"/>
          </a:ln>
        </p:spPr>
      </p:sp>
      <p:grpSp>
        <p:nvGrpSpPr>
          <p:cNvPr name="Group 18" id="18"/>
          <p:cNvGrpSpPr/>
          <p:nvPr/>
        </p:nvGrpSpPr>
        <p:grpSpPr>
          <a:xfrm rot="0">
            <a:off x="6515100" y="3333750"/>
            <a:ext cx="1562100" cy="1104900"/>
            <a:chOff x="0" y="0"/>
            <a:chExt cx="2082800" cy="1473200"/>
          </a:xfrm>
        </p:grpSpPr>
        <p:sp>
          <p:nvSpPr>
            <p:cNvPr name="Freeform 19" id="19"/>
            <p:cNvSpPr/>
            <p:nvPr/>
          </p:nvSpPr>
          <p:spPr>
            <a:xfrm flipH="false" flipV="false" rot="0">
              <a:off x="0" y="0"/>
              <a:ext cx="2082800" cy="1473200"/>
            </a:xfrm>
            <a:custGeom>
              <a:avLst/>
              <a:gdLst/>
              <a:ahLst/>
              <a:cxnLst/>
              <a:rect r="r" b="b" t="t" l="l"/>
              <a:pathLst>
                <a:path h="1473200" w="2082800">
                  <a:moveTo>
                    <a:pt x="108415" y="0"/>
                  </a:moveTo>
                  <a:lnTo>
                    <a:pt x="1974385" y="0"/>
                  </a:lnTo>
                  <a:cubicBezTo>
                    <a:pt x="2034261" y="0"/>
                    <a:pt x="2082800" y="48539"/>
                    <a:pt x="2082800" y="108415"/>
                  </a:cubicBezTo>
                  <a:lnTo>
                    <a:pt x="2082800" y="1364785"/>
                  </a:lnTo>
                  <a:cubicBezTo>
                    <a:pt x="2082800" y="1424661"/>
                    <a:pt x="2034261" y="1473200"/>
                    <a:pt x="1974385" y="1473200"/>
                  </a:cubicBezTo>
                  <a:lnTo>
                    <a:pt x="108415" y="1473200"/>
                  </a:lnTo>
                  <a:cubicBezTo>
                    <a:pt x="48539" y="1473200"/>
                    <a:pt x="0" y="1424661"/>
                    <a:pt x="0" y="1364785"/>
                  </a:cubicBezTo>
                  <a:lnTo>
                    <a:pt x="0" y="108415"/>
                  </a:lnTo>
                  <a:cubicBezTo>
                    <a:pt x="0" y="48539"/>
                    <a:pt x="48539" y="0"/>
                    <a:pt x="108415" y="0"/>
                  </a:cubicBezTo>
                  <a:close/>
                </a:path>
              </a:pathLst>
            </a:custGeom>
            <a:solidFill>
              <a:srgbClr val="142A42"/>
            </a:solidFill>
            <a:ln w="19050" cap="sq">
              <a:solidFill>
                <a:srgbClr val="FF9900"/>
              </a:solidFill>
              <a:prstDash val="solid"/>
              <a:miter/>
            </a:ln>
          </p:spPr>
        </p:sp>
        <p:sp>
          <p:nvSpPr>
            <p:cNvPr name="TextBox 20" id="20"/>
            <p:cNvSpPr txBox="true"/>
            <p:nvPr/>
          </p:nvSpPr>
          <p:spPr>
            <a:xfrm>
              <a:off x="0" y="-38100"/>
              <a:ext cx="2082800" cy="15113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8 / 8 GiB</a:t>
              </a:r>
            </a:p>
            <a:p>
              <a:pPr algn="ctr">
                <a:lnSpc>
                  <a:spcPts val="2310"/>
                </a:lnSpc>
              </a:pPr>
              <a:r>
                <a:rPr lang="en-US" sz="1650" b="true">
                  <a:solidFill>
                    <a:srgbClr val="F7FBFF"/>
                  </a:solidFill>
                  <a:latin typeface="IBM Plex Sans Bold"/>
                  <a:ea typeface="IBM Plex Sans Bold"/>
                  <a:cs typeface="IBM Plex Sans Bold"/>
                  <a:sym typeface="IBM Plex Sans Bold"/>
                </a:rPr>
                <a:t>replicated</a:t>
              </a:r>
            </a:p>
          </p:txBody>
        </p:sp>
      </p:grpSp>
      <p:sp>
        <p:nvSpPr>
          <p:cNvPr name="AutoShape 21" id="21"/>
          <p:cNvSpPr/>
          <p:nvPr/>
        </p:nvSpPr>
        <p:spPr>
          <a:xfrm>
            <a:off x="8077200" y="3886200"/>
            <a:ext cx="304800" cy="0"/>
          </a:xfrm>
          <a:prstGeom prst="line">
            <a:avLst/>
          </a:prstGeom>
          <a:ln cap="rnd" w="47625">
            <a:solidFill>
              <a:srgbClr val="20A4F3"/>
            </a:solidFill>
            <a:prstDash val="solid"/>
            <a:headEnd type="none" len="sm" w="sm"/>
            <a:tailEnd type="none" len="sm" w="sm"/>
          </a:ln>
        </p:spPr>
      </p:sp>
      <p:grpSp>
        <p:nvGrpSpPr>
          <p:cNvPr name="Group 22" id="22"/>
          <p:cNvGrpSpPr/>
          <p:nvPr/>
        </p:nvGrpSpPr>
        <p:grpSpPr>
          <a:xfrm rot="0">
            <a:off x="8458200" y="3333750"/>
            <a:ext cx="1562100" cy="1104900"/>
            <a:chOff x="0" y="0"/>
            <a:chExt cx="2082800" cy="1473200"/>
          </a:xfrm>
        </p:grpSpPr>
        <p:sp>
          <p:nvSpPr>
            <p:cNvPr name="Freeform 23" id="23"/>
            <p:cNvSpPr/>
            <p:nvPr/>
          </p:nvSpPr>
          <p:spPr>
            <a:xfrm flipH="false" flipV="false" rot="0">
              <a:off x="0" y="0"/>
              <a:ext cx="2082800" cy="1473200"/>
            </a:xfrm>
            <a:custGeom>
              <a:avLst/>
              <a:gdLst/>
              <a:ahLst/>
              <a:cxnLst/>
              <a:rect r="r" b="b" t="t" l="l"/>
              <a:pathLst>
                <a:path h="1473200" w="2082800">
                  <a:moveTo>
                    <a:pt x="108415" y="0"/>
                  </a:moveTo>
                  <a:lnTo>
                    <a:pt x="1974385" y="0"/>
                  </a:lnTo>
                  <a:cubicBezTo>
                    <a:pt x="2034261" y="0"/>
                    <a:pt x="2082800" y="48539"/>
                    <a:pt x="2082800" y="108415"/>
                  </a:cubicBezTo>
                  <a:lnTo>
                    <a:pt x="2082800" y="1364785"/>
                  </a:lnTo>
                  <a:cubicBezTo>
                    <a:pt x="2082800" y="1424661"/>
                    <a:pt x="2034261" y="1473200"/>
                    <a:pt x="1974385" y="1473200"/>
                  </a:cubicBezTo>
                  <a:lnTo>
                    <a:pt x="108415" y="1473200"/>
                  </a:lnTo>
                  <a:cubicBezTo>
                    <a:pt x="48539" y="1473200"/>
                    <a:pt x="0" y="1424661"/>
                    <a:pt x="0" y="1364785"/>
                  </a:cubicBezTo>
                  <a:lnTo>
                    <a:pt x="0" y="108415"/>
                  </a:lnTo>
                  <a:cubicBezTo>
                    <a:pt x="0" y="48539"/>
                    <a:pt x="48539" y="0"/>
                    <a:pt x="108415" y="0"/>
                  </a:cubicBezTo>
                  <a:close/>
                </a:path>
              </a:pathLst>
            </a:custGeom>
            <a:solidFill>
              <a:srgbClr val="142A42"/>
            </a:solidFill>
            <a:ln w="19050" cap="sq">
              <a:solidFill>
                <a:srgbClr val="20A4F3"/>
              </a:solidFill>
              <a:prstDash val="solid"/>
              <a:miter/>
            </a:ln>
          </p:spPr>
        </p:sp>
        <p:sp>
          <p:nvSpPr>
            <p:cNvPr name="TextBox 24" id="24"/>
            <p:cNvSpPr txBox="true"/>
            <p:nvPr/>
          </p:nvSpPr>
          <p:spPr>
            <a:xfrm>
              <a:off x="0" y="-38100"/>
              <a:ext cx="2082800" cy="15113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AWS web</a:t>
              </a:r>
            </a:p>
            <a:p>
              <a:pPr algn="ctr">
                <a:lnSpc>
                  <a:spcPts val="2310"/>
                </a:lnSpc>
              </a:pPr>
              <a:r>
                <a:rPr lang="en-US" sz="1650" b="true">
                  <a:solidFill>
                    <a:srgbClr val="F7FBFF"/>
                  </a:solidFill>
                  <a:latin typeface="IBM Plex Sans Bold"/>
                  <a:ea typeface="IBM Plex Sans Bold"/>
                  <a:cs typeface="IBM Plex Sans Bold"/>
                  <a:sym typeface="IBM Plex Sans Bold"/>
                </a:rPr>
                <a:t>farm</a:t>
              </a:r>
            </a:p>
          </p:txBody>
        </p:sp>
      </p:grpSp>
      <p:sp>
        <p:nvSpPr>
          <p:cNvPr name="AutoShape 25" id="25"/>
          <p:cNvSpPr/>
          <p:nvPr/>
        </p:nvSpPr>
        <p:spPr>
          <a:xfrm>
            <a:off x="10020300" y="3886200"/>
            <a:ext cx="304800" cy="0"/>
          </a:xfrm>
          <a:prstGeom prst="line">
            <a:avLst/>
          </a:prstGeom>
          <a:ln cap="rnd" w="47625">
            <a:solidFill>
              <a:srgbClr val="20A4F3"/>
            </a:solidFill>
            <a:prstDash val="solid"/>
            <a:headEnd type="none" len="sm" w="sm"/>
            <a:tailEnd type="none" len="sm" w="sm"/>
          </a:ln>
        </p:spPr>
      </p:sp>
      <p:grpSp>
        <p:nvGrpSpPr>
          <p:cNvPr name="Group 26" id="26"/>
          <p:cNvGrpSpPr/>
          <p:nvPr/>
        </p:nvGrpSpPr>
        <p:grpSpPr>
          <a:xfrm rot="0">
            <a:off x="10401300" y="3333750"/>
            <a:ext cx="1562100" cy="1104900"/>
            <a:chOff x="0" y="0"/>
            <a:chExt cx="2082800" cy="1473200"/>
          </a:xfrm>
        </p:grpSpPr>
        <p:sp>
          <p:nvSpPr>
            <p:cNvPr name="Freeform 27" id="27"/>
            <p:cNvSpPr/>
            <p:nvPr/>
          </p:nvSpPr>
          <p:spPr>
            <a:xfrm flipH="false" flipV="false" rot="0">
              <a:off x="0" y="0"/>
              <a:ext cx="2082800" cy="1473200"/>
            </a:xfrm>
            <a:custGeom>
              <a:avLst/>
              <a:gdLst/>
              <a:ahLst/>
              <a:cxnLst/>
              <a:rect r="r" b="b" t="t" l="l"/>
              <a:pathLst>
                <a:path h="1473200" w="2082800">
                  <a:moveTo>
                    <a:pt x="108415" y="0"/>
                  </a:moveTo>
                  <a:lnTo>
                    <a:pt x="1974385" y="0"/>
                  </a:lnTo>
                  <a:cubicBezTo>
                    <a:pt x="2034261" y="0"/>
                    <a:pt x="2082800" y="48539"/>
                    <a:pt x="2082800" y="108415"/>
                  </a:cubicBezTo>
                  <a:lnTo>
                    <a:pt x="2082800" y="1364785"/>
                  </a:lnTo>
                  <a:cubicBezTo>
                    <a:pt x="2082800" y="1424661"/>
                    <a:pt x="2034261" y="1473200"/>
                    <a:pt x="1974385" y="1473200"/>
                  </a:cubicBezTo>
                  <a:lnTo>
                    <a:pt x="108415" y="1473200"/>
                  </a:lnTo>
                  <a:cubicBezTo>
                    <a:pt x="48539" y="1473200"/>
                    <a:pt x="0" y="1424661"/>
                    <a:pt x="0" y="1364785"/>
                  </a:cubicBezTo>
                  <a:lnTo>
                    <a:pt x="0" y="108415"/>
                  </a:lnTo>
                  <a:cubicBezTo>
                    <a:pt x="0" y="48539"/>
                    <a:pt x="48539" y="0"/>
                    <a:pt x="108415" y="0"/>
                  </a:cubicBezTo>
                  <a:close/>
                </a:path>
              </a:pathLst>
            </a:custGeom>
            <a:solidFill>
              <a:srgbClr val="142A42"/>
            </a:solidFill>
            <a:ln w="19050" cap="sq">
              <a:solidFill>
                <a:srgbClr val="20A4F3"/>
              </a:solidFill>
              <a:prstDash val="solid"/>
              <a:miter/>
            </a:ln>
          </p:spPr>
        </p:sp>
        <p:sp>
          <p:nvSpPr>
            <p:cNvPr name="TextBox 28" id="28"/>
            <p:cNvSpPr txBox="true"/>
            <p:nvPr/>
          </p:nvSpPr>
          <p:spPr>
            <a:xfrm>
              <a:off x="0" y="-38100"/>
              <a:ext cx="2082800" cy="15113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ALB</a:t>
              </a:r>
            </a:p>
          </p:txBody>
        </p:sp>
      </p:grpSp>
      <p:sp>
        <p:nvSpPr>
          <p:cNvPr name="AutoShape 29" id="29"/>
          <p:cNvSpPr/>
          <p:nvPr/>
        </p:nvSpPr>
        <p:spPr>
          <a:xfrm>
            <a:off x="11963400" y="3886200"/>
            <a:ext cx="304800" cy="0"/>
          </a:xfrm>
          <a:prstGeom prst="line">
            <a:avLst/>
          </a:prstGeom>
          <a:ln cap="rnd" w="47625">
            <a:solidFill>
              <a:srgbClr val="20A4F3"/>
            </a:solidFill>
            <a:prstDash val="solid"/>
            <a:headEnd type="none" len="sm" w="sm"/>
            <a:tailEnd type="none" len="sm" w="sm"/>
          </a:ln>
        </p:spPr>
      </p:sp>
      <p:grpSp>
        <p:nvGrpSpPr>
          <p:cNvPr name="Group 30" id="30"/>
          <p:cNvGrpSpPr/>
          <p:nvPr/>
        </p:nvGrpSpPr>
        <p:grpSpPr>
          <a:xfrm rot="0">
            <a:off x="12344400" y="3333750"/>
            <a:ext cx="1562100" cy="1104900"/>
            <a:chOff x="0" y="0"/>
            <a:chExt cx="2082800" cy="1473200"/>
          </a:xfrm>
        </p:grpSpPr>
        <p:sp>
          <p:nvSpPr>
            <p:cNvPr name="Freeform 31" id="31"/>
            <p:cNvSpPr/>
            <p:nvPr/>
          </p:nvSpPr>
          <p:spPr>
            <a:xfrm flipH="false" flipV="false" rot="0">
              <a:off x="0" y="0"/>
              <a:ext cx="2082800" cy="1473200"/>
            </a:xfrm>
            <a:custGeom>
              <a:avLst/>
              <a:gdLst/>
              <a:ahLst/>
              <a:cxnLst/>
              <a:rect r="r" b="b" t="t" l="l"/>
              <a:pathLst>
                <a:path h="1473200" w="2082800">
                  <a:moveTo>
                    <a:pt x="108415" y="0"/>
                  </a:moveTo>
                  <a:lnTo>
                    <a:pt x="1974385" y="0"/>
                  </a:lnTo>
                  <a:cubicBezTo>
                    <a:pt x="2034261" y="0"/>
                    <a:pt x="2082800" y="48539"/>
                    <a:pt x="2082800" y="108415"/>
                  </a:cubicBezTo>
                  <a:lnTo>
                    <a:pt x="2082800" y="1364785"/>
                  </a:lnTo>
                  <a:cubicBezTo>
                    <a:pt x="2082800" y="1424661"/>
                    <a:pt x="2034261" y="1473200"/>
                    <a:pt x="1974385" y="1473200"/>
                  </a:cubicBezTo>
                  <a:lnTo>
                    <a:pt x="108415" y="1473200"/>
                  </a:lnTo>
                  <a:cubicBezTo>
                    <a:pt x="48539" y="1473200"/>
                    <a:pt x="0" y="1424661"/>
                    <a:pt x="0" y="1364785"/>
                  </a:cubicBezTo>
                  <a:lnTo>
                    <a:pt x="0" y="108415"/>
                  </a:lnTo>
                  <a:cubicBezTo>
                    <a:pt x="0" y="48539"/>
                    <a:pt x="48539" y="0"/>
                    <a:pt x="108415" y="0"/>
                  </a:cubicBezTo>
                  <a:close/>
                </a:path>
              </a:pathLst>
            </a:custGeom>
            <a:solidFill>
              <a:srgbClr val="142A42"/>
            </a:solidFill>
            <a:ln w="19050" cap="sq">
              <a:solidFill>
                <a:srgbClr val="20A4F3"/>
              </a:solidFill>
              <a:prstDash val="solid"/>
              <a:miter/>
            </a:ln>
          </p:spPr>
        </p:sp>
        <p:sp>
          <p:nvSpPr>
            <p:cNvPr name="TextBox 32" id="32"/>
            <p:cNvSpPr txBox="true"/>
            <p:nvPr/>
          </p:nvSpPr>
          <p:spPr>
            <a:xfrm>
              <a:off x="0" y="-38100"/>
              <a:ext cx="2082800" cy="15113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3 healthy</a:t>
              </a:r>
            </a:p>
            <a:p>
              <a:pPr algn="ctr">
                <a:lnSpc>
                  <a:spcPts val="2310"/>
                </a:lnSpc>
              </a:pPr>
              <a:r>
                <a:rPr lang="en-US" sz="1650" b="true">
                  <a:solidFill>
                    <a:srgbClr val="F7FBFF"/>
                  </a:solidFill>
                  <a:latin typeface="IBM Plex Sans Bold"/>
                  <a:ea typeface="IBM Plex Sans Bold"/>
                  <a:cs typeface="IBM Plex Sans Bold"/>
                  <a:sym typeface="IBM Plex Sans Bold"/>
                </a:rPr>
                <a:t>EC2</a:t>
              </a:r>
            </a:p>
          </p:txBody>
        </p:sp>
      </p:grpSp>
      <p:sp>
        <p:nvSpPr>
          <p:cNvPr name="AutoShape 33" id="33"/>
          <p:cNvSpPr/>
          <p:nvPr/>
        </p:nvSpPr>
        <p:spPr>
          <a:xfrm>
            <a:off x="13906500" y="3886200"/>
            <a:ext cx="304800" cy="0"/>
          </a:xfrm>
          <a:prstGeom prst="line">
            <a:avLst/>
          </a:prstGeom>
          <a:ln cap="rnd" w="47625">
            <a:solidFill>
              <a:srgbClr val="20A4F3"/>
            </a:solidFill>
            <a:prstDash val="solid"/>
            <a:headEnd type="none" len="sm" w="sm"/>
            <a:tailEnd type="none" len="sm" w="sm"/>
          </a:ln>
        </p:spPr>
      </p:sp>
      <p:grpSp>
        <p:nvGrpSpPr>
          <p:cNvPr name="Group 34" id="34"/>
          <p:cNvGrpSpPr/>
          <p:nvPr/>
        </p:nvGrpSpPr>
        <p:grpSpPr>
          <a:xfrm rot="0">
            <a:off x="14287500" y="3333750"/>
            <a:ext cx="1562100" cy="1104900"/>
            <a:chOff x="0" y="0"/>
            <a:chExt cx="2082800" cy="1473200"/>
          </a:xfrm>
        </p:grpSpPr>
        <p:sp>
          <p:nvSpPr>
            <p:cNvPr name="Freeform 35" id="35"/>
            <p:cNvSpPr/>
            <p:nvPr/>
          </p:nvSpPr>
          <p:spPr>
            <a:xfrm flipH="false" flipV="false" rot="0">
              <a:off x="0" y="0"/>
              <a:ext cx="2082800" cy="1473200"/>
            </a:xfrm>
            <a:custGeom>
              <a:avLst/>
              <a:gdLst/>
              <a:ahLst/>
              <a:cxnLst/>
              <a:rect r="r" b="b" t="t" l="l"/>
              <a:pathLst>
                <a:path h="1473200" w="2082800">
                  <a:moveTo>
                    <a:pt x="108415" y="0"/>
                  </a:moveTo>
                  <a:lnTo>
                    <a:pt x="1974385" y="0"/>
                  </a:lnTo>
                  <a:cubicBezTo>
                    <a:pt x="2034261" y="0"/>
                    <a:pt x="2082800" y="48539"/>
                    <a:pt x="2082800" y="108415"/>
                  </a:cubicBezTo>
                  <a:lnTo>
                    <a:pt x="2082800" y="1364785"/>
                  </a:lnTo>
                  <a:cubicBezTo>
                    <a:pt x="2082800" y="1424661"/>
                    <a:pt x="2034261" y="1473200"/>
                    <a:pt x="1974385" y="1473200"/>
                  </a:cubicBezTo>
                  <a:lnTo>
                    <a:pt x="108415" y="1473200"/>
                  </a:lnTo>
                  <a:cubicBezTo>
                    <a:pt x="48539" y="1473200"/>
                    <a:pt x="0" y="1424661"/>
                    <a:pt x="0" y="1364785"/>
                  </a:cubicBezTo>
                  <a:lnTo>
                    <a:pt x="0" y="108415"/>
                  </a:lnTo>
                  <a:cubicBezTo>
                    <a:pt x="0" y="48539"/>
                    <a:pt x="48539" y="0"/>
                    <a:pt x="108415" y="0"/>
                  </a:cubicBezTo>
                  <a:close/>
                </a:path>
              </a:pathLst>
            </a:custGeom>
            <a:solidFill>
              <a:srgbClr val="142A42"/>
            </a:solidFill>
            <a:ln w="19050" cap="sq">
              <a:solidFill>
                <a:srgbClr val="20A4F3"/>
              </a:solidFill>
              <a:prstDash val="solid"/>
              <a:miter/>
            </a:ln>
          </p:spPr>
        </p:sp>
        <p:sp>
          <p:nvSpPr>
            <p:cNvPr name="TextBox 36" id="36"/>
            <p:cNvSpPr txBox="true"/>
            <p:nvPr/>
          </p:nvSpPr>
          <p:spPr>
            <a:xfrm>
              <a:off x="0" y="-38100"/>
              <a:ext cx="2082800" cy="15113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TechStore</a:t>
              </a:r>
            </a:p>
          </p:txBody>
        </p:sp>
      </p:grpSp>
      <p:sp>
        <p:nvSpPr>
          <p:cNvPr name="AutoShape 37" id="37"/>
          <p:cNvSpPr/>
          <p:nvPr/>
        </p:nvSpPr>
        <p:spPr>
          <a:xfrm>
            <a:off x="15849600" y="3886200"/>
            <a:ext cx="304800" cy="0"/>
          </a:xfrm>
          <a:prstGeom prst="line">
            <a:avLst/>
          </a:prstGeom>
          <a:ln cap="rnd" w="47625">
            <a:solidFill>
              <a:srgbClr val="20A4F3"/>
            </a:solidFill>
            <a:prstDash val="solid"/>
            <a:headEnd type="none" len="sm" w="sm"/>
            <a:tailEnd type="none" len="sm" w="sm"/>
          </a:ln>
        </p:spPr>
      </p:sp>
      <p:grpSp>
        <p:nvGrpSpPr>
          <p:cNvPr name="Group 38" id="38"/>
          <p:cNvGrpSpPr/>
          <p:nvPr/>
        </p:nvGrpSpPr>
        <p:grpSpPr>
          <a:xfrm rot="0">
            <a:off x="16230600" y="3333750"/>
            <a:ext cx="1562100" cy="1104900"/>
            <a:chOff x="0" y="0"/>
            <a:chExt cx="2082800" cy="1473200"/>
          </a:xfrm>
        </p:grpSpPr>
        <p:sp>
          <p:nvSpPr>
            <p:cNvPr name="Freeform 39" id="39"/>
            <p:cNvSpPr/>
            <p:nvPr/>
          </p:nvSpPr>
          <p:spPr>
            <a:xfrm flipH="false" flipV="false" rot="0">
              <a:off x="0" y="0"/>
              <a:ext cx="2082800" cy="1473200"/>
            </a:xfrm>
            <a:custGeom>
              <a:avLst/>
              <a:gdLst/>
              <a:ahLst/>
              <a:cxnLst/>
              <a:rect r="r" b="b" t="t" l="l"/>
              <a:pathLst>
                <a:path h="1473200" w="2082800">
                  <a:moveTo>
                    <a:pt x="108415" y="0"/>
                  </a:moveTo>
                  <a:lnTo>
                    <a:pt x="1974385" y="0"/>
                  </a:lnTo>
                  <a:cubicBezTo>
                    <a:pt x="2034261" y="0"/>
                    <a:pt x="2082800" y="48539"/>
                    <a:pt x="2082800" y="108415"/>
                  </a:cubicBezTo>
                  <a:lnTo>
                    <a:pt x="2082800" y="1364785"/>
                  </a:lnTo>
                  <a:cubicBezTo>
                    <a:pt x="2082800" y="1424661"/>
                    <a:pt x="2034261" y="1473200"/>
                    <a:pt x="1974385" y="1473200"/>
                  </a:cubicBezTo>
                  <a:lnTo>
                    <a:pt x="108415" y="1473200"/>
                  </a:lnTo>
                  <a:cubicBezTo>
                    <a:pt x="48539" y="1473200"/>
                    <a:pt x="0" y="1424661"/>
                    <a:pt x="0" y="1364785"/>
                  </a:cubicBezTo>
                  <a:lnTo>
                    <a:pt x="0" y="108415"/>
                  </a:lnTo>
                  <a:cubicBezTo>
                    <a:pt x="0" y="48539"/>
                    <a:pt x="48539" y="0"/>
                    <a:pt x="108415" y="0"/>
                  </a:cubicBezTo>
                  <a:close/>
                </a:path>
              </a:pathLst>
            </a:custGeom>
            <a:solidFill>
              <a:srgbClr val="142A42"/>
            </a:solidFill>
            <a:ln w="19050" cap="sq">
              <a:solidFill>
                <a:srgbClr val="20A4F3"/>
              </a:solidFill>
              <a:prstDash val="solid"/>
              <a:miter/>
            </a:ln>
          </p:spPr>
        </p:sp>
        <p:sp>
          <p:nvSpPr>
            <p:cNvPr name="TextBox 40" id="40"/>
            <p:cNvSpPr txBox="true"/>
            <p:nvPr/>
          </p:nvSpPr>
          <p:spPr>
            <a:xfrm>
              <a:off x="0" y="-38100"/>
              <a:ext cx="2082800" cy="15113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CloudWatch</a:t>
              </a:r>
            </a:p>
          </p:txBody>
        </p:sp>
      </p:grpSp>
      <p:grpSp>
        <p:nvGrpSpPr>
          <p:cNvPr name="Group 41" id="41"/>
          <p:cNvGrpSpPr/>
          <p:nvPr/>
        </p:nvGrpSpPr>
        <p:grpSpPr>
          <a:xfrm rot="0">
            <a:off x="1238250" y="5524500"/>
            <a:ext cx="7334250" cy="1905000"/>
            <a:chOff x="0" y="0"/>
            <a:chExt cx="9779000" cy="2540000"/>
          </a:xfrm>
        </p:grpSpPr>
        <p:grpSp>
          <p:nvGrpSpPr>
            <p:cNvPr name="Group 42" id="42"/>
            <p:cNvGrpSpPr/>
            <p:nvPr/>
          </p:nvGrpSpPr>
          <p:grpSpPr>
            <a:xfrm rot="0">
              <a:off x="0" y="0"/>
              <a:ext cx="9779000" cy="2540000"/>
              <a:chOff x="0" y="0"/>
              <a:chExt cx="9779000" cy="2540000"/>
            </a:xfrm>
          </p:grpSpPr>
          <p:sp>
            <p:nvSpPr>
              <p:cNvPr name="Freeform 43" id="43"/>
              <p:cNvSpPr/>
              <p:nvPr/>
            </p:nvSpPr>
            <p:spPr>
              <a:xfrm flipH="false" flipV="false" rot="0">
                <a:off x="0" y="0"/>
                <a:ext cx="9779000" cy="2540000"/>
              </a:xfrm>
              <a:custGeom>
                <a:avLst/>
                <a:gdLst/>
                <a:ahLst/>
                <a:cxnLst/>
                <a:rect r="r" b="b" t="t" l="l"/>
                <a:pathLst>
                  <a:path h="2540000" w="9779000">
                    <a:moveTo>
                      <a:pt x="0" y="0"/>
                    </a:moveTo>
                    <a:lnTo>
                      <a:pt x="9779000" y="0"/>
                    </a:lnTo>
                    <a:lnTo>
                      <a:pt x="9779000" y="2540000"/>
                    </a:lnTo>
                    <a:lnTo>
                      <a:pt x="0" y="2540000"/>
                    </a:lnTo>
                    <a:close/>
                  </a:path>
                </a:pathLst>
              </a:custGeom>
              <a:solidFill>
                <a:srgbClr val="101E31">
                  <a:alpha val="95686"/>
                </a:srgbClr>
              </a:solidFill>
              <a:ln w="9525" cap="sq">
                <a:solidFill>
                  <a:srgbClr val="29425F">
                    <a:alpha val="95686"/>
                  </a:srgbClr>
                </a:solidFill>
                <a:prstDash val="solid"/>
                <a:miter/>
              </a:ln>
            </p:spPr>
          </p:sp>
          <p:sp>
            <p:nvSpPr>
              <p:cNvPr name="TextBox 44" id="44"/>
              <p:cNvSpPr txBox="true"/>
              <p:nvPr/>
            </p:nvSpPr>
            <p:spPr>
              <a:xfrm>
                <a:off x="0" y="-38100"/>
                <a:ext cx="9779000" cy="2578100"/>
              </a:xfrm>
              <a:prstGeom prst="rect">
                <a:avLst/>
              </a:prstGeom>
            </p:spPr>
            <p:txBody>
              <a:bodyPr anchor="ctr" rtlCol="false" tIns="50800" lIns="50800" bIns="50800" rIns="50800"/>
              <a:lstStyle/>
              <a:p>
                <a:pPr algn="l">
                  <a:lnSpc>
                    <a:spcPts val="1679"/>
                  </a:lnSpc>
                </a:pPr>
              </a:p>
            </p:txBody>
          </p:sp>
        </p:grpSp>
        <p:sp>
          <p:nvSpPr>
            <p:cNvPr name="TextBox 45" id="45"/>
            <p:cNvSpPr txBox="true"/>
            <p:nvPr/>
          </p:nvSpPr>
          <p:spPr>
            <a:xfrm rot="0">
              <a:off x="508000" y="517525"/>
              <a:ext cx="8763000" cy="955675"/>
            </a:xfrm>
            <a:prstGeom prst="rect">
              <a:avLst/>
            </a:prstGeom>
          </p:spPr>
          <p:txBody>
            <a:bodyPr anchor="t" rtlCol="false" tIns="0" lIns="0" bIns="0" rIns="0">
              <a:spAutoFit/>
            </a:bodyPr>
            <a:lstStyle/>
            <a:p>
              <a:pPr algn="ctr">
                <a:lnSpc>
                  <a:spcPts val="2879"/>
                </a:lnSpc>
              </a:pPr>
              <a:r>
                <a:rPr lang="en-US" sz="2400" b="true">
                  <a:solidFill>
                    <a:srgbClr val="FF9900"/>
                  </a:solidFill>
                  <a:latin typeface="Montserrat Bold"/>
                  <a:ea typeface="Montserrat Bold"/>
                  <a:cs typeface="Montserrat Bold"/>
                  <a:sym typeface="Montserrat Bold"/>
                </a:rPr>
                <a:t>CORE MIGRATION REPLICATION</a:t>
              </a:r>
            </a:p>
            <a:p>
              <a:pPr algn="ctr">
                <a:lnSpc>
                  <a:spcPts val="2879"/>
                </a:lnSpc>
              </a:pPr>
              <a:r>
                <a:rPr lang="en-US" sz="2400" b="true">
                  <a:solidFill>
                    <a:srgbClr val="FF9900"/>
                  </a:solidFill>
                  <a:latin typeface="Montserrat Bold"/>
                  <a:ea typeface="Montserrat Bold"/>
                  <a:cs typeface="Montserrat Bold"/>
                  <a:sym typeface="Montserrat Bold"/>
                </a:rPr>
                <a:t>SUCCESSFULLY DEMONSTRATED</a:t>
              </a:r>
            </a:p>
          </p:txBody>
        </p:sp>
      </p:grpSp>
      <p:grpSp>
        <p:nvGrpSpPr>
          <p:cNvPr name="Group 46" id="46"/>
          <p:cNvGrpSpPr/>
          <p:nvPr/>
        </p:nvGrpSpPr>
        <p:grpSpPr>
          <a:xfrm rot="0">
            <a:off x="9715500" y="5524500"/>
            <a:ext cx="7334250" cy="1905000"/>
            <a:chOff x="0" y="0"/>
            <a:chExt cx="9779000" cy="2540000"/>
          </a:xfrm>
        </p:grpSpPr>
        <p:grpSp>
          <p:nvGrpSpPr>
            <p:cNvPr name="Group 47" id="47"/>
            <p:cNvGrpSpPr/>
            <p:nvPr/>
          </p:nvGrpSpPr>
          <p:grpSpPr>
            <a:xfrm rot="0">
              <a:off x="0" y="0"/>
              <a:ext cx="9779000" cy="2540000"/>
              <a:chOff x="0" y="0"/>
              <a:chExt cx="9779000" cy="2540000"/>
            </a:xfrm>
          </p:grpSpPr>
          <p:sp>
            <p:nvSpPr>
              <p:cNvPr name="Freeform 48" id="48"/>
              <p:cNvSpPr/>
              <p:nvPr/>
            </p:nvSpPr>
            <p:spPr>
              <a:xfrm flipH="false" flipV="false" rot="0">
                <a:off x="0" y="0"/>
                <a:ext cx="9779000" cy="2540000"/>
              </a:xfrm>
              <a:custGeom>
                <a:avLst/>
                <a:gdLst/>
                <a:ahLst/>
                <a:cxnLst/>
                <a:rect r="r" b="b" t="t" l="l"/>
                <a:pathLst>
                  <a:path h="2540000" w="9779000">
                    <a:moveTo>
                      <a:pt x="0" y="0"/>
                    </a:moveTo>
                    <a:lnTo>
                      <a:pt x="9779000" y="0"/>
                    </a:lnTo>
                    <a:lnTo>
                      <a:pt x="9779000" y="2540000"/>
                    </a:lnTo>
                    <a:lnTo>
                      <a:pt x="0" y="2540000"/>
                    </a:lnTo>
                    <a:close/>
                  </a:path>
                </a:pathLst>
              </a:custGeom>
              <a:solidFill>
                <a:srgbClr val="101E31">
                  <a:alpha val="95686"/>
                </a:srgbClr>
              </a:solidFill>
              <a:ln w="9525" cap="sq">
                <a:solidFill>
                  <a:srgbClr val="29425F">
                    <a:alpha val="95686"/>
                  </a:srgbClr>
                </a:solidFill>
                <a:prstDash val="solid"/>
                <a:miter/>
              </a:ln>
            </p:spPr>
          </p:sp>
          <p:sp>
            <p:nvSpPr>
              <p:cNvPr name="TextBox 49" id="49"/>
              <p:cNvSpPr txBox="true"/>
              <p:nvPr/>
            </p:nvSpPr>
            <p:spPr>
              <a:xfrm>
                <a:off x="0" y="-38100"/>
                <a:ext cx="9779000" cy="2578100"/>
              </a:xfrm>
              <a:prstGeom prst="rect">
                <a:avLst/>
              </a:prstGeom>
            </p:spPr>
            <p:txBody>
              <a:bodyPr anchor="ctr" rtlCol="false" tIns="50800" lIns="50800" bIns="50800" rIns="50800"/>
              <a:lstStyle/>
              <a:p>
                <a:pPr algn="l">
                  <a:lnSpc>
                    <a:spcPts val="1679"/>
                  </a:lnSpc>
                </a:pPr>
              </a:p>
            </p:txBody>
          </p:sp>
        </p:grpSp>
        <p:sp>
          <p:nvSpPr>
            <p:cNvPr name="TextBox 50" id="50"/>
            <p:cNvSpPr txBox="true"/>
            <p:nvPr/>
          </p:nvSpPr>
          <p:spPr>
            <a:xfrm rot="0">
              <a:off x="508000" y="517525"/>
              <a:ext cx="8763000" cy="955675"/>
            </a:xfrm>
            <a:prstGeom prst="rect">
              <a:avLst/>
            </a:prstGeom>
          </p:spPr>
          <p:txBody>
            <a:bodyPr anchor="t" rtlCol="false" tIns="0" lIns="0" bIns="0" rIns="0">
              <a:spAutoFit/>
            </a:bodyPr>
            <a:lstStyle/>
            <a:p>
              <a:pPr algn="ctr">
                <a:lnSpc>
                  <a:spcPts val="2879"/>
                </a:lnSpc>
              </a:pPr>
              <a:r>
                <a:rPr lang="en-US" sz="2400" b="true">
                  <a:solidFill>
                    <a:srgbClr val="57D7FF"/>
                  </a:solidFill>
                  <a:latin typeface="Montserrat Bold"/>
                  <a:ea typeface="Montserrat Bold"/>
                  <a:cs typeface="Montserrat Bold"/>
                  <a:sym typeface="Montserrat Bold"/>
                </a:rPr>
                <a:t>LIVE WEB-FARM ARCHITECTURE</a:t>
              </a:r>
            </a:p>
            <a:p>
              <a:pPr algn="ctr">
                <a:lnSpc>
                  <a:spcPts val="2879"/>
                </a:lnSpc>
              </a:pPr>
              <a:r>
                <a:rPr lang="en-US" sz="2400" b="true">
                  <a:solidFill>
                    <a:srgbClr val="57D7FF"/>
                  </a:solidFill>
                  <a:latin typeface="Montserrat Bold"/>
                  <a:ea typeface="Montserrat Bold"/>
                  <a:cs typeface="Montserrat Bold"/>
                  <a:sym typeface="Montserrat Bold"/>
                </a:rPr>
                <a:t>SUCCESSFULLY DEMONSTRATED</a:t>
              </a:r>
            </a:p>
          </p:txBody>
        </p:sp>
      </p:grpSp>
      <p:sp>
        <p:nvSpPr>
          <p:cNvPr name="TextBox 51" id="51"/>
          <p:cNvSpPr txBox="true"/>
          <p:nvPr/>
        </p:nvSpPr>
        <p:spPr>
          <a:xfrm rot="0">
            <a:off x="5429250" y="8153400"/>
            <a:ext cx="7620000" cy="281940"/>
          </a:xfrm>
          <a:prstGeom prst="rect">
            <a:avLst/>
          </a:prstGeom>
        </p:spPr>
        <p:txBody>
          <a:bodyPr anchor="t" rtlCol="false" tIns="0" lIns="0" bIns="0" rIns="0">
            <a:spAutoFit/>
          </a:bodyPr>
          <a:lstStyle/>
          <a:p>
            <a:pPr algn="ctr">
              <a:lnSpc>
                <a:spcPts val="2310"/>
              </a:lnSpc>
            </a:pPr>
            <a:r>
              <a:rPr lang="en-US" sz="1650">
                <a:solidFill>
                  <a:srgbClr val="9BB0C7"/>
                </a:solidFill>
                <a:latin typeface="IBM Plex Mono"/>
                <a:ea typeface="IBM Plex Mono"/>
                <a:cs typeface="IBM Plex Mono"/>
                <a:sym typeface="IBM Plex Mono"/>
              </a:rPr>
              <a:t>ORANGE  migration replication     BLUE  application traffic</a:t>
            </a:r>
          </a:p>
        </p:txBody>
      </p:sp>
      <p:sp>
        <p:nvSpPr>
          <p:cNvPr name="TextBox 52" id="52"/>
          <p:cNvSpPr txBox="true"/>
          <p:nvPr/>
        </p:nvSpPr>
        <p:spPr>
          <a:xfrm rot="0">
            <a:off x="838200" y="9763125"/>
            <a:ext cx="6858000" cy="232410"/>
          </a:xfrm>
          <a:prstGeom prst="rect">
            <a:avLst/>
          </a:prstGeom>
        </p:spPr>
        <p:txBody>
          <a:bodyPr anchor="t" rtlCol="false" tIns="0" lIns="0" bIns="0" rIns="0">
            <a:spAutoFit/>
          </a:bodyPr>
          <a:lstStyle/>
          <a:p>
            <a:pPr algn="l">
              <a:lnSpc>
                <a:spcPts val="1889"/>
              </a:lnSpc>
            </a:pPr>
            <a:r>
              <a:rPr lang="en-US" sz="1350">
                <a:solidFill>
                  <a:srgbClr val="9BB0C7"/>
                </a:solidFill>
                <a:latin typeface="IBM Plex Mono"/>
                <a:ea typeface="IBM Plex Mono"/>
                <a:cs typeface="IBM Plex Mono"/>
                <a:sym typeface="IBM Plex Mono"/>
              </a:rPr>
              <a:t>Y24-SAA-Team391  •  24CC3014-P109  •  03</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838200" y="514350"/>
            <a:ext cx="16592550" cy="893445"/>
            <a:chOff x="0" y="0"/>
            <a:chExt cx="22123400" cy="1191260"/>
          </a:xfrm>
        </p:grpSpPr>
        <p:sp>
          <p:nvSpPr>
            <p:cNvPr name="TextBox 3" id="3"/>
            <p:cNvSpPr txBox="true"/>
            <p:nvPr/>
          </p:nvSpPr>
          <p:spPr>
            <a:xfrm rot="0">
              <a:off x="0" y="-28575"/>
              <a:ext cx="889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IMPLEMENTED DESIGN</a:t>
              </a:r>
            </a:p>
          </p:txBody>
        </p:sp>
        <p:sp>
          <p:nvSpPr>
            <p:cNvPr name="TextBox 4" id="4"/>
            <p:cNvSpPr txBox="true"/>
            <p:nvPr/>
          </p:nvSpPr>
          <p:spPr>
            <a:xfrm rot="0">
              <a:off x="0" y="508000"/>
              <a:ext cx="18034000" cy="683260"/>
            </a:xfrm>
            <a:prstGeom prst="rect">
              <a:avLst/>
            </a:prstGeom>
          </p:spPr>
          <p:txBody>
            <a:bodyPr anchor="t" rtlCol="false" tIns="0" lIns="0" bIns="0" rIns="0">
              <a:spAutoFit/>
            </a:bodyPr>
            <a:lstStyle/>
            <a:p>
              <a:pPr algn="l">
                <a:lnSpc>
                  <a:spcPts val="3960"/>
                </a:lnSpc>
              </a:pPr>
              <a:r>
                <a:rPr lang="en-US" sz="3600" b="true">
                  <a:solidFill>
                    <a:srgbClr val="F7FBFF"/>
                  </a:solidFill>
                  <a:latin typeface="Montserrat Bold"/>
                  <a:ea typeface="Montserrat Bold"/>
                  <a:cs typeface="Montserrat Bold"/>
                  <a:sym typeface="Montserrat Bold"/>
                </a:rPr>
                <a:t>Architecture: two flows, one secure boundary</a:t>
              </a:r>
            </a:p>
          </p:txBody>
        </p:sp>
        <p:sp>
          <p:nvSpPr>
            <p:cNvPr name="TextBox 5" id="5"/>
            <p:cNvSpPr txBox="true"/>
            <p:nvPr/>
          </p:nvSpPr>
          <p:spPr>
            <a:xfrm rot="0">
              <a:off x="20345400" y="98425"/>
              <a:ext cx="1778000" cy="333375"/>
            </a:xfrm>
            <a:prstGeom prst="rect">
              <a:avLst/>
            </a:prstGeom>
          </p:spPr>
          <p:txBody>
            <a:bodyPr anchor="t" rtlCol="false" tIns="0" lIns="0" bIns="0" rIns="0">
              <a:spAutoFit/>
            </a:bodyPr>
            <a:lstStyle/>
            <a:p>
              <a:pPr algn="r">
                <a:lnSpc>
                  <a:spcPts val="2100"/>
                </a:lnSpc>
              </a:pPr>
              <a:r>
                <a:rPr lang="en-US" sz="1500">
                  <a:solidFill>
                    <a:srgbClr val="9BB0C7"/>
                  </a:solidFill>
                  <a:latin typeface="IBM Plex Mono"/>
                  <a:ea typeface="IBM Plex Mono"/>
                  <a:cs typeface="IBM Plex Mono"/>
                  <a:sym typeface="IBM Plex Mono"/>
                </a:rPr>
                <a:t>03</a:t>
              </a:r>
            </a:p>
          </p:txBody>
        </p:sp>
      </p:grpSp>
      <p:grpSp>
        <p:nvGrpSpPr>
          <p:cNvPr name="Group 6" id="6"/>
          <p:cNvGrpSpPr/>
          <p:nvPr/>
        </p:nvGrpSpPr>
        <p:grpSpPr>
          <a:xfrm rot="0">
            <a:off x="3429000" y="2143125"/>
            <a:ext cx="14001750" cy="6381750"/>
            <a:chOff x="0" y="0"/>
            <a:chExt cx="18669000" cy="8509000"/>
          </a:xfrm>
        </p:grpSpPr>
        <p:sp>
          <p:nvSpPr>
            <p:cNvPr name="Freeform 7" id="7"/>
            <p:cNvSpPr/>
            <p:nvPr/>
          </p:nvSpPr>
          <p:spPr>
            <a:xfrm flipH="false" flipV="false" rot="0">
              <a:off x="0" y="0"/>
              <a:ext cx="18669000" cy="8509000"/>
            </a:xfrm>
            <a:custGeom>
              <a:avLst/>
              <a:gdLst/>
              <a:ahLst/>
              <a:cxnLst/>
              <a:rect r="r" b="b" t="t" l="l"/>
              <a:pathLst>
                <a:path h="8509000" w="18669000">
                  <a:moveTo>
                    <a:pt x="0" y="0"/>
                  </a:moveTo>
                  <a:lnTo>
                    <a:pt x="18669000" y="0"/>
                  </a:lnTo>
                  <a:lnTo>
                    <a:pt x="18669000" y="8509000"/>
                  </a:lnTo>
                  <a:lnTo>
                    <a:pt x="0" y="8509000"/>
                  </a:lnTo>
                  <a:close/>
                </a:path>
              </a:pathLst>
            </a:custGeom>
            <a:solidFill>
              <a:srgbClr val="101E31"/>
            </a:solidFill>
            <a:ln w="19050" cap="sq">
              <a:solidFill>
                <a:srgbClr val="29425F"/>
              </a:solidFill>
              <a:prstDash val="solid"/>
              <a:miter/>
            </a:ln>
          </p:spPr>
        </p:sp>
        <p:sp>
          <p:nvSpPr>
            <p:cNvPr name="TextBox 8" id="8"/>
            <p:cNvSpPr txBox="true"/>
            <p:nvPr/>
          </p:nvSpPr>
          <p:spPr>
            <a:xfrm>
              <a:off x="0" y="-38100"/>
              <a:ext cx="18669000" cy="8547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3714750" y="2333625"/>
            <a:ext cx="5715000" cy="2571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VPC  •  SECURITY GROUP BOUNDARY</a:t>
            </a:r>
          </a:p>
        </p:txBody>
      </p:sp>
      <p:sp>
        <p:nvSpPr>
          <p:cNvPr name="TextBox 10" id="10"/>
          <p:cNvSpPr txBox="true"/>
          <p:nvPr/>
        </p:nvSpPr>
        <p:spPr>
          <a:xfrm rot="0">
            <a:off x="9810750" y="4829175"/>
            <a:ext cx="3143250" cy="2571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AVAILABILITY ZONE A</a:t>
            </a:r>
          </a:p>
        </p:txBody>
      </p:sp>
      <p:sp>
        <p:nvSpPr>
          <p:cNvPr name="TextBox 11" id="11"/>
          <p:cNvSpPr txBox="true"/>
          <p:nvPr/>
        </p:nvSpPr>
        <p:spPr>
          <a:xfrm rot="0">
            <a:off x="13620750" y="4829175"/>
            <a:ext cx="3143250" cy="2571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AVAILABILITY ZONE B</a:t>
            </a:r>
          </a:p>
        </p:txBody>
      </p:sp>
      <p:grpSp>
        <p:nvGrpSpPr>
          <p:cNvPr name="Group 12" id="12"/>
          <p:cNvGrpSpPr/>
          <p:nvPr/>
        </p:nvGrpSpPr>
        <p:grpSpPr>
          <a:xfrm rot="0">
            <a:off x="666750" y="3619500"/>
            <a:ext cx="1905000" cy="952500"/>
            <a:chOff x="0" y="0"/>
            <a:chExt cx="2540000" cy="1270000"/>
          </a:xfrm>
        </p:grpSpPr>
        <p:sp>
          <p:nvSpPr>
            <p:cNvPr name="Freeform 13" id="13"/>
            <p:cNvSpPr/>
            <p:nvPr/>
          </p:nvSpPr>
          <p:spPr>
            <a:xfrm flipH="false" flipV="false" rot="0">
              <a:off x="0" y="0"/>
              <a:ext cx="2540000" cy="1270000"/>
            </a:xfrm>
            <a:custGeom>
              <a:avLst/>
              <a:gdLst/>
              <a:ahLst/>
              <a:cxnLst/>
              <a:rect r="r" b="b" t="t" l="l"/>
              <a:pathLst>
                <a:path h="1270000" w="2540000">
                  <a:moveTo>
                    <a:pt x="88900" y="0"/>
                  </a:moveTo>
                  <a:lnTo>
                    <a:pt x="2451100" y="0"/>
                  </a:lnTo>
                  <a:cubicBezTo>
                    <a:pt x="2500198" y="0"/>
                    <a:pt x="2540000" y="39802"/>
                    <a:pt x="2540000" y="88900"/>
                  </a:cubicBezTo>
                  <a:lnTo>
                    <a:pt x="2540000" y="1181100"/>
                  </a:lnTo>
                  <a:cubicBezTo>
                    <a:pt x="2540000" y="1230198"/>
                    <a:pt x="2500198" y="1270000"/>
                    <a:pt x="2451100" y="1270000"/>
                  </a:cubicBezTo>
                  <a:lnTo>
                    <a:pt x="88900" y="1270000"/>
                  </a:lnTo>
                  <a:cubicBezTo>
                    <a:pt x="39802" y="1270000"/>
                    <a:pt x="0" y="1230198"/>
                    <a:pt x="0" y="1181100"/>
                  </a:cubicBezTo>
                  <a:lnTo>
                    <a:pt x="0" y="88900"/>
                  </a:lnTo>
                  <a:cubicBezTo>
                    <a:pt x="0" y="39802"/>
                    <a:pt x="39802" y="0"/>
                    <a:pt x="88900" y="0"/>
                  </a:cubicBezTo>
                  <a:close/>
                </a:path>
              </a:pathLst>
            </a:custGeom>
            <a:solidFill>
              <a:srgbClr val="142A42"/>
            </a:solidFill>
            <a:ln w="19050" cap="sq">
              <a:solidFill>
                <a:srgbClr val="20A4F3"/>
              </a:solidFill>
              <a:prstDash val="solid"/>
              <a:miter/>
            </a:ln>
          </p:spPr>
        </p:sp>
        <p:sp>
          <p:nvSpPr>
            <p:cNvPr name="TextBox 14" id="14"/>
            <p:cNvSpPr txBox="true"/>
            <p:nvPr/>
          </p:nvSpPr>
          <p:spPr>
            <a:xfrm>
              <a:off x="0" y="-38100"/>
              <a:ext cx="2540000" cy="1308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USERS</a:t>
              </a:r>
            </a:p>
          </p:txBody>
        </p:sp>
      </p:grpSp>
      <p:grpSp>
        <p:nvGrpSpPr>
          <p:cNvPr name="Group 15" id="15"/>
          <p:cNvGrpSpPr/>
          <p:nvPr/>
        </p:nvGrpSpPr>
        <p:grpSpPr>
          <a:xfrm rot="0">
            <a:off x="4000500" y="3619500"/>
            <a:ext cx="1809750" cy="952500"/>
            <a:chOff x="0" y="0"/>
            <a:chExt cx="2413000" cy="1270000"/>
          </a:xfrm>
        </p:grpSpPr>
        <p:sp>
          <p:nvSpPr>
            <p:cNvPr name="Freeform 16" id="16"/>
            <p:cNvSpPr/>
            <p:nvPr/>
          </p:nvSpPr>
          <p:spPr>
            <a:xfrm flipH="false" flipV="false" rot="0">
              <a:off x="0" y="0"/>
              <a:ext cx="2413000" cy="1270000"/>
            </a:xfrm>
            <a:custGeom>
              <a:avLst/>
              <a:gdLst/>
              <a:ahLst/>
              <a:cxnLst/>
              <a:rect r="r" b="b" t="t" l="l"/>
              <a:pathLst>
                <a:path h="1270000" w="2413000">
                  <a:moveTo>
                    <a:pt x="93579" y="0"/>
                  </a:moveTo>
                  <a:lnTo>
                    <a:pt x="2319421" y="0"/>
                  </a:lnTo>
                  <a:cubicBezTo>
                    <a:pt x="2344240" y="0"/>
                    <a:pt x="2368042" y="9859"/>
                    <a:pt x="2385591" y="27409"/>
                  </a:cubicBezTo>
                  <a:cubicBezTo>
                    <a:pt x="2403141" y="44958"/>
                    <a:pt x="2413000" y="68760"/>
                    <a:pt x="2413000" y="93579"/>
                  </a:cubicBezTo>
                  <a:lnTo>
                    <a:pt x="2413000" y="1176421"/>
                  </a:lnTo>
                  <a:cubicBezTo>
                    <a:pt x="2413000" y="1201240"/>
                    <a:pt x="2403141" y="1225042"/>
                    <a:pt x="2385591" y="1242591"/>
                  </a:cubicBezTo>
                  <a:cubicBezTo>
                    <a:pt x="2368042" y="1260141"/>
                    <a:pt x="2344240" y="1270000"/>
                    <a:pt x="2319421" y="1270000"/>
                  </a:cubicBezTo>
                  <a:lnTo>
                    <a:pt x="93579" y="1270000"/>
                  </a:lnTo>
                  <a:cubicBezTo>
                    <a:pt x="68760" y="1270000"/>
                    <a:pt x="44958" y="1260141"/>
                    <a:pt x="27409" y="1242591"/>
                  </a:cubicBezTo>
                  <a:cubicBezTo>
                    <a:pt x="9859" y="1225042"/>
                    <a:pt x="0" y="1201240"/>
                    <a:pt x="0" y="1176421"/>
                  </a:cubicBezTo>
                  <a:lnTo>
                    <a:pt x="0" y="93579"/>
                  </a:lnTo>
                  <a:cubicBezTo>
                    <a:pt x="0" y="68760"/>
                    <a:pt x="9859" y="44958"/>
                    <a:pt x="27409" y="27409"/>
                  </a:cubicBezTo>
                  <a:cubicBezTo>
                    <a:pt x="44958" y="9859"/>
                    <a:pt x="68760" y="0"/>
                    <a:pt x="93579" y="0"/>
                  </a:cubicBezTo>
                  <a:close/>
                </a:path>
              </a:pathLst>
            </a:custGeom>
            <a:solidFill>
              <a:srgbClr val="142A42"/>
            </a:solidFill>
            <a:ln w="19050" cap="sq">
              <a:solidFill>
                <a:srgbClr val="20A4F3"/>
              </a:solidFill>
              <a:prstDash val="solid"/>
              <a:miter/>
            </a:ln>
          </p:spPr>
        </p:sp>
        <p:sp>
          <p:nvSpPr>
            <p:cNvPr name="TextBox 17" id="17"/>
            <p:cNvSpPr txBox="true"/>
            <p:nvPr/>
          </p:nvSpPr>
          <p:spPr>
            <a:xfrm>
              <a:off x="0" y="-38100"/>
              <a:ext cx="2413000" cy="1308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Internet</a:t>
              </a:r>
            </a:p>
            <a:p>
              <a:pPr algn="ctr">
                <a:lnSpc>
                  <a:spcPts val="2310"/>
                </a:lnSpc>
              </a:pPr>
              <a:r>
                <a:rPr lang="en-US" sz="1650" b="true">
                  <a:solidFill>
                    <a:srgbClr val="F7FBFF"/>
                  </a:solidFill>
                  <a:latin typeface="IBM Plex Sans Bold"/>
                  <a:ea typeface="IBM Plex Sans Bold"/>
                  <a:cs typeface="IBM Plex Sans Bold"/>
                  <a:sym typeface="IBM Plex Sans Bold"/>
                </a:rPr>
                <a:t>Gateway</a:t>
              </a:r>
            </a:p>
          </p:txBody>
        </p:sp>
      </p:grpSp>
      <p:grpSp>
        <p:nvGrpSpPr>
          <p:cNvPr name="Group 18" id="18"/>
          <p:cNvGrpSpPr/>
          <p:nvPr/>
        </p:nvGrpSpPr>
        <p:grpSpPr>
          <a:xfrm rot="0">
            <a:off x="6667500" y="3429000"/>
            <a:ext cx="2095500" cy="1333500"/>
            <a:chOff x="0" y="0"/>
            <a:chExt cx="2794000" cy="1778000"/>
          </a:xfrm>
        </p:grpSpPr>
        <p:sp>
          <p:nvSpPr>
            <p:cNvPr name="Freeform 19" id="19"/>
            <p:cNvSpPr/>
            <p:nvPr/>
          </p:nvSpPr>
          <p:spPr>
            <a:xfrm flipH="false" flipV="false" rot="0">
              <a:off x="0" y="0"/>
              <a:ext cx="2794000" cy="1778000"/>
            </a:xfrm>
            <a:custGeom>
              <a:avLst/>
              <a:gdLst/>
              <a:ahLst/>
              <a:cxnLst/>
              <a:rect r="r" b="b" t="t" l="l"/>
              <a:pathLst>
                <a:path h="1778000" w="2794000">
                  <a:moveTo>
                    <a:pt x="80818" y="0"/>
                  </a:moveTo>
                  <a:lnTo>
                    <a:pt x="2713182" y="0"/>
                  </a:lnTo>
                  <a:cubicBezTo>
                    <a:pt x="2734616" y="0"/>
                    <a:pt x="2755173" y="8515"/>
                    <a:pt x="2770329" y="23671"/>
                  </a:cubicBezTo>
                  <a:cubicBezTo>
                    <a:pt x="2785485" y="38827"/>
                    <a:pt x="2794000" y="59384"/>
                    <a:pt x="2794000" y="80818"/>
                  </a:cubicBezTo>
                  <a:lnTo>
                    <a:pt x="2794000" y="1697182"/>
                  </a:lnTo>
                  <a:cubicBezTo>
                    <a:pt x="2794000" y="1718616"/>
                    <a:pt x="2785485" y="1739173"/>
                    <a:pt x="2770329" y="1754329"/>
                  </a:cubicBezTo>
                  <a:cubicBezTo>
                    <a:pt x="2755173" y="1769485"/>
                    <a:pt x="2734616" y="1778000"/>
                    <a:pt x="2713182" y="1778000"/>
                  </a:cubicBezTo>
                  <a:lnTo>
                    <a:pt x="80818" y="1778000"/>
                  </a:lnTo>
                  <a:cubicBezTo>
                    <a:pt x="59384" y="1778000"/>
                    <a:pt x="38827" y="1769485"/>
                    <a:pt x="23671" y="1754329"/>
                  </a:cubicBezTo>
                  <a:cubicBezTo>
                    <a:pt x="8515" y="1739173"/>
                    <a:pt x="0" y="1718616"/>
                    <a:pt x="0" y="1697182"/>
                  </a:cubicBezTo>
                  <a:lnTo>
                    <a:pt x="0" y="80818"/>
                  </a:lnTo>
                  <a:cubicBezTo>
                    <a:pt x="0" y="59384"/>
                    <a:pt x="8515" y="38827"/>
                    <a:pt x="23671" y="23671"/>
                  </a:cubicBezTo>
                  <a:cubicBezTo>
                    <a:pt x="38827" y="8515"/>
                    <a:pt x="59384" y="0"/>
                    <a:pt x="80818" y="0"/>
                  </a:cubicBezTo>
                  <a:close/>
                </a:path>
              </a:pathLst>
            </a:custGeom>
            <a:solidFill>
              <a:srgbClr val="142A42"/>
            </a:solidFill>
            <a:ln w="19050" cap="sq">
              <a:solidFill>
                <a:srgbClr val="20A4F3"/>
              </a:solidFill>
              <a:prstDash val="solid"/>
              <a:miter/>
            </a:ln>
          </p:spPr>
        </p:sp>
        <p:sp>
          <p:nvSpPr>
            <p:cNvPr name="TextBox 20" id="20"/>
            <p:cNvSpPr txBox="true"/>
            <p:nvPr/>
          </p:nvSpPr>
          <p:spPr>
            <a:xfrm>
              <a:off x="0" y="-38100"/>
              <a:ext cx="2794000" cy="1816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Application</a:t>
              </a:r>
            </a:p>
            <a:p>
              <a:pPr algn="ctr">
                <a:lnSpc>
                  <a:spcPts val="2310"/>
                </a:lnSpc>
              </a:pPr>
              <a:r>
                <a:rPr lang="en-US" sz="1650" b="true">
                  <a:solidFill>
                    <a:srgbClr val="F7FBFF"/>
                  </a:solidFill>
                  <a:latin typeface="IBM Plex Sans Bold"/>
                  <a:ea typeface="IBM Plex Sans Bold"/>
                  <a:cs typeface="IBM Plex Sans Bold"/>
                  <a:sym typeface="IBM Plex Sans Bold"/>
                </a:rPr>
                <a:t>Load Balancer</a:t>
              </a:r>
            </a:p>
          </p:txBody>
        </p:sp>
      </p:grpSp>
      <p:grpSp>
        <p:nvGrpSpPr>
          <p:cNvPr name="Group 21" id="21"/>
          <p:cNvGrpSpPr/>
          <p:nvPr/>
        </p:nvGrpSpPr>
        <p:grpSpPr>
          <a:xfrm rot="0">
            <a:off x="6667500" y="5619750"/>
            <a:ext cx="2095500" cy="1047750"/>
            <a:chOff x="0" y="0"/>
            <a:chExt cx="2794000" cy="1397000"/>
          </a:xfrm>
        </p:grpSpPr>
        <p:sp>
          <p:nvSpPr>
            <p:cNvPr name="Freeform 22" id="22"/>
            <p:cNvSpPr/>
            <p:nvPr/>
          </p:nvSpPr>
          <p:spPr>
            <a:xfrm flipH="false" flipV="false" rot="0">
              <a:off x="0" y="0"/>
              <a:ext cx="2794000" cy="1397000"/>
            </a:xfrm>
            <a:custGeom>
              <a:avLst/>
              <a:gdLst/>
              <a:ahLst/>
              <a:cxnLst/>
              <a:rect r="r" b="b" t="t" l="l"/>
              <a:pathLst>
                <a:path h="1397000" w="2794000">
                  <a:moveTo>
                    <a:pt x="80818" y="0"/>
                  </a:moveTo>
                  <a:lnTo>
                    <a:pt x="2713182" y="0"/>
                  </a:lnTo>
                  <a:cubicBezTo>
                    <a:pt x="2734616" y="0"/>
                    <a:pt x="2755173" y="8515"/>
                    <a:pt x="2770329" y="23671"/>
                  </a:cubicBezTo>
                  <a:cubicBezTo>
                    <a:pt x="2785485" y="38827"/>
                    <a:pt x="2794000" y="59384"/>
                    <a:pt x="2794000" y="80818"/>
                  </a:cubicBezTo>
                  <a:lnTo>
                    <a:pt x="2794000" y="1316182"/>
                  </a:lnTo>
                  <a:cubicBezTo>
                    <a:pt x="2794000" y="1337616"/>
                    <a:pt x="2785485" y="1358173"/>
                    <a:pt x="2770329" y="1373329"/>
                  </a:cubicBezTo>
                  <a:cubicBezTo>
                    <a:pt x="2755173" y="1388485"/>
                    <a:pt x="2734616" y="1397000"/>
                    <a:pt x="2713182" y="1397000"/>
                  </a:cubicBezTo>
                  <a:lnTo>
                    <a:pt x="80818" y="1397000"/>
                  </a:lnTo>
                  <a:cubicBezTo>
                    <a:pt x="59384" y="1397000"/>
                    <a:pt x="38827" y="1388485"/>
                    <a:pt x="23671" y="1373329"/>
                  </a:cubicBezTo>
                  <a:cubicBezTo>
                    <a:pt x="8515" y="1358173"/>
                    <a:pt x="0" y="1337616"/>
                    <a:pt x="0" y="1316182"/>
                  </a:cubicBezTo>
                  <a:lnTo>
                    <a:pt x="0" y="80818"/>
                  </a:lnTo>
                  <a:cubicBezTo>
                    <a:pt x="0" y="59384"/>
                    <a:pt x="8515" y="38827"/>
                    <a:pt x="23671" y="23671"/>
                  </a:cubicBezTo>
                  <a:cubicBezTo>
                    <a:pt x="38827" y="8515"/>
                    <a:pt x="59384" y="0"/>
                    <a:pt x="80818" y="0"/>
                  </a:cubicBezTo>
                  <a:close/>
                </a:path>
              </a:pathLst>
            </a:custGeom>
            <a:solidFill>
              <a:srgbClr val="142A42"/>
            </a:solidFill>
            <a:ln w="19050" cap="sq">
              <a:solidFill>
                <a:srgbClr val="20A4F3"/>
              </a:solidFill>
              <a:prstDash val="solid"/>
              <a:miter/>
            </a:ln>
          </p:spPr>
        </p:sp>
        <p:sp>
          <p:nvSpPr>
            <p:cNvPr name="TextBox 23" id="23"/>
            <p:cNvSpPr txBox="true"/>
            <p:nvPr/>
          </p:nvSpPr>
          <p:spPr>
            <a:xfrm>
              <a:off x="0" y="-38100"/>
              <a:ext cx="2794000" cy="1435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Target Group</a:t>
              </a:r>
            </a:p>
          </p:txBody>
        </p:sp>
      </p:grpSp>
      <p:grpSp>
        <p:nvGrpSpPr>
          <p:cNvPr name="Group 24" id="24"/>
          <p:cNvGrpSpPr/>
          <p:nvPr/>
        </p:nvGrpSpPr>
        <p:grpSpPr>
          <a:xfrm rot="0">
            <a:off x="9906000" y="5619750"/>
            <a:ext cx="2381250" cy="1047750"/>
            <a:chOff x="0" y="0"/>
            <a:chExt cx="3175000" cy="1397000"/>
          </a:xfrm>
        </p:grpSpPr>
        <p:sp>
          <p:nvSpPr>
            <p:cNvPr name="Freeform 25" id="25"/>
            <p:cNvSpPr/>
            <p:nvPr/>
          </p:nvSpPr>
          <p:spPr>
            <a:xfrm flipH="false" flipV="false" rot="0">
              <a:off x="0" y="0"/>
              <a:ext cx="3175000" cy="1397000"/>
            </a:xfrm>
            <a:custGeom>
              <a:avLst/>
              <a:gdLst/>
              <a:ahLst/>
              <a:cxnLst/>
              <a:rect r="r" b="b" t="t" l="l"/>
              <a:pathLst>
                <a:path h="1397000" w="3175000">
                  <a:moveTo>
                    <a:pt x="71120" y="0"/>
                  </a:moveTo>
                  <a:lnTo>
                    <a:pt x="3103880" y="0"/>
                  </a:lnTo>
                  <a:cubicBezTo>
                    <a:pt x="3143159" y="0"/>
                    <a:pt x="3175000" y="31842"/>
                    <a:pt x="3175000" y="71120"/>
                  </a:cubicBezTo>
                  <a:lnTo>
                    <a:pt x="3175000" y="1325880"/>
                  </a:lnTo>
                  <a:cubicBezTo>
                    <a:pt x="3175000" y="1365159"/>
                    <a:pt x="3143159" y="1397000"/>
                    <a:pt x="3103880" y="1397000"/>
                  </a:cubicBezTo>
                  <a:lnTo>
                    <a:pt x="71120" y="1397000"/>
                  </a:lnTo>
                  <a:cubicBezTo>
                    <a:pt x="31842" y="1397000"/>
                    <a:pt x="0" y="1365159"/>
                    <a:pt x="0" y="1325880"/>
                  </a:cubicBezTo>
                  <a:lnTo>
                    <a:pt x="0" y="71120"/>
                  </a:lnTo>
                  <a:cubicBezTo>
                    <a:pt x="0" y="31842"/>
                    <a:pt x="31842" y="0"/>
                    <a:pt x="71120" y="0"/>
                  </a:cubicBezTo>
                  <a:close/>
                </a:path>
              </a:pathLst>
            </a:custGeom>
            <a:solidFill>
              <a:srgbClr val="142A42"/>
            </a:solidFill>
            <a:ln w="19050" cap="sq">
              <a:solidFill>
                <a:srgbClr val="36D399"/>
              </a:solidFill>
              <a:prstDash val="solid"/>
              <a:miter/>
            </a:ln>
          </p:spPr>
        </p:sp>
        <p:sp>
          <p:nvSpPr>
            <p:cNvPr name="TextBox 26" id="26"/>
            <p:cNvSpPr txBox="true"/>
            <p:nvPr/>
          </p:nvSpPr>
          <p:spPr>
            <a:xfrm>
              <a:off x="0" y="-38100"/>
              <a:ext cx="3175000" cy="1435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WEB-01</a:t>
              </a:r>
            </a:p>
          </p:txBody>
        </p:sp>
      </p:grpSp>
      <p:grpSp>
        <p:nvGrpSpPr>
          <p:cNvPr name="Group 27" id="27"/>
          <p:cNvGrpSpPr/>
          <p:nvPr/>
        </p:nvGrpSpPr>
        <p:grpSpPr>
          <a:xfrm rot="0">
            <a:off x="13239750" y="5619750"/>
            <a:ext cx="2381250" cy="1047750"/>
            <a:chOff x="0" y="0"/>
            <a:chExt cx="3175000" cy="1397000"/>
          </a:xfrm>
        </p:grpSpPr>
        <p:sp>
          <p:nvSpPr>
            <p:cNvPr name="Freeform 28" id="28"/>
            <p:cNvSpPr/>
            <p:nvPr/>
          </p:nvSpPr>
          <p:spPr>
            <a:xfrm flipH="false" flipV="false" rot="0">
              <a:off x="0" y="0"/>
              <a:ext cx="3175000" cy="1397000"/>
            </a:xfrm>
            <a:custGeom>
              <a:avLst/>
              <a:gdLst/>
              <a:ahLst/>
              <a:cxnLst/>
              <a:rect r="r" b="b" t="t" l="l"/>
              <a:pathLst>
                <a:path h="1397000" w="3175000">
                  <a:moveTo>
                    <a:pt x="71120" y="0"/>
                  </a:moveTo>
                  <a:lnTo>
                    <a:pt x="3103880" y="0"/>
                  </a:lnTo>
                  <a:cubicBezTo>
                    <a:pt x="3143159" y="0"/>
                    <a:pt x="3175000" y="31842"/>
                    <a:pt x="3175000" y="71120"/>
                  </a:cubicBezTo>
                  <a:lnTo>
                    <a:pt x="3175000" y="1325880"/>
                  </a:lnTo>
                  <a:cubicBezTo>
                    <a:pt x="3175000" y="1365159"/>
                    <a:pt x="3143159" y="1397000"/>
                    <a:pt x="3103880" y="1397000"/>
                  </a:cubicBezTo>
                  <a:lnTo>
                    <a:pt x="71120" y="1397000"/>
                  </a:lnTo>
                  <a:cubicBezTo>
                    <a:pt x="31842" y="1397000"/>
                    <a:pt x="0" y="1365159"/>
                    <a:pt x="0" y="1325880"/>
                  </a:cubicBezTo>
                  <a:lnTo>
                    <a:pt x="0" y="71120"/>
                  </a:lnTo>
                  <a:cubicBezTo>
                    <a:pt x="0" y="31842"/>
                    <a:pt x="31842" y="0"/>
                    <a:pt x="71120" y="0"/>
                  </a:cubicBezTo>
                  <a:close/>
                </a:path>
              </a:pathLst>
            </a:custGeom>
            <a:solidFill>
              <a:srgbClr val="142A42"/>
            </a:solidFill>
            <a:ln w="19050" cap="sq">
              <a:solidFill>
                <a:srgbClr val="36D399"/>
              </a:solidFill>
              <a:prstDash val="solid"/>
              <a:miter/>
            </a:ln>
          </p:spPr>
        </p:sp>
        <p:sp>
          <p:nvSpPr>
            <p:cNvPr name="TextBox 29" id="29"/>
            <p:cNvSpPr txBox="true"/>
            <p:nvPr/>
          </p:nvSpPr>
          <p:spPr>
            <a:xfrm>
              <a:off x="0" y="-38100"/>
              <a:ext cx="3175000" cy="1435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WEB-02</a:t>
              </a:r>
            </a:p>
          </p:txBody>
        </p:sp>
      </p:grpSp>
      <p:grpSp>
        <p:nvGrpSpPr>
          <p:cNvPr name="Group 30" id="30"/>
          <p:cNvGrpSpPr/>
          <p:nvPr/>
        </p:nvGrpSpPr>
        <p:grpSpPr>
          <a:xfrm rot="0">
            <a:off x="13239750" y="7143750"/>
            <a:ext cx="2381250" cy="1047750"/>
            <a:chOff x="0" y="0"/>
            <a:chExt cx="3175000" cy="1397000"/>
          </a:xfrm>
        </p:grpSpPr>
        <p:sp>
          <p:nvSpPr>
            <p:cNvPr name="Freeform 31" id="31"/>
            <p:cNvSpPr/>
            <p:nvPr/>
          </p:nvSpPr>
          <p:spPr>
            <a:xfrm flipH="false" flipV="false" rot="0">
              <a:off x="0" y="0"/>
              <a:ext cx="3175000" cy="1397000"/>
            </a:xfrm>
            <a:custGeom>
              <a:avLst/>
              <a:gdLst/>
              <a:ahLst/>
              <a:cxnLst/>
              <a:rect r="r" b="b" t="t" l="l"/>
              <a:pathLst>
                <a:path h="1397000" w="3175000">
                  <a:moveTo>
                    <a:pt x="71120" y="0"/>
                  </a:moveTo>
                  <a:lnTo>
                    <a:pt x="3103880" y="0"/>
                  </a:lnTo>
                  <a:cubicBezTo>
                    <a:pt x="3143159" y="0"/>
                    <a:pt x="3175000" y="31842"/>
                    <a:pt x="3175000" y="71120"/>
                  </a:cubicBezTo>
                  <a:lnTo>
                    <a:pt x="3175000" y="1325880"/>
                  </a:lnTo>
                  <a:cubicBezTo>
                    <a:pt x="3175000" y="1365159"/>
                    <a:pt x="3143159" y="1397000"/>
                    <a:pt x="3103880" y="1397000"/>
                  </a:cubicBezTo>
                  <a:lnTo>
                    <a:pt x="71120" y="1397000"/>
                  </a:lnTo>
                  <a:cubicBezTo>
                    <a:pt x="31842" y="1397000"/>
                    <a:pt x="0" y="1365159"/>
                    <a:pt x="0" y="1325880"/>
                  </a:cubicBezTo>
                  <a:lnTo>
                    <a:pt x="0" y="71120"/>
                  </a:lnTo>
                  <a:cubicBezTo>
                    <a:pt x="0" y="31842"/>
                    <a:pt x="31842" y="0"/>
                    <a:pt x="71120" y="0"/>
                  </a:cubicBezTo>
                  <a:close/>
                </a:path>
              </a:pathLst>
            </a:custGeom>
            <a:solidFill>
              <a:srgbClr val="142A42"/>
            </a:solidFill>
            <a:ln w="19050" cap="sq">
              <a:solidFill>
                <a:srgbClr val="36D399"/>
              </a:solidFill>
              <a:prstDash val="solid"/>
              <a:miter/>
            </a:ln>
          </p:spPr>
        </p:sp>
        <p:sp>
          <p:nvSpPr>
            <p:cNvPr name="TextBox 32" id="32"/>
            <p:cNvSpPr txBox="true"/>
            <p:nvPr/>
          </p:nvSpPr>
          <p:spPr>
            <a:xfrm>
              <a:off x="0" y="-38100"/>
              <a:ext cx="3175000" cy="1435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WEB-03</a:t>
              </a:r>
            </a:p>
          </p:txBody>
        </p:sp>
      </p:grpSp>
      <p:grpSp>
        <p:nvGrpSpPr>
          <p:cNvPr name="Group 33" id="33"/>
          <p:cNvGrpSpPr/>
          <p:nvPr/>
        </p:nvGrpSpPr>
        <p:grpSpPr>
          <a:xfrm rot="0">
            <a:off x="666750" y="7048500"/>
            <a:ext cx="1905000" cy="952500"/>
            <a:chOff x="0" y="0"/>
            <a:chExt cx="2540000" cy="1270000"/>
          </a:xfrm>
        </p:grpSpPr>
        <p:sp>
          <p:nvSpPr>
            <p:cNvPr name="Freeform 34" id="34"/>
            <p:cNvSpPr/>
            <p:nvPr/>
          </p:nvSpPr>
          <p:spPr>
            <a:xfrm flipH="false" flipV="false" rot="0">
              <a:off x="0" y="0"/>
              <a:ext cx="2540000" cy="1270000"/>
            </a:xfrm>
            <a:custGeom>
              <a:avLst/>
              <a:gdLst/>
              <a:ahLst/>
              <a:cxnLst/>
              <a:rect r="r" b="b" t="t" l="l"/>
              <a:pathLst>
                <a:path h="1270000" w="2540000">
                  <a:moveTo>
                    <a:pt x="88900" y="0"/>
                  </a:moveTo>
                  <a:lnTo>
                    <a:pt x="2451100" y="0"/>
                  </a:lnTo>
                  <a:cubicBezTo>
                    <a:pt x="2500198" y="0"/>
                    <a:pt x="2540000" y="39802"/>
                    <a:pt x="2540000" y="88900"/>
                  </a:cubicBezTo>
                  <a:lnTo>
                    <a:pt x="2540000" y="1181100"/>
                  </a:lnTo>
                  <a:cubicBezTo>
                    <a:pt x="2540000" y="1230198"/>
                    <a:pt x="2500198" y="1270000"/>
                    <a:pt x="2451100" y="1270000"/>
                  </a:cubicBezTo>
                  <a:lnTo>
                    <a:pt x="88900" y="1270000"/>
                  </a:lnTo>
                  <a:cubicBezTo>
                    <a:pt x="39802" y="1270000"/>
                    <a:pt x="0" y="1230198"/>
                    <a:pt x="0" y="1181100"/>
                  </a:cubicBezTo>
                  <a:lnTo>
                    <a:pt x="0" y="88900"/>
                  </a:lnTo>
                  <a:cubicBezTo>
                    <a:pt x="0" y="39802"/>
                    <a:pt x="39802" y="0"/>
                    <a:pt x="88900" y="0"/>
                  </a:cubicBezTo>
                  <a:close/>
                </a:path>
              </a:pathLst>
            </a:custGeom>
            <a:solidFill>
              <a:srgbClr val="142A42"/>
            </a:solidFill>
            <a:ln w="19050" cap="sq">
              <a:solidFill>
                <a:srgbClr val="FF9900"/>
              </a:solidFill>
              <a:prstDash val="solid"/>
              <a:miter/>
            </a:ln>
          </p:spPr>
        </p:sp>
        <p:sp>
          <p:nvSpPr>
            <p:cNvPr name="TextBox 35" id="35"/>
            <p:cNvSpPr txBox="true"/>
            <p:nvPr/>
          </p:nvSpPr>
          <p:spPr>
            <a:xfrm>
              <a:off x="0" y="-38100"/>
              <a:ext cx="2540000" cy="1308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Simulated</a:t>
              </a:r>
            </a:p>
            <a:p>
              <a:pPr algn="ctr">
                <a:lnSpc>
                  <a:spcPts val="2310"/>
                </a:lnSpc>
              </a:pPr>
              <a:r>
                <a:rPr lang="en-US" sz="1650" b="true">
                  <a:solidFill>
                    <a:srgbClr val="F7FBFF"/>
                  </a:solidFill>
                  <a:latin typeface="IBM Plex Sans Bold"/>
                  <a:ea typeface="IBM Plex Sans Bold"/>
                  <a:cs typeface="IBM Plex Sans Bold"/>
                  <a:sym typeface="IBM Plex Sans Bold"/>
                </a:rPr>
                <a:t>Source</a:t>
              </a:r>
            </a:p>
          </p:txBody>
        </p:sp>
      </p:grpSp>
      <p:grpSp>
        <p:nvGrpSpPr>
          <p:cNvPr name="Group 36" id="36"/>
          <p:cNvGrpSpPr/>
          <p:nvPr/>
        </p:nvGrpSpPr>
        <p:grpSpPr>
          <a:xfrm rot="0">
            <a:off x="4000500" y="7048500"/>
            <a:ext cx="1809750" cy="952500"/>
            <a:chOff x="0" y="0"/>
            <a:chExt cx="2413000" cy="1270000"/>
          </a:xfrm>
        </p:grpSpPr>
        <p:sp>
          <p:nvSpPr>
            <p:cNvPr name="Freeform 37" id="37"/>
            <p:cNvSpPr/>
            <p:nvPr/>
          </p:nvSpPr>
          <p:spPr>
            <a:xfrm flipH="false" flipV="false" rot="0">
              <a:off x="0" y="0"/>
              <a:ext cx="2413000" cy="1270000"/>
            </a:xfrm>
            <a:custGeom>
              <a:avLst/>
              <a:gdLst/>
              <a:ahLst/>
              <a:cxnLst/>
              <a:rect r="r" b="b" t="t" l="l"/>
              <a:pathLst>
                <a:path h="1270000" w="2413000">
                  <a:moveTo>
                    <a:pt x="93579" y="0"/>
                  </a:moveTo>
                  <a:lnTo>
                    <a:pt x="2319421" y="0"/>
                  </a:lnTo>
                  <a:cubicBezTo>
                    <a:pt x="2344240" y="0"/>
                    <a:pt x="2368042" y="9859"/>
                    <a:pt x="2385591" y="27409"/>
                  </a:cubicBezTo>
                  <a:cubicBezTo>
                    <a:pt x="2403141" y="44958"/>
                    <a:pt x="2413000" y="68760"/>
                    <a:pt x="2413000" y="93579"/>
                  </a:cubicBezTo>
                  <a:lnTo>
                    <a:pt x="2413000" y="1176421"/>
                  </a:lnTo>
                  <a:cubicBezTo>
                    <a:pt x="2413000" y="1201240"/>
                    <a:pt x="2403141" y="1225042"/>
                    <a:pt x="2385591" y="1242591"/>
                  </a:cubicBezTo>
                  <a:cubicBezTo>
                    <a:pt x="2368042" y="1260141"/>
                    <a:pt x="2344240" y="1270000"/>
                    <a:pt x="2319421" y="1270000"/>
                  </a:cubicBezTo>
                  <a:lnTo>
                    <a:pt x="93579" y="1270000"/>
                  </a:lnTo>
                  <a:cubicBezTo>
                    <a:pt x="68760" y="1270000"/>
                    <a:pt x="44958" y="1260141"/>
                    <a:pt x="27409" y="1242591"/>
                  </a:cubicBezTo>
                  <a:cubicBezTo>
                    <a:pt x="9859" y="1225042"/>
                    <a:pt x="0" y="1201240"/>
                    <a:pt x="0" y="1176421"/>
                  </a:cubicBezTo>
                  <a:lnTo>
                    <a:pt x="0" y="93579"/>
                  </a:lnTo>
                  <a:cubicBezTo>
                    <a:pt x="0" y="68760"/>
                    <a:pt x="9859" y="44958"/>
                    <a:pt x="27409" y="27409"/>
                  </a:cubicBezTo>
                  <a:cubicBezTo>
                    <a:pt x="44958" y="9859"/>
                    <a:pt x="68760" y="0"/>
                    <a:pt x="93579" y="0"/>
                  </a:cubicBezTo>
                  <a:close/>
                </a:path>
              </a:pathLst>
            </a:custGeom>
            <a:solidFill>
              <a:srgbClr val="142A42"/>
            </a:solidFill>
            <a:ln w="19050" cap="sq">
              <a:solidFill>
                <a:srgbClr val="FF9900"/>
              </a:solidFill>
              <a:prstDash val="solid"/>
              <a:miter/>
            </a:ln>
          </p:spPr>
        </p:sp>
        <p:sp>
          <p:nvSpPr>
            <p:cNvPr name="TextBox 38" id="38"/>
            <p:cNvSpPr txBox="true"/>
            <p:nvPr/>
          </p:nvSpPr>
          <p:spPr>
            <a:xfrm>
              <a:off x="0" y="-38100"/>
              <a:ext cx="2413000" cy="1308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AWS MGN</a:t>
              </a:r>
            </a:p>
          </p:txBody>
        </p:sp>
      </p:grpSp>
      <p:grpSp>
        <p:nvGrpSpPr>
          <p:cNvPr name="Group 39" id="39"/>
          <p:cNvGrpSpPr/>
          <p:nvPr/>
        </p:nvGrpSpPr>
        <p:grpSpPr>
          <a:xfrm rot="0">
            <a:off x="9906000" y="7143750"/>
            <a:ext cx="2381250" cy="1047750"/>
            <a:chOff x="0" y="0"/>
            <a:chExt cx="3175000" cy="1397000"/>
          </a:xfrm>
        </p:grpSpPr>
        <p:sp>
          <p:nvSpPr>
            <p:cNvPr name="Freeform 40" id="40"/>
            <p:cNvSpPr/>
            <p:nvPr/>
          </p:nvSpPr>
          <p:spPr>
            <a:xfrm flipH="false" flipV="false" rot="0">
              <a:off x="0" y="0"/>
              <a:ext cx="3175000" cy="1397000"/>
            </a:xfrm>
            <a:custGeom>
              <a:avLst/>
              <a:gdLst/>
              <a:ahLst/>
              <a:cxnLst/>
              <a:rect r="r" b="b" t="t" l="l"/>
              <a:pathLst>
                <a:path h="1397000" w="3175000">
                  <a:moveTo>
                    <a:pt x="71120" y="0"/>
                  </a:moveTo>
                  <a:lnTo>
                    <a:pt x="3103880" y="0"/>
                  </a:lnTo>
                  <a:cubicBezTo>
                    <a:pt x="3143159" y="0"/>
                    <a:pt x="3175000" y="31842"/>
                    <a:pt x="3175000" y="71120"/>
                  </a:cubicBezTo>
                  <a:lnTo>
                    <a:pt x="3175000" y="1325880"/>
                  </a:lnTo>
                  <a:cubicBezTo>
                    <a:pt x="3175000" y="1365159"/>
                    <a:pt x="3143159" y="1397000"/>
                    <a:pt x="3103880" y="1397000"/>
                  </a:cubicBezTo>
                  <a:lnTo>
                    <a:pt x="71120" y="1397000"/>
                  </a:lnTo>
                  <a:cubicBezTo>
                    <a:pt x="31842" y="1397000"/>
                    <a:pt x="0" y="1365159"/>
                    <a:pt x="0" y="1325880"/>
                  </a:cubicBezTo>
                  <a:lnTo>
                    <a:pt x="0" y="71120"/>
                  </a:lnTo>
                  <a:cubicBezTo>
                    <a:pt x="0" y="31842"/>
                    <a:pt x="31842" y="0"/>
                    <a:pt x="71120" y="0"/>
                  </a:cubicBezTo>
                  <a:close/>
                </a:path>
              </a:pathLst>
            </a:custGeom>
            <a:solidFill>
              <a:srgbClr val="142A42"/>
            </a:solidFill>
            <a:ln w="19050" cap="sq">
              <a:solidFill>
                <a:srgbClr val="57D7FF"/>
              </a:solidFill>
              <a:prstDash val="solid"/>
              <a:miter/>
            </a:ln>
          </p:spPr>
        </p:sp>
        <p:sp>
          <p:nvSpPr>
            <p:cNvPr name="TextBox 41" id="41"/>
            <p:cNvSpPr txBox="true"/>
            <p:nvPr/>
          </p:nvSpPr>
          <p:spPr>
            <a:xfrm>
              <a:off x="0" y="-38100"/>
              <a:ext cx="3175000" cy="1435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CloudWatch</a:t>
              </a:r>
            </a:p>
          </p:txBody>
        </p:sp>
      </p:grpSp>
      <p:sp>
        <p:nvSpPr>
          <p:cNvPr name="AutoShape 42" id="42"/>
          <p:cNvSpPr/>
          <p:nvPr/>
        </p:nvSpPr>
        <p:spPr>
          <a:xfrm>
            <a:off x="2571750" y="4095750"/>
            <a:ext cx="1428750" cy="0"/>
          </a:xfrm>
          <a:prstGeom prst="line">
            <a:avLst/>
          </a:prstGeom>
          <a:ln cap="rnd" w="47625">
            <a:solidFill>
              <a:srgbClr val="20A4F3"/>
            </a:solidFill>
            <a:prstDash val="solid"/>
            <a:headEnd type="none" len="sm" w="sm"/>
            <a:tailEnd type="none" len="sm" w="sm"/>
          </a:ln>
        </p:spPr>
      </p:sp>
      <p:sp>
        <p:nvSpPr>
          <p:cNvPr name="AutoShape 43" id="43"/>
          <p:cNvSpPr/>
          <p:nvPr/>
        </p:nvSpPr>
        <p:spPr>
          <a:xfrm>
            <a:off x="5810250" y="4095750"/>
            <a:ext cx="857250" cy="0"/>
          </a:xfrm>
          <a:prstGeom prst="line">
            <a:avLst/>
          </a:prstGeom>
          <a:ln cap="rnd" w="47625">
            <a:solidFill>
              <a:srgbClr val="20A4F3"/>
            </a:solidFill>
            <a:prstDash val="solid"/>
            <a:headEnd type="none" len="sm" w="sm"/>
            <a:tailEnd type="none" len="sm" w="sm"/>
          </a:ln>
        </p:spPr>
      </p:sp>
      <p:sp>
        <p:nvSpPr>
          <p:cNvPr name="AutoShape 44" id="44"/>
          <p:cNvSpPr/>
          <p:nvPr/>
        </p:nvSpPr>
        <p:spPr>
          <a:xfrm>
            <a:off x="7715250" y="4762500"/>
            <a:ext cx="0" cy="857250"/>
          </a:xfrm>
          <a:prstGeom prst="line">
            <a:avLst/>
          </a:prstGeom>
          <a:ln cap="rnd" w="47625">
            <a:solidFill>
              <a:srgbClr val="20A4F3"/>
            </a:solidFill>
            <a:prstDash val="solid"/>
            <a:headEnd type="none" len="sm" w="sm"/>
            <a:tailEnd type="none" len="sm" w="sm"/>
          </a:ln>
        </p:spPr>
      </p:sp>
      <p:sp>
        <p:nvSpPr>
          <p:cNvPr name="AutoShape 45" id="45"/>
          <p:cNvSpPr/>
          <p:nvPr/>
        </p:nvSpPr>
        <p:spPr>
          <a:xfrm>
            <a:off x="8763000" y="6143625"/>
            <a:ext cx="1143000" cy="0"/>
          </a:xfrm>
          <a:prstGeom prst="line">
            <a:avLst/>
          </a:prstGeom>
          <a:ln cap="rnd" w="47625">
            <a:solidFill>
              <a:srgbClr val="20A4F3"/>
            </a:solidFill>
            <a:prstDash val="solid"/>
            <a:headEnd type="none" len="sm" w="sm"/>
            <a:tailEnd type="none" len="sm" w="sm"/>
          </a:ln>
        </p:spPr>
      </p:sp>
      <p:sp>
        <p:nvSpPr>
          <p:cNvPr name="AutoShape 46" id="46"/>
          <p:cNvSpPr/>
          <p:nvPr/>
        </p:nvSpPr>
        <p:spPr>
          <a:xfrm>
            <a:off x="8763000" y="6143625"/>
            <a:ext cx="4476750" cy="0"/>
          </a:xfrm>
          <a:prstGeom prst="line">
            <a:avLst/>
          </a:prstGeom>
          <a:ln cap="rnd" w="47625">
            <a:solidFill>
              <a:srgbClr val="20A4F3"/>
            </a:solidFill>
            <a:prstDash val="solid"/>
            <a:headEnd type="none" len="sm" w="sm"/>
            <a:tailEnd type="none" len="sm" w="sm"/>
          </a:ln>
        </p:spPr>
      </p:sp>
      <p:sp>
        <p:nvSpPr>
          <p:cNvPr name="AutoShape 47" id="47"/>
          <p:cNvSpPr/>
          <p:nvPr/>
        </p:nvSpPr>
        <p:spPr>
          <a:xfrm>
            <a:off x="8763000" y="6143625"/>
            <a:ext cx="4476750" cy="1524000"/>
          </a:xfrm>
          <a:prstGeom prst="line">
            <a:avLst/>
          </a:prstGeom>
          <a:ln cap="rnd" w="47625">
            <a:solidFill>
              <a:srgbClr val="20A4F3"/>
            </a:solidFill>
            <a:prstDash val="solid"/>
            <a:headEnd type="none" len="sm" w="sm"/>
            <a:tailEnd type="none" len="sm" w="sm"/>
          </a:ln>
        </p:spPr>
      </p:sp>
      <p:sp>
        <p:nvSpPr>
          <p:cNvPr name="AutoShape 48" id="48"/>
          <p:cNvSpPr/>
          <p:nvPr/>
        </p:nvSpPr>
        <p:spPr>
          <a:xfrm>
            <a:off x="2571750" y="7524750"/>
            <a:ext cx="1428750" cy="0"/>
          </a:xfrm>
          <a:prstGeom prst="line">
            <a:avLst/>
          </a:prstGeom>
          <a:ln cap="rnd" w="47625">
            <a:solidFill>
              <a:srgbClr val="FF9900"/>
            </a:solidFill>
            <a:prstDash val="lgDash"/>
            <a:headEnd type="none" len="sm" w="sm"/>
            <a:tailEnd type="none" len="sm" w="sm"/>
          </a:ln>
        </p:spPr>
      </p:sp>
      <p:sp>
        <p:nvSpPr>
          <p:cNvPr name="AutoShape 49" id="49"/>
          <p:cNvSpPr/>
          <p:nvPr/>
        </p:nvSpPr>
        <p:spPr>
          <a:xfrm flipV="true">
            <a:off x="5810250" y="6143625"/>
            <a:ext cx="4095750" cy="1381125"/>
          </a:xfrm>
          <a:prstGeom prst="line">
            <a:avLst/>
          </a:prstGeom>
          <a:ln cap="rnd" w="47625">
            <a:solidFill>
              <a:srgbClr val="FF9900"/>
            </a:solidFill>
            <a:prstDash val="lgDash"/>
            <a:headEnd type="none" len="sm" w="sm"/>
            <a:tailEnd type="none" len="sm" w="sm"/>
          </a:ln>
        </p:spPr>
      </p:sp>
      <p:sp>
        <p:nvSpPr>
          <p:cNvPr name="TextBox 50" id="50"/>
          <p:cNvSpPr txBox="true"/>
          <p:nvPr/>
        </p:nvSpPr>
        <p:spPr>
          <a:xfrm rot="0">
            <a:off x="11525250" y="8734425"/>
            <a:ext cx="1524000" cy="257175"/>
          </a:xfrm>
          <a:prstGeom prst="rect">
            <a:avLst/>
          </a:prstGeom>
        </p:spPr>
        <p:txBody>
          <a:bodyPr anchor="t" rtlCol="false" tIns="0" lIns="0" bIns="0" rIns="0">
            <a:spAutoFit/>
          </a:bodyPr>
          <a:lstStyle/>
          <a:p>
            <a:pPr algn="l">
              <a:lnSpc>
                <a:spcPts val="2100"/>
              </a:lnSpc>
            </a:pPr>
            <a:r>
              <a:rPr lang="en-US" sz="1500" spc="120" b="true">
                <a:solidFill>
                  <a:srgbClr val="FF9900"/>
                </a:solidFill>
                <a:latin typeface="IBM Plex Mono Bold"/>
                <a:ea typeface="IBM Plex Mono Bold"/>
                <a:cs typeface="IBM Plex Mono Bold"/>
                <a:sym typeface="IBM Plex Mono Bold"/>
              </a:rPr>
              <a:t>MIGRATION</a:t>
            </a:r>
          </a:p>
        </p:txBody>
      </p:sp>
      <p:sp>
        <p:nvSpPr>
          <p:cNvPr name="TextBox 51" id="51"/>
          <p:cNvSpPr txBox="true"/>
          <p:nvPr/>
        </p:nvSpPr>
        <p:spPr>
          <a:xfrm rot="0">
            <a:off x="13716000" y="8734425"/>
            <a:ext cx="2000250" cy="257175"/>
          </a:xfrm>
          <a:prstGeom prst="rect">
            <a:avLst/>
          </a:prstGeom>
        </p:spPr>
        <p:txBody>
          <a:bodyPr anchor="t" rtlCol="false" tIns="0" lIns="0" bIns="0" rIns="0">
            <a:spAutoFit/>
          </a:bodyPr>
          <a:lstStyle/>
          <a:p>
            <a:pPr algn="l">
              <a:lnSpc>
                <a:spcPts val="2100"/>
              </a:lnSpc>
            </a:pPr>
            <a:r>
              <a:rPr lang="en-US" sz="1500" spc="120" b="true">
                <a:solidFill>
                  <a:srgbClr val="20A4F3"/>
                </a:solidFill>
                <a:latin typeface="IBM Plex Mono Bold"/>
                <a:ea typeface="IBM Plex Mono Bold"/>
                <a:cs typeface="IBM Plex Mono Bold"/>
                <a:sym typeface="IBM Plex Mono Bold"/>
              </a:rPr>
              <a:t>APP TRAFFIC</a:t>
            </a:r>
          </a:p>
        </p:txBody>
      </p:sp>
      <p:sp>
        <p:nvSpPr>
          <p:cNvPr name="TextBox 52" id="52"/>
          <p:cNvSpPr txBox="true"/>
          <p:nvPr/>
        </p:nvSpPr>
        <p:spPr>
          <a:xfrm rot="0">
            <a:off x="838200" y="9763125"/>
            <a:ext cx="6858000" cy="232410"/>
          </a:xfrm>
          <a:prstGeom prst="rect">
            <a:avLst/>
          </a:prstGeom>
        </p:spPr>
        <p:txBody>
          <a:bodyPr anchor="t" rtlCol="false" tIns="0" lIns="0" bIns="0" rIns="0">
            <a:spAutoFit/>
          </a:bodyPr>
          <a:lstStyle/>
          <a:p>
            <a:pPr algn="l">
              <a:lnSpc>
                <a:spcPts val="1889"/>
              </a:lnSpc>
            </a:pPr>
            <a:r>
              <a:rPr lang="en-US" sz="1350">
                <a:solidFill>
                  <a:srgbClr val="9BB0C7"/>
                </a:solidFill>
                <a:latin typeface="IBM Plex Mono"/>
                <a:ea typeface="IBM Plex Mono"/>
                <a:cs typeface="IBM Plex Mono"/>
                <a:sym typeface="IBM Plex Mono"/>
              </a:rPr>
              <a:t>Y24-SAA-Team391  •  24CC3014-P109  •  04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838200" y="514350"/>
            <a:ext cx="16592550" cy="893445"/>
            <a:chOff x="0" y="0"/>
            <a:chExt cx="22123400" cy="1191260"/>
          </a:xfrm>
        </p:grpSpPr>
        <p:sp>
          <p:nvSpPr>
            <p:cNvPr name="TextBox 3" id="3"/>
            <p:cNvSpPr txBox="true"/>
            <p:nvPr/>
          </p:nvSpPr>
          <p:spPr>
            <a:xfrm rot="0">
              <a:off x="0" y="-28575"/>
              <a:ext cx="889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DELIVERY STATUS</a:t>
              </a:r>
            </a:p>
          </p:txBody>
        </p:sp>
        <p:sp>
          <p:nvSpPr>
            <p:cNvPr name="TextBox 4" id="4"/>
            <p:cNvSpPr txBox="true"/>
            <p:nvPr/>
          </p:nvSpPr>
          <p:spPr>
            <a:xfrm rot="0">
              <a:off x="0" y="508000"/>
              <a:ext cx="18034000" cy="683260"/>
            </a:xfrm>
            <a:prstGeom prst="rect">
              <a:avLst/>
            </a:prstGeom>
          </p:spPr>
          <p:txBody>
            <a:bodyPr anchor="t" rtlCol="false" tIns="0" lIns="0" bIns="0" rIns="0">
              <a:spAutoFit/>
            </a:bodyPr>
            <a:lstStyle/>
            <a:p>
              <a:pPr algn="l">
                <a:lnSpc>
                  <a:spcPts val="3960"/>
                </a:lnSpc>
              </a:pPr>
              <a:r>
                <a:rPr lang="en-US" sz="3600" b="true">
                  <a:solidFill>
                    <a:srgbClr val="F7FBFF"/>
                  </a:solidFill>
                  <a:latin typeface="Montserrat Bold"/>
                  <a:ea typeface="Montserrat Bold"/>
                  <a:cs typeface="Montserrat Bold"/>
                  <a:sym typeface="Montserrat Bold"/>
                </a:rPr>
                <a:t>Migration workflow</a:t>
              </a:r>
            </a:p>
          </p:txBody>
        </p:sp>
        <p:sp>
          <p:nvSpPr>
            <p:cNvPr name="TextBox 5" id="5"/>
            <p:cNvSpPr txBox="true"/>
            <p:nvPr/>
          </p:nvSpPr>
          <p:spPr>
            <a:xfrm rot="0">
              <a:off x="20345400" y="98425"/>
              <a:ext cx="1778000" cy="333375"/>
            </a:xfrm>
            <a:prstGeom prst="rect">
              <a:avLst/>
            </a:prstGeom>
          </p:spPr>
          <p:txBody>
            <a:bodyPr anchor="t" rtlCol="false" tIns="0" lIns="0" bIns="0" rIns="0">
              <a:spAutoFit/>
            </a:bodyPr>
            <a:lstStyle/>
            <a:p>
              <a:pPr algn="r">
                <a:lnSpc>
                  <a:spcPts val="2100"/>
                </a:lnSpc>
              </a:pPr>
              <a:r>
                <a:rPr lang="en-US" sz="1500">
                  <a:solidFill>
                    <a:srgbClr val="9BB0C7"/>
                  </a:solidFill>
                  <a:latin typeface="IBM Plex Mono"/>
                  <a:ea typeface="IBM Plex Mono"/>
                  <a:cs typeface="IBM Plex Mono"/>
                  <a:sym typeface="IBM Plex Mono"/>
                </a:rPr>
                <a:t>04</a:t>
              </a:r>
            </a:p>
          </p:txBody>
        </p:sp>
      </p:grpSp>
      <p:sp>
        <p:nvSpPr>
          <p:cNvPr name="AutoShape 6" id="6"/>
          <p:cNvSpPr/>
          <p:nvPr/>
        </p:nvSpPr>
        <p:spPr>
          <a:xfrm>
            <a:off x="1143000" y="3924300"/>
            <a:ext cx="15906750" cy="0"/>
          </a:xfrm>
          <a:prstGeom prst="line">
            <a:avLst/>
          </a:prstGeom>
          <a:ln cap="flat" w="47625">
            <a:solidFill>
              <a:srgbClr val="29425F"/>
            </a:solidFill>
            <a:prstDash val="solid"/>
            <a:headEnd type="none" len="sm" w="sm"/>
            <a:tailEnd type="none" len="sm" w="sm"/>
          </a:ln>
        </p:spPr>
      </p:sp>
      <p:grpSp>
        <p:nvGrpSpPr>
          <p:cNvPr name="Group 7" id="7"/>
          <p:cNvGrpSpPr/>
          <p:nvPr/>
        </p:nvGrpSpPr>
        <p:grpSpPr>
          <a:xfrm rot="0">
            <a:off x="904875" y="3143250"/>
            <a:ext cx="1809750" cy="2537460"/>
            <a:chOff x="0" y="0"/>
            <a:chExt cx="2413000" cy="3383280"/>
          </a:xfrm>
        </p:grpSpPr>
        <p:grpSp>
          <p:nvGrpSpPr>
            <p:cNvPr name="Group 8" id="8"/>
            <p:cNvGrpSpPr/>
            <p:nvPr/>
          </p:nvGrpSpPr>
          <p:grpSpPr>
            <a:xfrm rot="0">
              <a:off x="0" y="660400"/>
              <a:ext cx="762000" cy="762000"/>
              <a:chOff x="0" y="0"/>
              <a:chExt cx="762000" cy="762000"/>
            </a:xfrm>
          </p:grpSpPr>
          <p:sp>
            <p:nvSpPr>
              <p:cNvPr name="Freeform 9" id="9"/>
              <p:cNvSpPr/>
              <p:nvPr/>
            </p:nvSpPr>
            <p:spPr>
              <a:xfrm flipH="false" flipV="false" rot="0">
                <a:off x="0" y="0"/>
                <a:ext cx="762000" cy="762000"/>
              </a:xfrm>
              <a:custGeom>
                <a:avLst/>
                <a:gdLst/>
                <a:ahLst/>
                <a:cxnLst/>
                <a:rect r="r" b="b" t="t" l="l"/>
                <a:pathLst>
                  <a:path h="762000" w="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rgbClr val="36D399"/>
              </a:solidFill>
              <a:ln cap="sq">
                <a:noFill/>
                <a:prstDash val="solid"/>
                <a:miter/>
              </a:ln>
            </p:spPr>
          </p:sp>
          <p:sp>
            <p:nvSpPr>
              <p:cNvPr name="TextBox 10" id="10"/>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0" y="-38100"/>
              <a:ext cx="889000" cy="396240"/>
            </a:xfrm>
            <a:prstGeom prst="rect">
              <a:avLst/>
            </a:prstGeom>
          </p:spPr>
          <p:txBody>
            <a:bodyPr anchor="t" rtlCol="false" tIns="0" lIns="0" bIns="0" rIns="0">
              <a:spAutoFit/>
            </a:bodyPr>
            <a:lstStyle/>
            <a:p>
              <a:pPr algn="l">
                <a:lnSpc>
                  <a:spcPts val="2520"/>
                </a:lnSpc>
              </a:pPr>
              <a:r>
                <a:rPr lang="en-US" sz="1800" b="true">
                  <a:solidFill>
                    <a:srgbClr val="36D399"/>
                  </a:solidFill>
                  <a:latin typeface="IBM Plex Mono Bold"/>
                  <a:ea typeface="IBM Plex Mono Bold"/>
                  <a:cs typeface="IBM Plex Mono Bold"/>
                  <a:sym typeface="IBM Plex Mono Bold"/>
                </a:rPr>
                <a:t>01</a:t>
              </a:r>
            </a:p>
          </p:txBody>
        </p:sp>
        <p:sp>
          <p:nvSpPr>
            <p:cNvPr name="TextBox 12" id="12"/>
            <p:cNvSpPr txBox="true"/>
            <p:nvPr/>
          </p:nvSpPr>
          <p:spPr>
            <a:xfrm rot="0">
              <a:off x="0" y="1558925"/>
              <a:ext cx="2413000" cy="409575"/>
            </a:xfrm>
            <a:prstGeom prst="rect">
              <a:avLst/>
            </a:prstGeom>
          </p:spPr>
          <p:txBody>
            <a:bodyPr anchor="t" rtlCol="false" tIns="0" lIns="0" bIns="0" rIns="0">
              <a:spAutoFit/>
            </a:bodyPr>
            <a:lstStyle/>
            <a:p>
              <a:pPr algn="l">
                <a:lnSpc>
                  <a:spcPts val="2625"/>
                </a:lnSpc>
              </a:pPr>
              <a:r>
                <a:rPr lang="en-US" sz="1875" b="true">
                  <a:solidFill>
                    <a:srgbClr val="F7FBFF"/>
                  </a:solidFill>
                  <a:latin typeface="IBM Plex Sans Bold"/>
                  <a:ea typeface="IBM Plex Sans Bold"/>
                  <a:cs typeface="IBM Plex Sans Bold"/>
                  <a:sym typeface="IBM Plex Sans Bold"/>
                </a:rPr>
                <a:t>Prepare AWS</a:t>
              </a:r>
            </a:p>
          </p:txBody>
        </p:sp>
        <p:sp>
          <p:nvSpPr>
            <p:cNvPr name="TextBox 13" id="13"/>
            <p:cNvSpPr txBox="true"/>
            <p:nvPr/>
          </p:nvSpPr>
          <p:spPr>
            <a:xfrm rot="0">
              <a:off x="0" y="3082925"/>
              <a:ext cx="2413000" cy="300355"/>
            </a:xfrm>
            <a:prstGeom prst="rect">
              <a:avLst/>
            </a:prstGeom>
          </p:spPr>
          <p:txBody>
            <a:bodyPr anchor="t" rtlCol="false" tIns="0" lIns="0" bIns="0" rIns="0">
              <a:spAutoFit/>
            </a:bodyPr>
            <a:lstStyle/>
            <a:p>
              <a:pPr algn="l">
                <a:lnSpc>
                  <a:spcPts val="1889"/>
                </a:lnSpc>
              </a:pPr>
              <a:r>
                <a:rPr lang="en-US" sz="1350" b="true">
                  <a:solidFill>
                    <a:srgbClr val="36D399"/>
                  </a:solidFill>
                  <a:latin typeface="IBM Plex Mono Bold"/>
                  <a:ea typeface="IBM Plex Mono Bold"/>
                  <a:cs typeface="IBM Plex Mono Bold"/>
                  <a:sym typeface="IBM Plex Mono Bold"/>
                </a:rPr>
                <a:t>COMPLETE</a:t>
              </a:r>
            </a:p>
          </p:txBody>
        </p:sp>
      </p:grpSp>
      <p:grpSp>
        <p:nvGrpSpPr>
          <p:cNvPr name="Group 14" id="14"/>
          <p:cNvGrpSpPr/>
          <p:nvPr/>
        </p:nvGrpSpPr>
        <p:grpSpPr>
          <a:xfrm rot="0">
            <a:off x="3057525" y="3143250"/>
            <a:ext cx="1809750" cy="2537460"/>
            <a:chOff x="0" y="0"/>
            <a:chExt cx="2413000" cy="3383280"/>
          </a:xfrm>
        </p:grpSpPr>
        <p:grpSp>
          <p:nvGrpSpPr>
            <p:cNvPr name="Group 15" id="15"/>
            <p:cNvGrpSpPr/>
            <p:nvPr/>
          </p:nvGrpSpPr>
          <p:grpSpPr>
            <a:xfrm rot="0">
              <a:off x="0" y="660400"/>
              <a:ext cx="762000" cy="762000"/>
              <a:chOff x="0" y="0"/>
              <a:chExt cx="762000" cy="762000"/>
            </a:xfrm>
          </p:grpSpPr>
          <p:sp>
            <p:nvSpPr>
              <p:cNvPr name="Freeform 16" id="16"/>
              <p:cNvSpPr/>
              <p:nvPr/>
            </p:nvSpPr>
            <p:spPr>
              <a:xfrm flipH="false" flipV="false" rot="0">
                <a:off x="0" y="0"/>
                <a:ext cx="762000" cy="762000"/>
              </a:xfrm>
              <a:custGeom>
                <a:avLst/>
                <a:gdLst/>
                <a:ahLst/>
                <a:cxnLst/>
                <a:rect r="r" b="b" t="t" l="l"/>
                <a:pathLst>
                  <a:path h="762000" w="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rgbClr val="36D399"/>
              </a:solidFill>
              <a:ln cap="sq">
                <a:noFill/>
                <a:prstDash val="solid"/>
                <a:miter/>
              </a:ln>
            </p:spPr>
          </p:sp>
          <p:sp>
            <p:nvSpPr>
              <p:cNvPr name="TextBox 17" id="17"/>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0" y="-38100"/>
              <a:ext cx="889000" cy="396240"/>
            </a:xfrm>
            <a:prstGeom prst="rect">
              <a:avLst/>
            </a:prstGeom>
          </p:spPr>
          <p:txBody>
            <a:bodyPr anchor="t" rtlCol="false" tIns="0" lIns="0" bIns="0" rIns="0">
              <a:spAutoFit/>
            </a:bodyPr>
            <a:lstStyle/>
            <a:p>
              <a:pPr algn="l">
                <a:lnSpc>
                  <a:spcPts val="2520"/>
                </a:lnSpc>
              </a:pPr>
              <a:r>
                <a:rPr lang="en-US" sz="1800" b="true">
                  <a:solidFill>
                    <a:srgbClr val="36D399"/>
                  </a:solidFill>
                  <a:latin typeface="IBM Plex Mono Bold"/>
                  <a:ea typeface="IBM Plex Mono Bold"/>
                  <a:cs typeface="IBM Plex Mono Bold"/>
                  <a:sym typeface="IBM Plex Mono Bold"/>
                </a:rPr>
                <a:t>02</a:t>
              </a:r>
            </a:p>
          </p:txBody>
        </p:sp>
        <p:sp>
          <p:nvSpPr>
            <p:cNvPr name="TextBox 19" id="19"/>
            <p:cNvSpPr txBox="true"/>
            <p:nvPr/>
          </p:nvSpPr>
          <p:spPr>
            <a:xfrm rot="0">
              <a:off x="0" y="1558925"/>
              <a:ext cx="2413000" cy="409575"/>
            </a:xfrm>
            <a:prstGeom prst="rect">
              <a:avLst/>
            </a:prstGeom>
          </p:spPr>
          <p:txBody>
            <a:bodyPr anchor="t" rtlCol="false" tIns="0" lIns="0" bIns="0" rIns="0">
              <a:spAutoFit/>
            </a:bodyPr>
            <a:lstStyle/>
            <a:p>
              <a:pPr algn="l">
                <a:lnSpc>
                  <a:spcPts val="2625"/>
                </a:lnSpc>
              </a:pPr>
              <a:r>
                <a:rPr lang="en-US" sz="1875" b="true">
                  <a:solidFill>
                    <a:srgbClr val="F7FBFF"/>
                  </a:solidFill>
                  <a:latin typeface="IBM Plex Sans Bold"/>
                  <a:ea typeface="IBM Plex Sans Bold"/>
                  <a:cs typeface="IBM Plex Sans Bold"/>
                  <a:sym typeface="IBM Plex Sans Bold"/>
                </a:rPr>
                <a:t>Install agent</a:t>
              </a:r>
            </a:p>
          </p:txBody>
        </p:sp>
        <p:sp>
          <p:nvSpPr>
            <p:cNvPr name="TextBox 20" id="20"/>
            <p:cNvSpPr txBox="true"/>
            <p:nvPr/>
          </p:nvSpPr>
          <p:spPr>
            <a:xfrm rot="0">
              <a:off x="0" y="3082925"/>
              <a:ext cx="2413000" cy="300355"/>
            </a:xfrm>
            <a:prstGeom prst="rect">
              <a:avLst/>
            </a:prstGeom>
          </p:spPr>
          <p:txBody>
            <a:bodyPr anchor="t" rtlCol="false" tIns="0" lIns="0" bIns="0" rIns="0">
              <a:spAutoFit/>
            </a:bodyPr>
            <a:lstStyle/>
            <a:p>
              <a:pPr algn="l">
                <a:lnSpc>
                  <a:spcPts val="1889"/>
                </a:lnSpc>
              </a:pPr>
              <a:r>
                <a:rPr lang="en-US" sz="1350" b="true">
                  <a:solidFill>
                    <a:srgbClr val="36D399"/>
                  </a:solidFill>
                  <a:latin typeface="IBM Plex Mono Bold"/>
                  <a:ea typeface="IBM Plex Mono Bold"/>
                  <a:cs typeface="IBM Plex Mono Bold"/>
                  <a:sym typeface="IBM Plex Mono Bold"/>
                </a:rPr>
                <a:t>COMPLETE</a:t>
              </a:r>
            </a:p>
          </p:txBody>
        </p:sp>
      </p:grpSp>
      <p:grpSp>
        <p:nvGrpSpPr>
          <p:cNvPr name="Group 21" id="21"/>
          <p:cNvGrpSpPr/>
          <p:nvPr/>
        </p:nvGrpSpPr>
        <p:grpSpPr>
          <a:xfrm rot="0">
            <a:off x="5210175" y="3143250"/>
            <a:ext cx="1809750" cy="2537460"/>
            <a:chOff x="0" y="0"/>
            <a:chExt cx="2413000" cy="3383280"/>
          </a:xfrm>
        </p:grpSpPr>
        <p:grpSp>
          <p:nvGrpSpPr>
            <p:cNvPr name="Group 22" id="22"/>
            <p:cNvGrpSpPr/>
            <p:nvPr/>
          </p:nvGrpSpPr>
          <p:grpSpPr>
            <a:xfrm rot="0">
              <a:off x="0" y="660400"/>
              <a:ext cx="762000" cy="762000"/>
              <a:chOff x="0" y="0"/>
              <a:chExt cx="762000" cy="762000"/>
            </a:xfrm>
          </p:grpSpPr>
          <p:sp>
            <p:nvSpPr>
              <p:cNvPr name="Freeform 23" id="23"/>
              <p:cNvSpPr/>
              <p:nvPr/>
            </p:nvSpPr>
            <p:spPr>
              <a:xfrm flipH="false" flipV="false" rot="0">
                <a:off x="0" y="0"/>
                <a:ext cx="762000" cy="762000"/>
              </a:xfrm>
              <a:custGeom>
                <a:avLst/>
                <a:gdLst/>
                <a:ahLst/>
                <a:cxnLst/>
                <a:rect r="r" b="b" t="t" l="l"/>
                <a:pathLst>
                  <a:path h="762000" w="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rgbClr val="36D399"/>
              </a:solidFill>
              <a:ln cap="sq">
                <a:noFill/>
                <a:prstDash val="solid"/>
                <a:miter/>
              </a:ln>
            </p:spPr>
          </p:sp>
          <p:sp>
            <p:nvSpPr>
              <p:cNvPr name="TextBox 24" id="24"/>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0" y="-38100"/>
              <a:ext cx="889000" cy="396240"/>
            </a:xfrm>
            <a:prstGeom prst="rect">
              <a:avLst/>
            </a:prstGeom>
          </p:spPr>
          <p:txBody>
            <a:bodyPr anchor="t" rtlCol="false" tIns="0" lIns="0" bIns="0" rIns="0">
              <a:spAutoFit/>
            </a:bodyPr>
            <a:lstStyle/>
            <a:p>
              <a:pPr algn="l">
                <a:lnSpc>
                  <a:spcPts val="2520"/>
                </a:lnSpc>
              </a:pPr>
              <a:r>
                <a:rPr lang="en-US" sz="1800" b="true">
                  <a:solidFill>
                    <a:srgbClr val="36D399"/>
                  </a:solidFill>
                  <a:latin typeface="IBM Plex Mono Bold"/>
                  <a:ea typeface="IBM Plex Mono Bold"/>
                  <a:cs typeface="IBM Plex Mono Bold"/>
                  <a:sym typeface="IBM Plex Mono Bold"/>
                </a:rPr>
                <a:t>03</a:t>
              </a:r>
            </a:p>
          </p:txBody>
        </p:sp>
        <p:sp>
          <p:nvSpPr>
            <p:cNvPr name="TextBox 26" id="26"/>
            <p:cNvSpPr txBox="true"/>
            <p:nvPr/>
          </p:nvSpPr>
          <p:spPr>
            <a:xfrm rot="0">
              <a:off x="0" y="1558925"/>
              <a:ext cx="2413000" cy="409575"/>
            </a:xfrm>
            <a:prstGeom prst="rect">
              <a:avLst/>
            </a:prstGeom>
          </p:spPr>
          <p:txBody>
            <a:bodyPr anchor="t" rtlCol="false" tIns="0" lIns="0" bIns="0" rIns="0">
              <a:spAutoFit/>
            </a:bodyPr>
            <a:lstStyle/>
            <a:p>
              <a:pPr algn="l">
                <a:lnSpc>
                  <a:spcPts val="2625"/>
                </a:lnSpc>
              </a:pPr>
              <a:r>
                <a:rPr lang="en-US" sz="1875" b="true">
                  <a:solidFill>
                    <a:srgbClr val="F7FBFF"/>
                  </a:solidFill>
                  <a:latin typeface="IBM Plex Sans Bold"/>
                  <a:ea typeface="IBM Plex Sans Bold"/>
                  <a:cs typeface="IBM Plex Sans Bold"/>
                  <a:sym typeface="IBM Plex Sans Bold"/>
                </a:rPr>
                <a:t>Register source</a:t>
              </a:r>
            </a:p>
          </p:txBody>
        </p:sp>
        <p:sp>
          <p:nvSpPr>
            <p:cNvPr name="TextBox 27" id="27"/>
            <p:cNvSpPr txBox="true"/>
            <p:nvPr/>
          </p:nvSpPr>
          <p:spPr>
            <a:xfrm rot="0">
              <a:off x="0" y="3082925"/>
              <a:ext cx="2413000" cy="300355"/>
            </a:xfrm>
            <a:prstGeom prst="rect">
              <a:avLst/>
            </a:prstGeom>
          </p:spPr>
          <p:txBody>
            <a:bodyPr anchor="t" rtlCol="false" tIns="0" lIns="0" bIns="0" rIns="0">
              <a:spAutoFit/>
            </a:bodyPr>
            <a:lstStyle/>
            <a:p>
              <a:pPr algn="l">
                <a:lnSpc>
                  <a:spcPts val="1889"/>
                </a:lnSpc>
              </a:pPr>
              <a:r>
                <a:rPr lang="en-US" sz="1350" b="true">
                  <a:solidFill>
                    <a:srgbClr val="36D399"/>
                  </a:solidFill>
                  <a:latin typeface="IBM Plex Mono Bold"/>
                  <a:ea typeface="IBM Plex Mono Bold"/>
                  <a:cs typeface="IBM Plex Mono Bold"/>
                  <a:sym typeface="IBM Plex Mono Bold"/>
                </a:rPr>
                <a:t>COMPLETE</a:t>
              </a:r>
            </a:p>
          </p:txBody>
        </p:sp>
      </p:grpSp>
      <p:grpSp>
        <p:nvGrpSpPr>
          <p:cNvPr name="Group 28" id="28"/>
          <p:cNvGrpSpPr/>
          <p:nvPr/>
        </p:nvGrpSpPr>
        <p:grpSpPr>
          <a:xfrm rot="0">
            <a:off x="7362825" y="3143250"/>
            <a:ext cx="1809750" cy="2537460"/>
            <a:chOff x="0" y="0"/>
            <a:chExt cx="2413000" cy="3383280"/>
          </a:xfrm>
        </p:grpSpPr>
        <p:grpSp>
          <p:nvGrpSpPr>
            <p:cNvPr name="Group 29" id="29"/>
            <p:cNvGrpSpPr/>
            <p:nvPr/>
          </p:nvGrpSpPr>
          <p:grpSpPr>
            <a:xfrm rot="0">
              <a:off x="0" y="660400"/>
              <a:ext cx="762000" cy="762000"/>
              <a:chOff x="0" y="0"/>
              <a:chExt cx="762000" cy="762000"/>
            </a:xfrm>
          </p:grpSpPr>
          <p:sp>
            <p:nvSpPr>
              <p:cNvPr name="Freeform 30" id="30"/>
              <p:cNvSpPr/>
              <p:nvPr/>
            </p:nvSpPr>
            <p:spPr>
              <a:xfrm flipH="false" flipV="false" rot="0">
                <a:off x="0" y="0"/>
                <a:ext cx="762000" cy="762000"/>
              </a:xfrm>
              <a:custGeom>
                <a:avLst/>
                <a:gdLst/>
                <a:ahLst/>
                <a:cxnLst/>
                <a:rect r="r" b="b" t="t" l="l"/>
                <a:pathLst>
                  <a:path h="762000" w="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rgbClr val="36D399"/>
              </a:solidFill>
              <a:ln cap="sq">
                <a:noFill/>
                <a:prstDash val="solid"/>
                <a:miter/>
              </a:ln>
            </p:spPr>
          </p:sp>
          <p:sp>
            <p:nvSpPr>
              <p:cNvPr name="TextBox 31" id="31"/>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0" y="-38100"/>
              <a:ext cx="889000" cy="396240"/>
            </a:xfrm>
            <a:prstGeom prst="rect">
              <a:avLst/>
            </a:prstGeom>
          </p:spPr>
          <p:txBody>
            <a:bodyPr anchor="t" rtlCol="false" tIns="0" lIns="0" bIns="0" rIns="0">
              <a:spAutoFit/>
            </a:bodyPr>
            <a:lstStyle/>
            <a:p>
              <a:pPr algn="l">
                <a:lnSpc>
                  <a:spcPts val="2520"/>
                </a:lnSpc>
              </a:pPr>
              <a:r>
                <a:rPr lang="en-US" sz="1800" b="true">
                  <a:solidFill>
                    <a:srgbClr val="36D399"/>
                  </a:solidFill>
                  <a:latin typeface="IBM Plex Mono Bold"/>
                  <a:ea typeface="IBM Plex Mono Bold"/>
                  <a:cs typeface="IBM Plex Mono Bold"/>
                  <a:sym typeface="IBM Plex Mono Bold"/>
                </a:rPr>
                <a:t>04</a:t>
              </a:r>
            </a:p>
          </p:txBody>
        </p:sp>
        <p:sp>
          <p:nvSpPr>
            <p:cNvPr name="TextBox 33" id="33"/>
            <p:cNvSpPr txBox="true"/>
            <p:nvPr/>
          </p:nvSpPr>
          <p:spPr>
            <a:xfrm rot="0">
              <a:off x="0" y="1558925"/>
              <a:ext cx="2413000" cy="854075"/>
            </a:xfrm>
            <a:prstGeom prst="rect">
              <a:avLst/>
            </a:prstGeom>
          </p:spPr>
          <p:txBody>
            <a:bodyPr anchor="t" rtlCol="false" tIns="0" lIns="0" bIns="0" rIns="0">
              <a:spAutoFit/>
            </a:bodyPr>
            <a:lstStyle/>
            <a:p>
              <a:pPr algn="l">
                <a:lnSpc>
                  <a:spcPts val="2625"/>
                </a:lnSpc>
              </a:pPr>
              <a:r>
                <a:rPr lang="en-US" sz="1875" b="true">
                  <a:solidFill>
                    <a:srgbClr val="F7FBFF"/>
                  </a:solidFill>
                  <a:latin typeface="IBM Plex Sans Bold"/>
                  <a:ea typeface="IBM Plex Sans Bold"/>
                  <a:cs typeface="IBM Plex Sans Bold"/>
                  <a:sym typeface="IBM Plex Sans Bold"/>
                </a:rPr>
                <a:t>8/8 GiB replicate</a:t>
              </a:r>
            </a:p>
          </p:txBody>
        </p:sp>
        <p:sp>
          <p:nvSpPr>
            <p:cNvPr name="TextBox 34" id="34"/>
            <p:cNvSpPr txBox="true"/>
            <p:nvPr/>
          </p:nvSpPr>
          <p:spPr>
            <a:xfrm rot="0">
              <a:off x="0" y="3082925"/>
              <a:ext cx="2413000" cy="300355"/>
            </a:xfrm>
            <a:prstGeom prst="rect">
              <a:avLst/>
            </a:prstGeom>
          </p:spPr>
          <p:txBody>
            <a:bodyPr anchor="t" rtlCol="false" tIns="0" lIns="0" bIns="0" rIns="0">
              <a:spAutoFit/>
            </a:bodyPr>
            <a:lstStyle/>
            <a:p>
              <a:pPr algn="l">
                <a:lnSpc>
                  <a:spcPts val="1889"/>
                </a:lnSpc>
              </a:pPr>
              <a:r>
                <a:rPr lang="en-US" sz="1350" b="true">
                  <a:solidFill>
                    <a:srgbClr val="36D399"/>
                  </a:solidFill>
                  <a:latin typeface="IBM Plex Mono Bold"/>
                  <a:ea typeface="IBM Plex Mono Bold"/>
                  <a:cs typeface="IBM Plex Mono Bold"/>
                  <a:sym typeface="IBM Plex Mono Bold"/>
                </a:rPr>
                <a:t>COMPLETE</a:t>
              </a:r>
            </a:p>
          </p:txBody>
        </p:sp>
      </p:grpSp>
      <p:grpSp>
        <p:nvGrpSpPr>
          <p:cNvPr name="Group 35" id="35"/>
          <p:cNvGrpSpPr/>
          <p:nvPr/>
        </p:nvGrpSpPr>
        <p:grpSpPr>
          <a:xfrm rot="0">
            <a:off x="9515475" y="3143250"/>
            <a:ext cx="1809750" cy="2537460"/>
            <a:chOff x="0" y="0"/>
            <a:chExt cx="2413000" cy="3383280"/>
          </a:xfrm>
        </p:grpSpPr>
        <p:grpSp>
          <p:nvGrpSpPr>
            <p:cNvPr name="Group 36" id="36"/>
            <p:cNvGrpSpPr/>
            <p:nvPr/>
          </p:nvGrpSpPr>
          <p:grpSpPr>
            <a:xfrm rot="0">
              <a:off x="0" y="660400"/>
              <a:ext cx="762000" cy="762000"/>
              <a:chOff x="0" y="0"/>
              <a:chExt cx="762000" cy="762000"/>
            </a:xfrm>
          </p:grpSpPr>
          <p:sp>
            <p:nvSpPr>
              <p:cNvPr name="Freeform 37" id="37"/>
              <p:cNvSpPr/>
              <p:nvPr/>
            </p:nvSpPr>
            <p:spPr>
              <a:xfrm flipH="false" flipV="false" rot="0">
                <a:off x="0" y="0"/>
                <a:ext cx="762000" cy="762000"/>
              </a:xfrm>
              <a:custGeom>
                <a:avLst/>
                <a:gdLst/>
                <a:ahLst/>
                <a:cxnLst/>
                <a:rect r="r" b="b" t="t" l="l"/>
                <a:pathLst>
                  <a:path h="762000" w="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rgbClr val="36D399"/>
              </a:solidFill>
              <a:ln cap="sq">
                <a:noFill/>
                <a:prstDash val="solid"/>
                <a:miter/>
              </a:ln>
            </p:spPr>
          </p:sp>
          <p:sp>
            <p:nvSpPr>
              <p:cNvPr name="TextBox 38" id="38"/>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sp>
          <p:nvSpPr>
            <p:cNvPr name="TextBox 39" id="39"/>
            <p:cNvSpPr txBox="true"/>
            <p:nvPr/>
          </p:nvSpPr>
          <p:spPr>
            <a:xfrm rot="0">
              <a:off x="0" y="-38100"/>
              <a:ext cx="889000" cy="396240"/>
            </a:xfrm>
            <a:prstGeom prst="rect">
              <a:avLst/>
            </a:prstGeom>
          </p:spPr>
          <p:txBody>
            <a:bodyPr anchor="t" rtlCol="false" tIns="0" lIns="0" bIns="0" rIns="0">
              <a:spAutoFit/>
            </a:bodyPr>
            <a:lstStyle/>
            <a:p>
              <a:pPr algn="l">
                <a:lnSpc>
                  <a:spcPts val="2520"/>
                </a:lnSpc>
              </a:pPr>
              <a:r>
                <a:rPr lang="en-US" sz="1800" b="true">
                  <a:solidFill>
                    <a:srgbClr val="36D399"/>
                  </a:solidFill>
                  <a:latin typeface="IBM Plex Mono Bold"/>
                  <a:ea typeface="IBM Plex Mono Bold"/>
                  <a:cs typeface="IBM Plex Mono Bold"/>
                  <a:sym typeface="IBM Plex Mono Bold"/>
                </a:rPr>
                <a:t>05</a:t>
              </a:r>
            </a:p>
          </p:txBody>
        </p:sp>
        <p:sp>
          <p:nvSpPr>
            <p:cNvPr name="TextBox 40" id="40"/>
            <p:cNvSpPr txBox="true"/>
            <p:nvPr/>
          </p:nvSpPr>
          <p:spPr>
            <a:xfrm rot="0">
              <a:off x="0" y="1558925"/>
              <a:ext cx="2413000" cy="854075"/>
            </a:xfrm>
            <a:prstGeom prst="rect">
              <a:avLst/>
            </a:prstGeom>
          </p:spPr>
          <p:txBody>
            <a:bodyPr anchor="t" rtlCol="false" tIns="0" lIns="0" bIns="0" rIns="0">
              <a:spAutoFit/>
            </a:bodyPr>
            <a:lstStyle/>
            <a:p>
              <a:pPr algn="l">
                <a:lnSpc>
                  <a:spcPts val="2625"/>
                </a:lnSpc>
              </a:pPr>
              <a:r>
                <a:rPr lang="en-US" sz="1875" b="true">
                  <a:solidFill>
                    <a:srgbClr val="F7FBFF"/>
                  </a:solidFill>
                  <a:latin typeface="IBM Plex Sans Bold"/>
                  <a:ea typeface="IBM Plex Sans Bold"/>
                  <a:cs typeface="IBM Plex Sans Bold"/>
                  <a:sym typeface="IBM Plex Sans Bold"/>
                </a:rPr>
                <a:t>Ready for testing</a:t>
              </a:r>
            </a:p>
          </p:txBody>
        </p:sp>
        <p:sp>
          <p:nvSpPr>
            <p:cNvPr name="TextBox 41" id="41"/>
            <p:cNvSpPr txBox="true"/>
            <p:nvPr/>
          </p:nvSpPr>
          <p:spPr>
            <a:xfrm rot="0">
              <a:off x="0" y="3082925"/>
              <a:ext cx="2413000" cy="300355"/>
            </a:xfrm>
            <a:prstGeom prst="rect">
              <a:avLst/>
            </a:prstGeom>
          </p:spPr>
          <p:txBody>
            <a:bodyPr anchor="t" rtlCol="false" tIns="0" lIns="0" bIns="0" rIns="0">
              <a:spAutoFit/>
            </a:bodyPr>
            <a:lstStyle/>
            <a:p>
              <a:pPr algn="l">
                <a:lnSpc>
                  <a:spcPts val="1889"/>
                </a:lnSpc>
              </a:pPr>
              <a:r>
                <a:rPr lang="en-US" sz="1350" b="true">
                  <a:solidFill>
                    <a:srgbClr val="36D399"/>
                  </a:solidFill>
                  <a:latin typeface="IBM Plex Mono Bold"/>
                  <a:ea typeface="IBM Plex Mono Bold"/>
                  <a:cs typeface="IBM Plex Mono Bold"/>
                  <a:sym typeface="IBM Plex Mono Bold"/>
                </a:rPr>
                <a:t>COMPLETE</a:t>
              </a:r>
            </a:p>
          </p:txBody>
        </p:sp>
      </p:grpSp>
      <p:grpSp>
        <p:nvGrpSpPr>
          <p:cNvPr name="Group 42" id="42"/>
          <p:cNvGrpSpPr/>
          <p:nvPr/>
        </p:nvGrpSpPr>
        <p:grpSpPr>
          <a:xfrm rot="0">
            <a:off x="11668125" y="3143250"/>
            <a:ext cx="1809750" cy="2537460"/>
            <a:chOff x="0" y="0"/>
            <a:chExt cx="2413000" cy="3383280"/>
          </a:xfrm>
        </p:grpSpPr>
        <p:grpSp>
          <p:nvGrpSpPr>
            <p:cNvPr name="Group 43" id="43"/>
            <p:cNvGrpSpPr/>
            <p:nvPr/>
          </p:nvGrpSpPr>
          <p:grpSpPr>
            <a:xfrm rot="0">
              <a:off x="0" y="660400"/>
              <a:ext cx="762000" cy="762000"/>
              <a:chOff x="0" y="0"/>
              <a:chExt cx="762000" cy="762000"/>
            </a:xfrm>
          </p:grpSpPr>
          <p:sp>
            <p:nvSpPr>
              <p:cNvPr name="Freeform 44" id="44"/>
              <p:cNvSpPr/>
              <p:nvPr/>
            </p:nvSpPr>
            <p:spPr>
              <a:xfrm flipH="false" flipV="false" rot="0">
                <a:off x="0" y="0"/>
                <a:ext cx="762000" cy="762000"/>
              </a:xfrm>
              <a:custGeom>
                <a:avLst/>
                <a:gdLst/>
                <a:ahLst/>
                <a:cxnLst/>
                <a:rect r="r" b="b" t="t" l="l"/>
                <a:pathLst>
                  <a:path h="762000" w="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rgbClr val="FF9900"/>
              </a:solidFill>
              <a:ln cap="sq">
                <a:noFill/>
                <a:prstDash val="solid"/>
                <a:miter/>
              </a:ln>
            </p:spPr>
          </p:sp>
          <p:sp>
            <p:nvSpPr>
              <p:cNvPr name="TextBox 45" id="45"/>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sp>
          <p:nvSpPr>
            <p:cNvPr name="TextBox 46" id="46"/>
            <p:cNvSpPr txBox="true"/>
            <p:nvPr/>
          </p:nvSpPr>
          <p:spPr>
            <a:xfrm rot="0">
              <a:off x="0" y="-38100"/>
              <a:ext cx="889000" cy="396240"/>
            </a:xfrm>
            <a:prstGeom prst="rect">
              <a:avLst/>
            </a:prstGeom>
          </p:spPr>
          <p:txBody>
            <a:bodyPr anchor="t" rtlCol="false" tIns="0" lIns="0" bIns="0" rIns="0">
              <a:spAutoFit/>
            </a:bodyPr>
            <a:lstStyle/>
            <a:p>
              <a:pPr algn="l">
                <a:lnSpc>
                  <a:spcPts val="2520"/>
                </a:lnSpc>
              </a:pPr>
              <a:r>
                <a:rPr lang="en-US" sz="1800" b="true">
                  <a:solidFill>
                    <a:srgbClr val="FF9900"/>
                  </a:solidFill>
                  <a:latin typeface="IBM Plex Mono Bold"/>
                  <a:ea typeface="IBM Plex Mono Bold"/>
                  <a:cs typeface="IBM Plex Mono Bold"/>
                  <a:sym typeface="IBM Plex Mono Bold"/>
                </a:rPr>
                <a:t>06</a:t>
              </a:r>
            </a:p>
          </p:txBody>
        </p:sp>
        <p:sp>
          <p:nvSpPr>
            <p:cNvPr name="TextBox 47" id="47"/>
            <p:cNvSpPr txBox="true"/>
            <p:nvPr/>
          </p:nvSpPr>
          <p:spPr>
            <a:xfrm rot="0">
              <a:off x="0" y="1558925"/>
              <a:ext cx="2413000" cy="409575"/>
            </a:xfrm>
            <a:prstGeom prst="rect">
              <a:avLst/>
            </a:prstGeom>
          </p:spPr>
          <p:txBody>
            <a:bodyPr anchor="t" rtlCol="false" tIns="0" lIns="0" bIns="0" rIns="0">
              <a:spAutoFit/>
            </a:bodyPr>
            <a:lstStyle/>
            <a:p>
              <a:pPr algn="l">
                <a:lnSpc>
                  <a:spcPts val="2625"/>
                </a:lnSpc>
              </a:pPr>
              <a:r>
                <a:rPr lang="en-US" sz="1875" b="true">
                  <a:solidFill>
                    <a:srgbClr val="F7FBFF"/>
                  </a:solidFill>
                  <a:latin typeface="IBM Plex Sans Bold"/>
                  <a:ea typeface="IBM Plex Sans Bold"/>
                  <a:cs typeface="IBM Plex Sans Bold"/>
                  <a:sym typeface="IBM Plex Sans Bold"/>
                </a:rPr>
                <a:t>Test launch</a:t>
              </a:r>
            </a:p>
          </p:txBody>
        </p:sp>
        <p:sp>
          <p:nvSpPr>
            <p:cNvPr name="TextBox 48" id="48"/>
            <p:cNvSpPr txBox="true"/>
            <p:nvPr/>
          </p:nvSpPr>
          <p:spPr>
            <a:xfrm rot="0">
              <a:off x="0" y="3082925"/>
              <a:ext cx="2413000" cy="300355"/>
            </a:xfrm>
            <a:prstGeom prst="rect">
              <a:avLst/>
            </a:prstGeom>
          </p:spPr>
          <p:txBody>
            <a:bodyPr anchor="t" rtlCol="false" tIns="0" lIns="0" bIns="0" rIns="0">
              <a:spAutoFit/>
            </a:bodyPr>
            <a:lstStyle/>
            <a:p>
              <a:pPr algn="l">
                <a:lnSpc>
                  <a:spcPts val="1889"/>
                </a:lnSpc>
              </a:pPr>
              <a:r>
                <a:rPr lang="en-US" sz="1350" b="true">
                  <a:solidFill>
                    <a:srgbClr val="FF9900"/>
                  </a:solidFill>
                  <a:latin typeface="IBM Plex Mono Bold"/>
                  <a:ea typeface="IBM Plex Mono Bold"/>
                  <a:cs typeface="IBM Plex Mono Bold"/>
                  <a:sym typeface="IBM Plex Mono Bold"/>
                </a:rPr>
                <a:t>BLOCKED</a:t>
              </a:r>
            </a:p>
          </p:txBody>
        </p:sp>
      </p:grpSp>
      <p:grpSp>
        <p:nvGrpSpPr>
          <p:cNvPr name="Group 49" id="49"/>
          <p:cNvGrpSpPr/>
          <p:nvPr/>
        </p:nvGrpSpPr>
        <p:grpSpPr>
          <a:xfrm rot="0">
            <a:off x="13820775" y="3143250"/>
            <a:ext cx="1809750" cy="2537460"/>
            <a:chOff x="0" y="0"/>
            <a:chExt cx="2413000" cy="3383280"/>
          </a:xfrm>
        </p:grpSpPr>
        <p:grpSp>
          <p:nvGrpSpPr>
            <p:cNvPr name="Group 50" id="50"/>
            <p:cNvGrpSpPr/>
            <p:nvPr/>
          </p:nvGrpSpPr>
          <p:grpSpPr>
            <a:xfrm rot="0">
              <a:off x="0" y="660400"/>
              <a:ext cx="762000" cy="762000"/>
              <a:chOff x="0" y="0"/>
              <a:chExt cx="762000" cy="762000"/>
            </a:xfrm>
          </p:grpSpPr>
          <p:sp>
            <p:nvSpPr>
              <p:cNvPr name="Freeform 51" id="51"/>
              <p:cNvSpPr/>
              <p:nvPr/>
            </p:nvSpPr>
            <p:spPr>
              <a:xfrm flipH="false" flipV="false" rot="0">
                <a:off x="0" y="0"/>
                <a:ext cx="762000" cy="762000"/>
              </a:xfrm>
              <a:custGeom>
                <a:avLst/>
                <a:gdLst/>
                <a:ahLst/>
                <a:cxnLst/>
                <a:rect r="r" b="b" t="t" l="l"/>
                <a:pathLst>
                  <a:path h="762000" w="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rgbClr val="FF6B6B"/>
              </a:solidFill>
              <a:ln cap="sq">
                <a:noFill/>
                <a:prstDash val="solid"/>
                <a:miter/>
              </a:ln>
            </p:spPr>
          </p:sp>
          <p:sp>
            <p:nvSpPr>
              <p:cNvPr name="TextBox 52" id="52"/>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sp>
          <p:nvSpPr>
            <p:cNvPr name="TextBox 53" id="53"/>
            <p:cNvSpPr txBox="true"/>
            <p:nvPr/>
          </p:nvSpPr>
          <p:spPr>
            <a:xfrm rot="0">
              <a:off x="0" y="-38100"/>
              <a:ext cx="889000" cy="396240"/>
            </a:xfrm>
            <a:prstGeom prst="rect">
              <a:avLst/>
            </a:prstGeom>
          </p:spPr>
          <p:txBody>
            <a:bodyPr anchor="t" rtlCol="false" tIns="0" lIns="0" bIns="0" rIns="0">
              <a:spAutoFit/>
            </a:bodyPr>
            <a:lstStyle/>
            <a:p>
              <a:pPr algn="l">
                <a:lnSpc>
                  <a:spcPts val="2520"/>
                </a:lnSpc>
              </a:pPr>
              <a:r>
                <a:rPr lang="en-US" sz="1800" b="true">
                  <a:solidFill>
                    <a:srgbClr val="FF6B6B"/>
                  </a:solidFill>
                  <a:latin typeface="IBM Plex Mono Bold"/>
                  <a:ea typeface="IBM Plex Mono Bold"/>
                  <a:cs typeface="IBM Plex Mono Bold"/>
                  <a:sym typeface="IBM Plex Mono Bold"/>
                </a:rPr>
                <a:t>07</a:t>
              </a:r>
            </a:p>
          </p:txBody>
        </p:sp>
        <p:sp>
          <p:nvSpPr>
            <p:cNvPr name="TextBox 54" id="54"/>
            <p:cNvSpPr txBox="true"/>
            <p:nvPr/>
          </p:nvSpPr>
          <p:spPr>
            <a:xfrm rot="0">
              <a:off x="0" y="1558925"/>
              <a:ext cx="2413000" cy="409575"/>
            </a:xfrm>
            <a:prstGeom prst="rect">
              <a:avLst/>
            </a:prstGeom>
          </p:spPr>
          <p:txBody>
            <a:bodyPr anchor="t" rtlCol="false" tIns="0" lIns="0" bIns="0" rIns="0">
              <a:spAutoFit/>
            </a:bodyPr>
            <a:lstStyle/>
            <a:p>
              <a:pPr algn="l">
                <a:lnSpc>
                  <a:spcPts val="2625"/>
                </a:lnSpc>
              </a:pPr>
              <a:r>
                <a:rPr lang="en-US" sz="1875" b="true">
                  <a:solidFill>
                    <a:srgbClr val="F7FBFF"/>
                  </a:solidFill>
                  <a:latin typeface="IBM Plex Sans Bold"/>
                  <a:ea typeface="IBM Plex Sans Bold"/>
                  <a:cs typeface="IBM Plex Sans Bold"/>
                  <a:sym typeface="IBM Plex Sans Bold"/>
                </a:rPr>
                <a:t>Cutover</a:t>
              </a:r>
            </a:p>
          </p:txBody>
        </p:sp>
        <p:sp>
          <p:nvSpPr>
            <p:cNvPr name="TextBox 55" id="55"/>
            <p:cNvSpPr txBox="true"/>
            <p:nvPr/>
          </p:nvSpPr>
          <p:spPr>
            <a:xfrm rot="0">
              <a:off x="0" y="3082925"/>
              <a:ext cx="2413000" cy="300355"/>
            </a:xfrm>
            <a:prstGeom prst="rect">
              <a:avLst/>
            </a:prstGeom>
          </p:spPr>
          <p:txBody>
            <a:bodyPr anchor="t" rtlCol="false" tIns="0" lIns="0" bIns="0" rIns="0">
              <a:spAutoFit/>
            </a:bodyPr>
            <a:lstStyle/>
            <a:p>
              <a:pPr algn="l">
                <a:lnSpc>
                  <a:spcPts val="1889"/>
                </a:lnSpc>
              </a:pPr>
              <a:r>
                <a:rPr lang="en-US" sz="1350" b="true">
                  <a:solidFill>
                    <a:srgbClr val="FF6B6B"/>
                  </a:solidFill>
                  <a:latin typeface="IBM Plex Mono Bold"/>
                  <a:ea typeface="IBM Plex Mono Bold"/>
                  <a:cs typeface="IBM Plex Mono Bold"/>
                  <a:sym typeface="IBM Plex Mono Bold"/>
                </a:rPr>
                <a:t>NOT DONE</a:t>
              </a:r>
            </a:p>
          </p:txBody>
        </p:sp>
      </p:grpSp>
      <p:grpSp>
        <p:nvGrpSpPr>
          <p:cNvPr name="Group 56" id="56"/>
          <p:cNvGrpSpPr/>
          <p:nvPr/>
        </p:nvGrpSpPr>
        <p:grpSpPr>
          <a:xfrm rot="0">
            <a:off x="15973425" y="3143250"/>
            <a:ext cx="1809750" cy="2537460"/>
            <a:chOff x="0" y="0"/>
            <a:chExt cx="2413000" cy="3383280"/>
          </a:xfrm>
        </p:grpSpPr>
        <p:grpSp>
          <p:nvGrpSpPr>
            <p:cNvPr name="Group 57" id="57"/>
            <p:cNvGrpSpPr/>
            <p:nvPr/>
          </p:nvGrpSpPr>
          <p:grpSpPr>
            <a:xfrm rot="0">
              <a:off x="0" y="660400"/>
              <a:ext cx="762000" cy="762000"/>
              <a:chOff x="0" y="0"/>
              <a:chExt cx="762000" cy="762000"/>
            </a:xfrm>
          </p:grpSpPr>
          <p:sp>
            <p:nvSpPr>
              <p:cNvPr name="Freeform 58" id="58"/>
              <p:cNvSpPr/>
              <p:nvPr/>
            </p:nvSpPr>
            <p:spPr>
              <a:xfrm flipH="false" flipV="false" rot="0">
                <a:off x="0" y="0"/>
                <a:ext cx="762000" cy="762000"/>
              </a:xfrm>
              <a:custGeom>
                <a:avLst/>
                <a:gdLst/>
                <a:ahLst/>
                <a:cxnLst/>
                <a:rect r="r" b="b" t="t" l="l"/>
                <a:pathLst>
                  <a:path h="762000" w="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rgbClr val="20A4F3"/>
              </a:solidFill>
              <a:ln cap="sq">
                <a:noFill/>
                <a:prstDash val="solid"/>
                <a:miter/>
              </a:ln>
            </p:spPr>
          </p:sp>
          <p:sp>
            <p:nvSpPr>
              <p:cNvPr name="TextBox 59" id="59"/>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sp>
          <p:nvSpPr>
            <p:cNvPr name="TextBox 60" id="60"/>
            <p:cNvSpPr txBox="true"/>
            <p:nvPr/>
          </p:nvSpPr>
          <p:spPr>
            <a:xfrm rot="0">
              <a:off x="0" y="-38100"/>
              <a:ext cx="889000" cy="396240"/>
            </a:xfrm>
            <a:prstGeom prst="rect">
              <a:avLst/>
            </a:prstGeom>
          </p:spPr>
          <p:txBody>
            <a:bodyPr anchor="t" rtlCol="false" tIns="0" lIns="0" bIns="0" rIns="0">
              <a:spAutoFit/>
            </a:bodyPr>
            <a:lstStyle/>
            <a:p>
              <a:pPr algn="l">
                <a:lnSpc>
                  <a:spcPts val="2520"/>
                </a:lnSpc>
              </a:pPr>
              <a:r>
                <a:rPr lang="en-US" sz="1800" b="true">
                  <a:solidFill>
                    <a:srgbClr val="20A4F3"/>
                  </a:solidFill>
                  <a:latin typeface="IBM Plex Mono Bold"/>
                  <a:ea typeface="IBM Plex Mono Bold"/>
                  <a:cs typeface="IBM Plex Mono Bold"/>
                  <a:sym typeface="IBM Plex Mono Bold"/>
                </a:rPr>
                <a:t>08</a:t>
              </a:r>
            </a:p>
          </p:txBody>
        </p:sp>
        <p:sp>
          <p:nvSpPr>
            <p:cNvPr name="TextBox 61" id="61"/>
            <p:cNvSpPr txBox="true"/>
            <p:nvPr/>
          </p:nvSpPr>
          <p:spPr>
            <a:xfrm rot="0">
              <a:off x="0" y="1558925"/>
              <a:ext cx="2413000" cy="854075"/>
            </a:xfrm>
            <a:prstGeom prst="rect">
              <a:avLst/>
            </a:prstGeom>
          </p:spPr>
          <p:txBody>
            <a:bodyPr anchor="t" rtlCol="false" tIns="0" lIns="0" bIns="0" rIns="0">
              <a:spAutoFit/>
            </a:bodyPr>
            <a:lstStyle/>
            <a:p>
              <a:pPr algn="l">
                <a:lnSpc>
                  <a:spcPts val="2625"/>
                </a:lnSpc>
              </a:pPr>
              <a:r>
                <a:rPr lang="en-US" sz="1875" b="true">
                  <a:solidFill>
                    <a:srgbClr val="F7FBFF"/>
                  </a:solidFill>
                  <a:latin typeface="IBM Plex Sans Bold"/>
                  <a:ea typeface="IBM Plex Sans Bold"/>
                  <a:cs typeface="IBM Plex Sans Bold"/>
                  <a:sym typeface="IBM Plex Sans Bold"/>
                </a:rPr>
                <a:t>Validate &amp; monitor</a:t>
              </a:r>
            </a:p>
          </p:txBody>
        </p:sp>
        <p:sp>
          <p:nvSpPr>
            <p:cNvPr name="TextBox 62" id="62"/>
            <p:cNvSpPr txBox="true"/>
            <p:nvPr/>
          </p:nvSpPr>
          <p:spPr>
            <a:xfrm rot="0">
              <a:off x="0" y="3082925"/>
              <a:ext cx="2413000" cy="300355"/>
            </a:xfrm>
            <a:prstGeom prst="rect">
              <a:avLst/>
            </a:prstGeom>
          </p:spPr>
          <p:txBody>
            <a:bodyPr anchor="t" rtlCol="false" tIns="0" lIns="0" bIns="0" rIns="0">
              <a:spAutoFit/>
            </a:bodyPr>
            <a:lstStyle/>
            <a:p>
              <a:pPr algn="l">
                <a:lnSpc>
                  <a:spcPts val="1889"/>
                </a:lnSpc>
              </a:pPr>
              <a:r>
                <a:rPr lang="en-US" sz="1350" b="true">
                  <a:solidFill>
                    <a:srgbClr val="20A4F3"/>
                  </a:solidFill>
                  <a:latin typeface="IBM Plex Mono Bold"/>
                  <a:ea typeface="IBM Plex Mono Bold"/>
                  <a:cs typeface="IBM Plex Mono Bold"/>
                  <a:sym typeface="IBM Plex Mono Bold"/>
                </a:rPr>
                <a:t>VALIDATED</a:t>
              </a:r>
            </a:p>
          </p:txBody>
        </p:sp>
      </p:grpSp>
      <p:sp>
        <p:nvSpPr>
          <p:cNvPr name="TextBox 63" id="63"/>
          <p:cNvSpPr txBox="true"/>
          <p:nvPr/>
        </p:nvSpPr>
        <p:spPr>
          <a:xfrm rot="0">
            <a:off x="2095500" y="7200900"/>
            <a:ext cx="14097000" cy="331470"/>
          </a:xfrm>
          <a:prstGeom prst="rect">
            <a:avLst/>
          </a:prstGeom>
        </p:spPr>
        <p:txBody>
          <a:bodyPr anchor="t" rtlCol="false" tIns="0" lIns="0" bIns="0" rIns="0">
            <a:spAutoFit/>
          </a:bodyPr>
          <a:lstStyle/>
          <a:p>
            <a:pPr algn="ctr">
              <a:lnSpc>
                <a:spcPts val="2729"/>
              </a:lnSpc>
            </a:pPr>
            <a:r>
              <a:rPr lang="en-US" sz="1950">
                <a:solidFill>
                  <a:srgbClr val="9BB0C7"/>
                </a:solidFill>
                <a:latin typeface="IBM Plex Sans"/>
                <a:ea typeface="IBM Plex Sans"/>
                <a:cs typeface="IBM Plex Sans"/>
                <a:sym typeface="IBM Plex Sans"/>
              </a:rPr>
              <a:t>TEST LAUNCH BLOCKED BY INSTANCE ELIGIBILITY — manual AWS web-farm, ALB and CloudWatch validation completed.</a:t>
            </a:r>
          </a:p>
        </p:txBody>
      </p:sp>
      <p:sp>
        <p:nvSpPr>
          <p:cNvPr name="TextBox 64" id="64"/>
          <p:cNvSpPr txBox="true"/>
          <p:nvPr/>
        </p:nvSpPr>
        <p:spPr>
          <a:xfrm rot="0">
            <a:off x="838200" y="9763125"/>
            <a:ext cx="6858000" cy="232410"/>
          </a:xfrm>
          <a:prstGeom prst="rect">
            <a:avLst/>
          </a:prstGeom>
        </p:spPr>
        <p:txBody>
          <a:bodyPr anchor="t" rtlCol="false" tIns="0" lIns="0" bIns="0" rIns="0">
            <a:spAutoFit/>
          </a:bodyPr>
          <a:lstStyle/>
          <a:p>
            <a:pPr algn="l">
              <a:lnSpc>
                <a:spcPts val="1889"/>
              </a:lnSpc>
            </a:pPr>
            <a:r>
              <a:rPr lang="en-US" sz="1350">
                <a:solidFill>
                  <a:srgbClr val="9BB0C7"/>
                </a:solidFill>
                <a:latin typeface="IBM Plex Mono"/>
                <a:ea typeface="IBM Plex Mono"/>
                <a:cs typeface="IBM Plex Mono"/>
                <a:sym typeface="IBM Plex Mono"/>
              </a:rPr>
              <a:t>Y24-SAA-Team391  •  24CC3014-P109  •  05</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838200" y="514350"/>
            <a:ext cx="16592550" cy="893445"/>
            <a:chOff x="0" y="0"/>
            <a:chExt cx="22123400" cy="1191260"/>
          </a:xfrm>
        </p:grpSpPr>
        <p:sp>
          <p:nvSpPr>
            <p:cNvPr name="TextBox 3" id="3"/>
            <p:cNvSpPr txBox="true"/>
            <p:nvPr/>
          </p:nvSpPr>
          <p:spPr>
            <a:xfrm rot="0">
              <a:off x="0" y="-28575"/>
              <a:ext cx="889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IMPLEMENTATION EVIDENCE</a:t>
              </a:r>
            </a:p>
          </p:txBody>
        </p:sp>
        <p:sp>
          <p:nvSpPr>
            <p:cNvPr name="TextBox 4" id="4"/>
            <p:cNvSpPr txBox="true"/>
            <p:nvPr/>
          </p:nvSpPr>
          <p:spPr>
            <a:xfrm rot="0">
              <a:off x="0" y="508000"/>
              <a:ext cx="18034000" cy="683260"/>
            </a:xfrm>
            <a:prstGeom prst="rect">
              <a:avLst/>
            </a:prstGeom>
          </p:spPr>
          <p:txBody>
            <a:bodyPr anchor="t" rtlCol="false" tIns="0" lIns="0" bIns="0" rIns="0">
              <a:spAutoFit/>
            </a:bodyPr>
            <a:lstStyle/>
            <a:p>
              <a:pPr algn="l">
                <a:lnSpc>
                  <a:spcPts val="3960"/>
                </a:lnSpc>
              </a:pPr>
              <a:r>
                <a:rPr lang="en-US" sz="3600" b="true">
                  <a:solidFill>
                    <a:srgbClr val="F7FBFF"/>
                  </a:solidFill>
                  <a:latin typeface="Montserrat Bold"/>
                  <a:ea typeface="Montserrat Bold"/>
                  <a:cs typeface="Montserrat Bold"/>
                  <a:sym typeface="Montserrat Bold"/>
                </a:rPr>
                <a:t>Live AWS proof points</a:t>
              </a:r>
            </a:p>
          </p:txBody>
        </p:sp>
        <p:sp>
          <p:nvSpPr>
            <p:cNvPr name="TextBox 5" id="5"/>
            <p:cNvSpPr txBox="true"/>
            <p:nvPr/>
          </p:nvSpPr>
          <p:spPr>
            <a:xfrm rot="0">
              <a:off x="20345400" y="98425"/>
              <a:ext cx="1778000" cy="333375"/>
            </a:xfrm>
            <a:prstGeom prst="rect">
              <a:avLst/>
            </a:prstGeom>
          </p:spPr>
          <p:txBody>
            <a:bodyPr anchor="t" rtlCol="false" tIns="0" lIns="0" bIns="0" rIns="0">
              <a:spAutoFit/>
            </a:bodyPr>
            <a:lstStyle/>
            <a:p>
              <a:pPr algn="r">
                <a:lnSpc>
                  <a:spcPts val="2100"/>
                </a:lnSpc>
              </a:pPr>
              <a:r>
                <a:rPr lang="en-US" sz="1500">
                  <a:solidFill>
                    <a:srgbClr val="9BB0C7"/>
                  </a:solidFill>
                  <a:latin typeface="IBM Plex Mono"/>
                  <a:ea typeface="IBM Plex Mono"/>
                  <a:cs typeface="IBM Plex Mono"/>
                  <a:sym typeface="IBM Plex Mono"/>
                </a:rPr>
                <a:t>05</a:t>
              </a:r>
            </a:p>
          </p:txBody>
        </p:sp>
      </p:grpSp>
      <p:grpSp>
        <p:nvGrpSpPr>
          <p:cNvPr name="Group 6" id="6"/>
          <p:cNvGrpSpPr/>
          <p:nvPr/>
        </p:nvGrpSpPr>
        <p:grpSpPr>
          <a:xfrm rot="0">
            <a:off x="904875" y="2286000"/>
            <a:ext cx="7858125" cy="2905125"/>
            <a:chOff x="0" y="0"/>
            <a:chExt cx="10477500" cy="3873500"/>
          </a:xfrm>
        </p:grpSpPr>
        <p:grpSp>
          <p:nvGrpSpPr>
            <p:cNvPr name="Group 7" id="7"/>
            <p:cNvGrpSpPr/>
            <p:nvPr/>
          </p:nvGrpSpPr>
          <p:grpSpPr>
            <a:xfrm rot="0">
              <a:off x="0" y="0"/>
              <a:ext cx="10477500" cy="3873500"/>
              <a:chOff x="0" y="0"/>
              <a:chExt cx="10477500" cy="3873500"/>
            </a:xfrm>
          </p:grpSpPr>
          <p:sp>
            <p:nvSpPr>
              <p:cNvPr name="Freeform 8" id="8"/>
              <p:cNvSpPr/>
              <p:nvPr/>
            </p:nvSpPr>
            <p:spPr>
              <a:xfrm flipH="false" flipV="false" rot="0">
                <a:off x="0" y="0"/>
                <a:ext cx="10477500" cy="3873500"/>
              </a:xfrm>
              <a:custGeom>
                <a:avLst/>
                <a:gdLst/>
                <a:ahLst/>
                <a:cxnLst/>
                <a:rect r="r" b="b" t="t" l="l"/>
                <a:pathLst>
                  <a:path h="3873500" w="10477500">
                    <a:moveTo>
                      <a:pt x="0" y="0"/>
                    </a:moveTo>
                    <a:lnTo>
                      <a:pt x="10477500" y="0"/>
                    </a:lnTo>
                    <a:lnTo>
                      <a:pt x="10477500" y="3873500"/>
                    </a:lnTo>
                    <a:lnTo>
                      <a:pt x="0" y="3873500"/>
                    </a:lnTo>
                    <a:close/>
                  </a:path>
                </a:pathLst>
              </a:custGeom>
              <a:solidFill>
                <a:srgbClr val="101E31">
                  <a:alpha val="95686"/>
                </a:srgbClr>
              </a:solidFill>
              <a:ln w="9525" cap="sq">
                <a:solidFill>
                  <a:srgbClr val="29425F">
                    <a:alpha val="95686"/>
                  </a:srgbClr>
                </a:solidFill>
                <a:prstDash val="solid"/>
                <a:miter/>
              </a:ln>
            </p:spPr>
          </p:sp>
          <p:sp>
            <p:nvSpPr>
              <p:cNvPr name="TextBox 9" id="9"/>
              <p:cNvSpPr txBox="true"/>
              <p:nvPr/>
            </p:nvSpPr>
            <p:spPr>
              <a:xfrm>
                <a:off x="0" y="-38100"/>
                <a:ext cx="10477500" cy="39116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0" y="0"/>
              <a:ext cx="101600" cy="3873500"/>
              <a:chOff x="0" y="0"/>
              <a:chExt cx="101600" cy="3873500"/>
            </a:xfrm>
          </p:grpSpPr>
          <p:sp>
            <p:nvSpPr>
              <p:cNvPr name="Freeform 11" id="11"/>
              <p:cNvSpPr/>
              <p:nvPr/>
            </p:nvSpPr>
            <p:spPr>
              <a:xfrm flipH="false" flipV="false" rot="0">
                <a:off x="0" y="0"/>
                <a:ext cx="101600" cy="3873500"/>
              </a:xfrm>
              <a:custGeom>
                <a:avLst/>
                <a:gdLst/>
                <a:ahLst/>
                <a:cxnLst/>
                <a:rect r="r" b="b" t="t" l="l"/>
                <a:pathLst>
                  <a:path h="3873500" w="101600">
                    <a:moveTo>
                      <a:pt x="0" y="0"/>
                    </a:moveTo>
                    <a:lnTo>
                      <a:pt x="101600" y="0"/>
                    </a:lnTo>
                    <a:lnTo>
                      <a:pt x="101600" y="3873500"/>
                    </a:lnTo>
                    <a:lnTo>
                      <a:pt x="0" y="3873500"/>
                    </a:lnTo>
                    <a:close/>
                  </a:path>
                </a:pathLst>
              </a:custGeom>
              <a:solidFill>
                <a:srgbClr val="FF9900"/>
              </a:solidFill>
              <a:ln cap="sq">
                <a:noFill/>
                <a:prstDash val="solid"/>
                <a:miter/>
              </a:ln>
            </p:spPr>
          </p:sp>
          <p:sp>
            <p:nvSpPr>
              <p:cNvPr name="TextBox 12" id="12"/>
              <p:cNvSpPr txBox="true"/>
              <p:nvPr/>
            </p:nvSpPr>
            <p:spPr>
              <a:xfrm>
                <a:off x="0" y="-38100"/>
                <a:ext cx="101600" cy="39116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457200" y="377825"/>
              <a:ext cx="4826000" cy="333375"/>
            </a:xfrm>
            <a:prstGeom prst="rect">
              <a:avLst/>
            </a:prstGeom>
          </p:spPr>
          <p:txBody>
            <a:bodyPr anchor="t" rtlCol="false" tIns="0" lIns="0" bIns="0" rIns="0">
              <a:spAutoFit/>
            </a:bodyPr>
            <a:lstStyle/>
            <a:p>
              <a:pPr algn="l">
                <a:lnSpc>
                  <a:spcPts val="2100"/>
                </a:lnSpc>
              </a:pPr>
              <a:r>
                <a:rPr lang="en-US" sz="1500" spc="120" b="true">
                  <a:solidFill>
                    <a:srgbClr val="FF9900"/>
                  </a:solidFill>
                  <a:latin typeface="IBM Plex Mono Bold"/>
                  <a:ea typeface="IBM Plex Mono Bold"/>
                  <a:cs typeface="IBM Plex Mono Bold"/>
                  <a:sym typeface="IBM Plex Mono Bold"/>
                </a:rPr>
                <a:t>MGN</a:t>
              </a:r>
            </a:p>
          </p:txBody>
        </p:sp>
        <p:sp>
          <p:nvSpPr>
            <p:cNvPr name="TextBox 14" id="14"/>
            <p:cNvSpPr txBox="true"/>
            <p:nvPr/>
          </p:nvSpPr>
          <p:spPr>
            <a:xfrm rot="0">
              <a:off x="457200" y="1333500"/>
              <a:ext cx="8890000" cy="1045210"/>
            </a:xfrm>
            <a:prstGeom prst="rect">
              <a:avLst/>
            </a:prstGeom>
          </p:spPr>
          <p:txBody>
            <a:bodyPr anchor="t" rtlCol="false" tIns="0" lIns="0" bIns="0" rIns="0">
              <a:spAutoFit/>
            </a:bodyPr>
            <a:lstStyle/>
            <a:p>
              <a:pPr algn="l">
                <a:lnSpc>
                  <a:spcPts val="3187"/>
                </a:lnSpc>
              </a:pPr>
              <a:r>
                <a:rPr lang="en-US" sz="2550" b="true">
                  <a:solidFill>
                    <a:srgbClr val="F7FBFF"/>
                  </a:solidFill>
                  <a:latin typeface="IBM Plex Mono Bold"/>
                  <a:ea typeface="IBM Plex Mono Bold"/>
                  <a:cs typeface="IBM Plex Mono Bold"/>
                  <a:sym typeface="IBM Plex Mono Bold"/>
                </a:rPr>
                <a:t>Initial Replication Finished</a:t>
              </a:r>
            </a:p>
            <a:p>
              <a:pPr algn="l">
                <a:lnSpc>
                  <a:spcPts val="3187"/>
                </a:lnSpc>
              </a:pPr>
              <a:r>
                <a:rPr lang="en-US" sz="2550" b="true">
                  <a:solidFill>
                    <a:srgbClr val="F7FBFF"/>
                  </a:solidFill>
                  <a:latin typeface="IBM Plex Mono Bold"/>
                  <a:ea typeface="IBM Plex Mono Bold"/>
                  <a:cs typeface="IBM Plex Mono Bold"/>
                  <a:sym typeface="IBM Plex Mono Bold"/>
                </a:rPr>
                <a:t>8 / 8 GiB • Ready for Testing</a:t>
              </a:r>
            </a:p>
          </p:txBody>
        </p:sp>
        <p:sp>
          <p:nvSpPr>
            <p:cNvPr name="TextBox 15" id="15"/>
            <p:cNvSpPr txBox="true"/>
            <p:nvPr/>
          </p:nvSpPr>
          <p:spPr>
            <a:xfrm rot="0">
              <a:off x="457200" y="3200400"/>
              <a:ext cx="8890000" cy="363220"/>
            </a:xfrm>
            <a:prstGeom prst="rect">
              <a:avLst/>
            </a:prstGeom>
          </p:spPr>
          <p:txBody>
            <a:bodyPr anchor="t" rtlCol="false" tIns="0" lIns="0" bIns="0" rIns="0">
              <a:spAutoFit/>
            </a:bodyPr>
            <a:lstStyle/>
            <a:p>
              <a:pPr algn="l">
                <a:lnSpc>
                  <a:spcPts val="2310"/>
                </a:lnSpc>
              </a:pPr>
              <a:r>
                <a:rPr lang="en-US" sz="1650">
                  <a:solidFill>
                    <a:srgbClr val="9BB0C7"/>
                  </a:solidFill>
                  <a:latin typeface="IBM Plex Sans"/>
                  <a:ea typeface="IBM Plex Sans"/>
                  <a:cs typeface="IBM Plex Sans"/>
                  <a:sym typeface="IBM Plex Sans"/>
                </a:rPr>
                <a:t>Proves replication status</a:t>
              </a:r>
            </a:p>
          </p:txBody>
        </p:sp>
      </p:grpSp>
      <p:grpSp>
        <p:nvGrpSpPr>
          <p:cNvPr name="Group 16" id="16"/>
          <p:cNvGrpSpPr/>
          <p:nvPr/>
        </p:nvGrpSpPr>
        <p:grpSpPr>
          <a:xfrm rot="0">
            <a:off x="9286875" y="2286000"/>
            <a:ext cx="7858125" cy="2905125"/>
            <a:chOff x="0" y="0"/>
            <a:chExt cx="10477500" cy="3873500"/>
          </a:xfrm>
        </p:grpSpPr>
        <p:grpSp>
          <p:nvGrpSpPr>
            <p:cNvPr name="Group 17" id="17"/>
            <p:cNvGrpSpPr/>
            <p:nvPr/>
          </p:nvGrpSpPr>
          <p:grpSpPr>
            <a:xfrm rot="0">
              <a:off x="0" y="0"/>
              <a:ext cx="10477500" cy="3873500"/>
              <a:chOff x="0" y="0"/>
              <a:chExt cx="10477500" cy="3873500"/>
            </a:xfrm>
          </p:grpSpPr>
          <p:sp>
            <p:nvSpPr>
              <p:cNvPr name="Freeform 18" id="18"/>
              <p:cNvSpPr/>
              <p:nvPr/>
            </p:nvSpPr>
            <p:spPr>
              <a:xfrm flipH="false" flipV="false" rot="0">
                <a:off x="0" y="0"/>
                <a:ext cx="10477500" cy="3873500"/>
              </a:xfrm>
              <a:custGeom>
                <a:avLst/>
                <a:gdLst/>
                <a:ahLst/>
                <a:cxnLst/>
                <a:rect r="r" b="b" t="t" l="l"/>
                <a:pathLst>
                  <a:path h="3873500" w="10477500">
                    <a:moveTo>
                      <a:pt x="0" y="0"/>
                    </a:moveTo>
                    <a:lnTo>
                      <a:pt x="10477500" y="0"/>
                    </a:lnTo>
                    <a:lnTo>
                      <a:pt x="10477500" y="3873500"/>
                    </a:lnTo>
                    <a:lnTo>
                      <a:pt x="0" y="3873500"/>
                    </a:lnTo>
                    <a:close/>
                  </a:path>
                </a:pathLst>
              </a:custGeom>
              <a:solidFill>
                <a:srgbClr val="101E31">
                  <a:alpha val="95686"/>
                </a:srgbClr>
              </a:solidFill>
              <a:ln w="9525" cap="sq">
                <a:solidFill>
                  <a:srgbClr val="29425F">
                    <a:alpha val="95686"/>
                  </a:srgbClr>
                </a:solidFill>
                <a:prstDash val="solid"/>
                <a:miter/>
              </a:ln>
            </p:spPr>
          </p:sp>
          <p:sp>
            <p:nvSpPr>
              <p:cNvPr name="TextBox 19" id="19"/>
              <p:cNvSpPr txBox="true"/>
              <p:nvPr/>
            </p:nvSpPr>
            <p:spPr>
              <a:xfrm>
                <a:off x="0" y="-38100"/>
                <a:ext cx="10477500" cy="39116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0" y="0"/>
              <a:ext cx="101600" cy="3873500"/>
              <a:chOff x="0" y="0"/>
              <a:chExt cx="101600" cy="3873500"/>
            </a:xfrm>
          </p:grpSpPr>
          <p:sp>
            <p:nvSpPr>
              <p:cNvPr name="Freeform 21" id="21"/>
              <p:cNvSpPr/>
              <p:nvPr/>
            </p:nvSpPr>
            <p:spPr>
              <a:xfrm flipH="false" flipV="false" rot="0">
                <a:off x="0" y="0"/>
                <a:ext cx="101600" cy="3873500"/>
              </a:xfrm>
              <a:custGeom>
                <a:avLst/>
                <a:gdLst/>
                <a:ahLst/>
                <a:cxnLst/>
                <a:rect r="r" b="b" t="t" l="l"/>
                <a:pathLst>
                  <a:path h="3873500" w="101600">
                    <a:moveTo>
                      <a:pt x="0" y="0"/>
                    </a:moveTo>
                    <a:lnTo>
                      <a:pt x="101600" y="0"/>
                    </a:lnTo>
                    <a:lnTo>
                      <a:pt x="101600" y="3873500"/>
                    </a:lnTo>
                    <a:lnTo>
                      <a:pt x="0" y="3873500"/>
                    </a:lnTo>
                    <a:close/>
                  </a:path>
                </a:pathLst>
              </a:custGeom>
              <a:solidFill>
                <a:srgbClr val="20A4F3"/>
              </a:solidFill>
              <a:ln cap="sq">
                <a:noFill/>
                <a:prstDash val="solid"/>
                <a:miter/>
              </a:ln>
            </p:spPr>
          </p:sp>
          <p:sp>
            <p:nvSpPr>
              <p:cNvPr name="TextBox 22" id="22"/>
              <p:cNvSpPr txBox="true"/>
              <p:nvPr/>
            </p:nvSpPr>
            <p:spPr>
              <a:xfrm>
                <a:off x="0" y="-38100"/>
                <a:ext cx="101600" cy="3911600"/>
              </a:xfrm>
              <a:prstGeom prst="rect">
                <a:avLst/>
              </a:prstGeom>
            </p:spPr>
            <p:txBody>
              <a:bodyPr anchor="ctr" rtlCol="false" tIns="50800" lIns="50800" bIns="50800" rIns="50800"/>
              <a:lstStyle/>
              <a:p>
                <a:pPr algn="l">
                  <a:lnSpc>
                    <a:spcPts val="1679"/>
                  </a:lnSpc>
                </a:pPr>
              </a:p>
            </p:txBody>
          </p:sp>
        </p:grpSp>
        <p:sp>
          <p:nvSpPr>
            <p:cNvPr name="TextBox 23" id="23"/>
            <p:cNvSpPr txBox="true"/>
            <p:nvPr/>
          </p:nvSpPr>
          <p:spPr>
            <a:xfrm rot="0">
              <a:off x="457200" y="377825"/>
              <a:ext cx="4826000" cy="333375"/>
            </a:xfrm>
            <a:prstGeom prst="rect">
              <a:avLst/>
            </a:prstGeom>
          </p:spPr>
          <p:txBody>
            <a:bodyPr anchor="t" rtlCol="false" tIns="0" lIns="0" bIns="0" rIns="0">
              <a:spAutoFit/>
            </a:bodyPr>
            <a:lstStyle/>
            <a:p>
              <a:pPr algn="l">
                <a:lnSpc>
                  <a:spcPts val="2100"/>
                </a:lnSpc>
              </a:pPr>
              <a:r>
                <a:rPr lang="en-US" sz="1500" spc="120" b="true">
                  <a:solidFill>
                    <a:srgbClr val="20A4F3"/>
                  </a:solidFill>
                  <a:latin typeface="IBM Plex Mono Bold"/>
                  <a:ea typeface="IBM Plex Mono Bold"/>
                  <a:cs typeface="IBM Plex Mono Bold"/>
                  <a:sym typeface="IBM Plex Mono Bold"/>
                </a:rPr>
                <a:t>EC2</a:t>
              </a:r>
            </a:p>
          </p:txBody>
        </p:sp>
        <p:sp>
          <p:nvSpPr>
            <p:cNvPr name="TextBox 24" id="24"/>
            <p:cNvSpPr txBox="true"/>
            <p:nvPr/>
          </p:nvSpPr>
          <p:spPr>
            <a:xfrm rot="0">
              <a:off x="457200" y="1333500"/>
              <a:ext cx="8890000" cy="1045210"/>
            </a:xfrm>
            <a:prstGeom prst="rect">
              <a:avLst/>
            </a:prstGeom>
          </p:spPr>
          <p:txBody>
            <a:bodyPr anchor="t" rtlCol="false" tIns="0" lIns="0" bIns="0" rIns="0">
              <a:spAutoFit/>
            </a:bodyPr>
            <a:lstStyle/>
            <a:p>
              <a:pPr algn="l">
                <a:lnSpc>
                  <a:spcPts val="3187"/>
                </a:lnSpc>
              </a:pPr>
              <a:r>
                <a:rPr lang="en-US" sz="2550" b="true">
                  <a:solidFill>
                    <a:srgbClr val="F7FBFF"/>
                  </a:solidFill>
                  <a:latin typeface="IBM Plex Mono Bold"/>
                  <a:ea typeface="IBM Plex Mono Bold"/>
                  <a:cs typeface="IBM Plex Mono Bold"/>
                  <a:sym typeface="IBM Plex Mono Bold"/>
                </a:rPr>
                <a:t>MIGRATED-WEB-01</a:t>
              </a:r>
            </a:p>
            <a:p>
              <a:pPr algn="l">
                <a:lnSpc>
                  <a:spcPts val="3187"/>
                </a:lnSpc>
              </a:pPr>
              <a:r>
                <a:rPr lang="en-US" sz="2550" b="true">
                  <a:solidFill>
                    <a:srgbClr val="F7FBFF"/>
                  </a:solidFill>
                  <a:latin typeface="IBM Plex Mono Bold"/>
                  <a:ea typeface="IBM Plex Mono Bold"/>
                  <a:cs typeface="IBM Plex Mono Bold"/>
                  <a:sym typeface="IBM Plex Mono Bold"/>
                </a:rPr>
                <a:t>-02  •  -03</a:t>
              </a:r>
            </a:p>
          </p:txBody>
        </p:sp>
        <p:sp>
          <p:nvSpPr>
            <p:cNvPr name="TextBox 25" id="25"/>
            <p:cNvSpPr txBox="true"/>
            <p:nvPr/>
          </p:nvSpPr>
          <p:spPr>
            <a:xfrm rot="0">
              <a:off x="457200" y="3200400"/>
              <a:ext cx="8890000" cy="363220"/>
            </a:xfrm>
            <a:prstGeom prst="rect">
              <a:avLst/>
            </a:prstGeom>
          </p:spPr>
          <p:txBody>
            <a:bodyPr anchor="t" rtlCol="false" tIns="0" lIns="0" bIns="0" rIns="0">
              <a:spAutoFit/>
            </a:bodyPr>
            <a:lstStyle/>
            <a:p>
              <a:pPr algn="l">
                <a:lnSpc>
                  <a:spcPts val="2310"/>
                </a:lnSpc>
              </a:pPr>
              <a:r>
                <a:rPr lang="en-US" sz="1650">
                  <a:solidFill>
                    <a:srgbClr val="9BB0C7"/>
                  </a:solidFill>
                  <a:latin typeface="IBM Plex Sans"/>
                  <a:ea typeface="IBM Plex Sans"/>
                  <a:cs typeface="IBM Plex Sans"/>
                  <a:sym typeface="IBM Plex Sans"/>
                </a:rPr>
                <a:t>Proves live server estate</a:t>
              </a:r>
            </a:p>
          </p:txBody>
        </p:sp>
      </p:grpSp>
      <p:grpSp>
        <p:nvGrpSpPr>
          <p:cNvPr name="Group 26" id="26"/>
          <p:cNvGrpSpPr/>
          <p:nvPr/>
        </p:nvGrpSpPr>
        <p:grpSpPr>
          <a:xfrm rot="0">
            <a:off x="904875" y="5619750"/>
            <a:ext cx="7858125" cy="2905125"/>
            <a:chOff x="0" y="0"/>
            <a:chExt cx="10477500" cy="3873500"/>
          </a:xfrm>
        </p:grpSpPr>
        <p:grpSp>
          <p:nvGrpSpPr>
            <p:cNvPr name="Group 27" id="27"/>
            <p:cNvGrpSpPr/>
            <p:nvPr/>
          </p:nvGrpSpPr>
          <p:grpSpPr>
            <a:xfrm rot="0">
              <a:off x="0" y="0"/>
              <a:ext cx="10477500" cy="3873500"/>
              <a:chOff x="0" y="0"/>
              <a:chExt cx="10477500" cy="3873500"/>
            </a:xfrm>
          </p:grpSpPr>
          <p:sp>
            <p:nvSpPr>
              <p:cNvPr name="Freeform 28" id="28"/>
              <p:cNvSpPr/>
              <p:nvPr/>
            </p:nvSpPr>
            <p:spPr>
              <a:xfrm flipH="false" flipV="false" rot="0">
                <a:off x="0" y="0"/>
                <a:ext cx="10477500" cy="3873500"/>
              </a:xfrm>
              <a:custGeom>
                <a:avLst/>
                <a:gdLst/>
                <a:ahLst/>
                <a:cxnLst/>
                <a:rect r="r" b="b" t="t" l="l"/>
                <a:pathLst>
                  <a:path h="3873500" w="10477500">
                    <a:moveTo>
                      <a:pt x="0" y="0"/>
                    </a:moveTo>
                    <a:lnTo>
                      <a:pt x="10477500" y="0"/>
                    </a:lnTo>
                    <a:lnTo>
                      <a:pt x="10477500" y="3873500"/>
                    </a:lnTo>
                    <a:lnTo>
                      <a:pt x="0" y="3873500"/>
                    </a:lnTo>
                    <a:close/>
                  </a:path>
                </a:pathLst>
              </a:custGeom>
              <a:solidFill>
                <a:srgbClr val="101E31">
                  <a:alpha val="95686"/>
                </a:srgbClr>
              </a:solidFill>
              <a:ln w="9525" cap="sq">
                <a:solidFill>
                  <a:srgbClr val="29425F">
                    <a:alpha val="95686"/>
                  </a:srgbClr>
                </a:solidFill>
                <a:prstDash val="solid"/>
                <a:miter/>
              </a:ln>
            </p:spPr>
          </p:sp>
          <p:sp>
            <p:nvSpPr>
              <p:cNvPr name="TextBox 29" id="29"/>
              <p:cNvSpPr txBox="true"/>
              <p:nvPr/>
            </p:nvSpPr>
            <p:spPr>
              <a:xfrm>
                <a:off x="0" y="-38100"/>
                <a:ext cx="10477500" cy="3911600"/>
              </a:xfrm>
              <a:prstGeom prst="rect">
                <a:avLst/>
              </a:prstGeom>
            </p:spPr>
            <p:txBody>
              <a:bodyPr anchor="ctr" rtlCol="false" tIns="50800" lIns="50800" bIns="50800" rIns="50800"/>
              <a:lstStyle/>
              <a:p>
                <a:pPr algn="l">
                  <a:lnSpc>
                    <a:spcPts val="1679"/>
                  </a:lnSpc>
                </a:pPr>
              </a:p>
            </p:txBody>
          </p:sp>
        </p:grpSp>
        <p:grpSp>
          <p:nvGrpSpPr>
            <p:cNvPr name="Group 30" id="30"/>
            <p:cNvGrpSpPr/>
            <p:nvPr/>
          </p:nvGrpSpPr>
          <p:grpSpPr>
            <a:xfrm rot="0">
              <a:off x="0" y="0"/>
              <a:ext cx="101600" cy="3873500"/>
              <a:chOff x="0" y="0"/>
              <a:chExt cx="101600" cy="3873500"/>
            </a:xfrm>
          </p:grpSpPr>
          <p:sp>
            <p:nvSpPr>
              <p:cNvPr name="Freeform 31" id="31"/>
              <p:cNvSpPr/>
              <p:nvPr/>
            </p:nvSpPr>
            <p:spPr>
              <a:xfrm flipH="false" flipV="false" rot="0">
                <a:off x="0" y="0"/>
                <a:ext cx="101600" cy="3873500"/>
              </a:xfrm>
              <a:custGeom>
                <a:avLst/>
                <a:gdLst/>
                <a:ahLst/>
                <a:cxnLst/>
                <a:rect r="r" b="b" t="t" l="l"/>
                <a:pathLst>
                  <a:path h="3873500" w="101600">
                    <a:moveTo>
                      <a:pt x="0" y="0"/>
                    </a:moveTo>
                    <a:lnTo>
                      <a:pt x="101600" y="0"/>
                    </a:lnTo>
                    <a:lnTo>
                      <a:pt x="101600" y="3873500"/>
                    </a:lnTo>
                    <a:lnTo>
                      <a:pt x="0" y="3873500"/>
                    </a:lnTo>
                    <a:close/>
                  </a:path>
                </a:pathLst>
              </a:custGeom>
              <a:solidFill>
                <a:srgbClr val="36D399"/>
              </a:solidFill>
              <a:ln cap="sq">
                <a:noFill/>
                <a:prstDash val="solid"/>
                <a:miter/>
              </a:ln>
            </p:spPr>
          </p:sp>
          <p:sp>
            <p:nvSpPr>
              <p:cNvPr name="TextBox 32" id="32"/>
              <p:cNvSpPr txBox="true"/>
              <p:nvPr/>
            </p:nvSpPr>
            <p:spPr>
              <a:xfrm>
                <a:off x="0" y="-38100"/>
                <a:ext cx="101600" cy="3911600"/>
              </a:xfrm>
              <a:prstGeom prst="rect">
                <a:avLst/>
              </a:prstGeom>
            </p:spPr>
            <p:txBody>
              <a:bodyPr anchor="ctr" rtlCol="false" tIns="50800" lIns="50800" bIns="50800" rIns="50800"/>
              <a:lstStyle/>
              <a:p>
                <a:pPr algn="l">
                  <a:lnSpc>
                    <a:spcPts val="1679"/>
                  </a:lnSpc>
                </a:pPr>
              </a:p>
            </p:txBody>
          </p:sp>
        </p:grpSp>
        <p:sp>
          <p:nvSpPr>
            <p:cNvPr name="TextBox 33" id="33"/>
            <p:cNvSpPr txBox="true"/>
            <p:nvPr/>
          </p:nvSpPr>
          <p:spPr>
            <a:xfrm rot="0">
              <a:off x="457200" y="377825"/>
              <a:ext cx="4826000" cy="333375"/>
            </a:xfrm>
            <a:prstGeom prst="rect">
              <a:avLst/>
            </a:prstGeom>
          </p:spPr>
          <p:txBody>
            <a:bodyPr anchor="t" rtlCol="false" tIns="0" lIns="0" bIns="0" rIns="0">
              <a:spAutoFit/>
            </a:bodyPr>
            <a:lstStyle/>
            <a:p>
              <a:pPr algn="l">
                <a:lnSpc>
                  <a:spcPts val="2100"/>
                </a:lnSpc>
              </a:pPr>
              <a:r>
                <a:rPr lang="en-US" sz="1500" spc="120" b="true">
                  <a:solidFill>
                    <a:srgbClr val="36D399"/>
                  </a:solidFill>
                  <a:latin typeface="IBM Plex Mono Bold"/>
                  <a:ea typeface="IBM Plex Mono Bold"/>
                  <a:cs typeface="IBM Plex Mono Bold"/>
                  <a:sym typeface="IBM Plex Mono Bold"/>
                </a:rPr>
                <a:t>TARGET GROUP</a:t>
              </a:r>
            </a:p>
          </p:txBody>
        </p:sp>
        <p:sp>
          <p:nvSpPr>
            <p:cNvPr name="TextBox 34" id="34"/>
            <p:cNvSpPr txBox="true"/>
            <p:nvPr/>
          </p:nvSpPr>
          <p:spPr>
            <a:xfrm rot="0">
              <a:off x="457200" y="1333500"/>
              <a:ext cx="8890000" cy="511810"/>
            </a:xfrm>
            <a:prstGeom prst="rect">
              <a:avLst/>
            </a:prstGeom>
          </p:spPr>
          <p:txBody>
            <a:bodyPr anchor="t" rtlCol="false" tIns="0" lIns="0" bIns="0" rIns="0">
              <a:spAutoFit/>
            </a:bodyPr>
            <a:lstStyle/>
            <a:p>
              <a:pPr algn="l">
                <a:lnSpc>
                  <a:spcPts val="3187"/>
                </a:lnSpc>
              </a:pPr>
              <a:r>
                <a:rPr lang="en-US" sz="2550" b="true">
                  <a:solidFill>
                    <a:srgbClr val="F7FBFF"/>
                  </a:solidFill>
                  <a:latin typeface="IBM Plex Mono Bold"/>
                  <a:ea typeface="IBM Plex Mono Bold"/>
                  <a:cs typeface="IBM Plex Mono Bold"/>
                  <a:sym typeface="IBM Plex Mono Bold"/>
                </a:rPr>
                <a:t>3 / 3 HEALTHY</a:t>
              </a:r>
            </a:p>
          </p:txBody>
        </p:sp>
        <p:sp>
          <p:nvSpPr>
            <p:cNvPr name="TextBox 35" id="35"/>
            <p:cNvSpPr txBox="true"/>
            <p:nvPr/>
          </p:nvSpPr>
          <p:spPr>
            <a:xfrm rot="0">
              <a:off x="457200" y="3200400"/>
              <a:ext cx="8890000" cy="363220"/>
            </a:xfrm>
            <a:prstGeom prst="rect">
              <a:avLst/>
            </a:prstGeom>
          </p:spPr>
          <p:txBody>
            <a:bodyPr anchor="t" rtlCol="false" tIns="0" lIns="0" bIns="0" rIns="0">
              <a:spAutoFit/>
            </a:bodyPr>
            <a:lstStyle/>
            <a:p>
              <a:pPr algn="l">
                <a:lnSpc>
                  <a:spcPts val="2310"/>
                </a:lnSpc>
              </a:pPr>
              <a:r>
                <a:rPr lang="en-US" sz="1650">
                  <a:solidFill>
                    <a:srgbClr val="9BB0C7"/>
                  </a:solidFill>
                  <a:latin typeface="IBM Plex Sans"/>
                  <a:ea typeface="IBM Plex Sans"/>
                  <a:cs typeface="IBM Plex Sans"/>
                  <a:sym typeface="IBM Plex Sans"/>
                </a:rPr>
                <a:t>Proves application health</a:t>
              </a:r>
            </a:p>
          </p:txBody>
        </p:sp>
      </p:grpSp>
      <p:grpSp>
        <p:nvGrpSpPr>
          <p:cNvPr name="Group 36" id="36"/>
          <p:cNvGrpSpPr/>
          <p:nvPr/>
        </p:nvGrpSpPr>
        <p:grpSpPr>
          <a:xfrm rot="0">
            <a:off x="9286875" y="5619750"/>
            <a:ext cx="7858125" cy="2905125"/>
            <a:chOff x="0" y="0"/>
            <a:chExt cx="10477500" cy="3873500"/>
          </a:xfrm>
        </p:grpSpPr>
        <p:grpSp>
          <p:nvGrpSpPr>
            <p:cNvPr name="Group 37" id="37"/>
            <p:cNvGrpSpPr/>
            <p:nvPr/>
          </p:nvGrpSpPr>
          <p:grpSpPr>
            <a:xfrm rot="0">
              <a:off x="0" y="0"/>
              <a:ext cx="10477500" cy="3873500"/>
              <a:chOff x="0" y="0"/>
              <a:chExt cx="10477500" cy="3873500"/>
            </a:xfrm>
          </p:grpSpPr>
          <p:sp>
            <p:nvSpPr>
              <p:cNvPr name="Freeform 38" id="38"/>
              <p:cNvSpPr/>
              <p:nvPr/>
            </p:nvSpPr>
            <p:spPr>
              <a:xfrm flipH="false" flipV="false" rot="0">
                <a:off x="0" y="0"/>
                <a:ext cx="10477500" cy="3873500"/>
              </a:xfrm>
              <a:custGeom>
                <a:avLst/>
                <a:gdLst/>
                <a:ahLst/>
                <a:cxnLst/>
                <a:rect r="r" b="b" t="t" l="l"/>
                <a:pathLst>
                  <a:path h="3873500" w="10477500">
                    <a:moveTo>
                      <a:pt x="0" y="0"/>
                    </a:moveTo>
                    <a:lnTo>
                      <a:pt x="10477500" y="0"/>
                    </a:lnTo>
                    <a:lnTo>
                      <a:pt x="10477500" y="3873500"/>
                    </a:lnTo>
                    <a:lnTo>
                      <a:pt x="0" y="3873500"/>
                    </a:lnTo>
                    <a:close/>
                  </a:path>
                </a:pathLst>
              </a:custGeom>
              <a:solidFill>
                <a:srgbClr val="101E31">
                  <a:alpha val="95686"/>
                </a:srgbClr>
              </a:solidFill>
              <a:ln w="9525" cap="sq">
                <a:solidFill>
                  <a:srgbClr val="29425F">
                    <a:alpha val="95686"/>
                  </a:srgbClr>
                </a:solidFill>
                <a:prstDash val="solid"/>
                <a:miter/>
              </a:ln>
            </p:spPr>
          </p:sp>
          <p:sp>
            <p:nvSpPr>
              <p:cNvPr name="TextBox 39" id="39"/>
              <p:cNvSpPr txBox="true"/>
              <p:nvPr/>
            </p:nvSpPr>
            <p:spPr>
              <a:xfrm>
                <a:off x="0" y="-38100"/>
                <a:ext cx="10477500" cy="3911600"/>
              </a:xfrm>
              <a:prstGeom prst="rect">
                <a:avLst/>
              </a:prstGeom>
            </p:spPr>
            <p:txBody>
              <a:bodyPr anchor="ctr" rtlCol="false" tIns="50800" lIns="50800" bIns="50800" rIns="50800"/>
              <a:lstStyle/>
              <a:p>
                <a:pPr algn="l">
                  <a:lnSpc>
                    <a:spcPts val="1679"/>
                  </a:lnSpc>
                </a:pPr>
              </a:p>
            </p:txBody>
          </p:sp>
        </p:grpSp>
        <p:grpSp>
          <p:nvGrpSpPr>
            <p:cNvPr name="Group 40" id="40"/>
            <p:cNvGrpSpPr/>
            <p:nvPr/>
          </p:nvGrpSpPr>
          <p:grpSpPr>
            <a:xfrm rot="0">
              <a:off x="0" y="0"/>
              <a:ext cx="101600" cy="3873500"/>
              <a:chOff x="0" y="0"/>
              <a:chExt cx="101600" cy="3873500"/>
            </a:xfrm>
          </p:grpSpPr>
          <p:sp>
            <p:nvSpPr>
              <p:cNvPr name="Freeform 41" id="41"/>
              <p:cNvSpPr/>
              <p:nvPr/>
            </p:nvSpPr>
            <p:spPr>
              <a:xfrm flipH="false" flipV="false" rot="0">
                <a:off x="0" y="0"/>
                <a:ext cx="101600" cy="3873500"/>
              </a:xfrm>
              <a:custGeom>
                <a:avLst/>
                <a:gdLst/>
                <a:ahLst/>
                <a:cxnLst/>
                <a:rect r="r" b="b" t="t" l="l"/>
                <a:pathLst>
                  <a:path h="3873500" w="101600">
                    <a:moveTo>
                      <a:pt x="0" y="0"/>
                    </a:moveTo>
                    <a:lnTo>
                      <a:pt x="101600" y="0"/>
                    </a:lnTo>
                    <a:lnTo>
                      <a:pt x="101600" y="3873500"/>
                    </a:lnTo>
                    <a:lnTo>
                      <a:pt x="0" y="3873500"/>
                    </a:lnTo>
                    <a:close/>
                  </a:path>
                </a:pathLst>
              </a:custGeom>
              <a:solidFill>
                <a:srgbClr val="57D7FF"/>
              </a:solidFill>
              <a:ln cap="sq">
                <a:noFill/>
                <a:prstDash val="solid"/>
                <a:miter/>
              </a:ln>
            </p:spPr>
          </p:sp>
          <p:sp>
            <p:nvSpPr>
              <p:cNvPr name="TextBox 42" id="42"/>
              <p:cNvSpPr txBox="true"/>
              <p:nvPr/>
            </p:nvSpPr>
            <p:spPr>
              <a:xfrm>
                <a:off x="0" y="-38100"/>
                <a:ext cx="101600" cy="3911600"/>
              </a:xfrm>
              <a:prstGeom prst="rect">
                <a:avLst/>
              </a:prstGeom>
            </p:spPr>
            <p:txBody>
              <a:bodyPr anchor="ctr" rtlCol="false" tIns="50800" lIns="50800" bIns="50800" rIns="50800"/>
              <a:lstStyle/>
              <a:p>
                <a:pPr algn="l">
                  <a:lnSpc>
                    <a:spcPts val="1679"/>
                  </a:lnSpc>
                </a:pPr>
              </a:p>
            </p:txBody>
          </p:sp>
        </p:grpSp>
        <p:sp>
          <p:nvSpPr>
            <p:cNvPr name="TextBox 43" id="43"/>
            <p:cNvSpPr txBox="true"/>
            <p:nvPr/>
          </p:nvSpPr>
          <p:spPr>
            <a:xfrm rot="0">
              <a:off x="457200" y="377825"/>
              <a:ext cx="4826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ALB</a:t>
              </a:r>
            </a:p>
          </p:txBody>
        </p:sp>
        <p:sp>
          <p:nvSpPr>
            <p:cNvPr name="TextBox 44" id="44"/>
            <p:cNvSpPr txBox="true"/>
            <p:nvPr/>
          </p:nvSpPr>
          <p:spPr>
            <a:xfrm rot="0">
              <a:off x="457200" y="1333500"/>
              <a:ext cx="8890000" cy="1045210"/>
            </a:xfrm>
            <a:prstGeom prst="rect">
              <a:avLst/>
            </a:prstGeom>
          </p:spPr>
          <p:txBody>
            <a:bodyPr anchor="t" rtlCol="false" tIns="0" lIns="0" bIns="0" rIns="0">
              <a:spAutoFit/>
            </a:bodyPr>
            <a:lstStyle/>
            <a:p>
              <a:pPr algn="l">
                <a:lnSpc>
                  <a:spcPts val="3187"/>
                </a:lnSpc>
              </a:pPr>
              <a:r>
                <a:rPr lang="en-US" sz="2550" b="true">
                  <a:solidFill>
                    <a:srgbClr val="F7FBFF"/>
                  </a:solidFill>
                  <a:latin typeface="IBM Plex Mono Bold"/>
                  <a:ea typeface="IBM Plex Mono Bold"/>
                  <a:cs typeface="IBM Plex Mono Bold"/>
                  <a:sym typeface="IBM Plex Mono Bold"/>
                </a:rPr>
                <a:t>ACTIVE</a:t>
              </a:r>
            </a:p>
            <a:p>
              <a:pPr algn="l">
                <a:lnSpc>
                  <a:spcPts val="3187"/>
                </a:lnSpc>
              </a:pPr>
              <a:r>
                <a:rPr lang="en-US" sz="2550" b="true">
                  <a:solidFill>
                    <a:srgbClr val="F7FBFF"/>
                  </a:solidFill>
                  <a:latin typeface="IBM Plex Mono Bold"/>
                  <a:ea typeface="IBM Plex Mono Bold"/>
                  <a:cs typeface="IBM Plex Mono Bold"/>
                  <a:sym typeface="IBM Plex Mono Bold"/>
                </a:rPr>
                <a:t>2 AZs  •  HTTP :80</a:t>
              </a:r>
            </a:p>
          </p:txBody>
        </p:sp>
        <p:sp>
          <p:nvSpPr>
            <p:cNvPr name="TextBox 45" id="45"/>
            <p:cNvSpPr txBox="true"/>
            <p:nvPr/>
          </p:nvSpPr>
          <p:spPr>
            <a:xfrm rot="0">
              <a:off x="457200" y="3200400"/>
              <a:ext cx="8890000" cy="363220"/>
            </a:xfrm>
            <a:prstGeom prst="rect">
              <a:avLst/>
            </a:prstGeom>
          </p:spPr>
          <p:txBody>
            <a:bodyPr anchor="t" rtlCol="false" tIns="0" lIns="0" bIns="0" rIns="0">
              <a:spAutoFit/>
            </a:bodyPr>
            <a:lstStyle/>
            <a:p>
              <a:pPr algn="l">
                <a:lnSpc>
                  <a:spcPts val="2310"/>
                </a:lnSpc>
              </a:pPr>
              <a:r>
                <a:rPr lang="en-US" sz="1650">
                  <a:solidFill>
                    <a:srgbClr val="9BB0C7"/>
                  </a:solidFill>
                  <a:latin typeface="IBM Plex Sans"/>
                  <a:ea typeface="IBM Plex Sans"/>
                  <a:cs typeface="IBM Plex Sans"/>
                  <a:sym typeface="IBM Plex Sans"/>
                </a:rPr>
                <a:t>Proves active entry point</a:t>
              </a:r>
            </a:p>
          </p:txBody>
        </p:sp>
      </p:grpSp>
      <p:sp>
        <p:nvSpPr>
          <p:cNvPr name="TextBox 46" id="46"/>
          <p:cNvSpPr txBox="true"/>
          <p:nvPr/>
        </p:nvSpPr>
        <p:spPr>
          <a:xfrm rot="0">
            <a:off x="838200" y="9763125"/>
            <a:ext cx="6858000" cy="232410"/>
          </a:xfrm>
          <a:prstGeom prst="rect">
            <a:avLst/>
          </a:prstGeom>
        </p:spPr>
        <p:txBody>
          <a:bodyPr anchor="t" rtlCol="false" tIns="0" lIns="0" bIns="0" rIns="0">
            <a:spAutoFit/>
          </a:bodyPr>
          <a:lstStyle/>
          <a:p>
            <a:pPr algn="l">
              <a:lnSpc>
                <a:spcPts val="1889"/>
              </a:lnSpc>
            </a:pPr>
            <a:r>
              <a:rPr lang="en-US" sz="1350">
                <a:solidFill>
                  <a:srgbClr val="9BB0C7"/>
                </a:solidFill>
                <a:latin typeface="IBM Plex Mono"/>
                <a:ea typeface="IBM Plex Mono"/>
                <a:cs typeface="IBM Plex Mono"/>
                <a:sym typeface="IBM Plex Mono"/>
              </a:rPr>
              <a:t>Y24-SAA-Team391  •  24CC3014-P109  •  06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838200" y="514350"/>
            <a:ext cx="16592550" cy="893445"/>
            <a:chOff x="0" y="0"/>
            <a:chExt cx="22123400" cy="1191260"/>
          </a:xfrm>
        </p:grpSpPr>
        <p:sp>
          <p:nvSpPr>
            <p:cNvPr name="TextBox 3" id="3"/>
            <p:cNvSpPr txBox="true"/>
            <p:nvPr/>
          </p:nvSpPr>
          <p:spPr>
            <a:xfrm rot="0">
              <a:off x="0" y="-28575"/>
              <a:ext cx="889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APPLICATION DEMO</a:t>
              </a:r>
            </a:p>
          </p:txBody>
        </p:sp>
        <p:sp>
          <p:nvSpPr>
            <p:cNvPr name="TextBox 4" id="4"/>
            <p:cNvSpPr txBox="true"/>
            <p:nvPr/>
          </p:nvSpPr>
          <p:spPr>
            <a:xfrm rot="0">
              <a:off x="0" y="508000"/>
              <a:ext cx="18034000" cy="683260"/>
            </a:xfrm>
            <a:prstGeom prst="rect">
              <a:avLst/>
            </a:prstGeom>
          </p:spPr>
          <p:txBody>
            <a:bodyPr anchor="t" rtlCol="false" tIns="0" lIns="0" bIns="0" rIns="0">
              <a:spAutoFit/>
            </a:bodyPr>
            <a:lstStyle/>
            <a:p>
              <a:pPr algn="l">
                <a:lnSpc>
                  <a:spcPts val="3960"/>
                </a:lnSpc>
              </a:pPr>
              <a:r>
                <a:rPr lang="en-US" sz="3600" b="true">
                  <a:solidFill>
                    <a:srgbClr val="F7FBFF"/>
                  </a:solidFill>
                  <a:latin typeface="Montserrat Bold"/>
                  <a:ea typeface="Montserrat Bold"/>
                  <a:cs typeface="Montserrat Bold"/>
                  <a:sym typeface="Montserrat Bold"/>
                </a:rPr>
                <a:t>TechStore running on the web farm</a:t>
              </a:r>
            </a:p>
          </p:txBody>
        </p:sp>
        <p:sp>
          <p:nvSpPr>
            <p:cNvPr name="TextBox 5" id="5"/>
            <p:cNvSpPr txBox="true"/>
            <p:nvPr/>
          </p:nvSpPr>
          <p:spPr>
            <a:xfrm rot="0">
              <a:off x="20345400" y="98425"/>
              <a:ext cx="1778000" cy="333375"/>
            </a:xfrm>
            <a:prstGeom prst="rect">
              <a:avLst/>
            </a:prstGeom>
          </p:spPr>
          <p:txBody>
            <a:bodyPr anchor="t" rtlCol="false" tIns="0" lIns="0" bIns="0" rIns="0">
              <a:spAutoFit/>
            </a:bodyPr>
            <a:lstStyle/>
            <a:p>
              <a:pPr algn="r">
                <a:lnSpc>
                  <a:spcPts val="2100"/>
                </a:lnSpc>
              </a:pPr>
              <a:r>
                <a:rPr lang="en-US" sz="1500">
                  <a:solidFill>
                    <a:srgbClr val="9BB0C7"/>
                  </a:solidFill>
                  <a:latin typeface="IBM Plex Mono"/>
                  <a:ea typeface="IBM Plex Mono"/>
                  <a:cs typeface="IBM Plex Mono"/>
                  <a:sym typeface="IBM Plex Mono"/>
                </a:rPr>
                <a:t>06</a:t>
              </a:r>
            </a:p>
          </p:txBody>
        </p:sp>
      </p:grpSp>
      <p:sp>
        <p:nvSpPr>
          <p:cNvPr name="Freeform 6" id="6"/>
          <p:cNvSpPr/>
          <p:nvPr/>
        </p:nvSpPr>
        <p:spPr>
          <a:xfrm flipH="false" flipV="false" rot="0">
            <a:off x="857250" y="2000250"/>
            <a:ext cx="11239500" cy="6858000"/>
          </a:xfrm>
          <a:custGeom>
            <a:avLst/>
            <a:gdLst/>
            <a:ahLst/>
            <a:cxnLst/>
            <a:rect r="r" b="b" t="t" l="l"/>
            <a:pathLst>
              <a:path h="6858000" w="11239500">
                <a:moveTo>
                  <a:pt x="0" y="0"/>
                </a:moveTo>
                <a:lnTo>
                  <a:pt x="11239500" y="0"/>
                </a:lnTo>
                <a:lnTo>
                  <a:pt x="11239500" y="6858000"/>
                </a:lnTo>
                <a:lnTo>
                  <a:pt x="0" y="6858000"/>
                </a:lnTo>
                <a:lnTo>
                  <a:pt x="0" y="0"/>
                </a:lnTo>
                <a:close/>
              </a:path>
            </a:pathLst>
          </a:custGeom>
          <a:blipFill>
            <a:blip r:embed="rId3"/>
            <a:stretch>
              <a:fillRect l="-13" t="0" r="-13" b="0"/>
            </a:stretch>
          </a:blipFill>
          <a:ln cap="sq">
            <a:noFill/>
            <a:prstDash val="solid"/>
            <a:miter/>
          </a:ln>
        </p:spPr>
      </p:sp>
      <p:grpSp>
        <p:nvGrpSpPr>
          <p:cNvPr name="Group 7" id="7"/>
          <p:cNvGrpSpPr/>
          <p:nvPr/>
        </p:nvGrpSpPr>
        <p:grpSpPr>
          <a:xfrm rot="0">
            <a:off x="12287250" y="2095500"/>
            <a:ext cx="5143500" cy="6762750"/>
            <a:chOff x="0" y="0"/>
            <a:chExt cx="6858000" cy="9017000"/>
          </a:xfrm>
        </p:grpSpPr>
        <p:grpSp>
          <p:nvGrpSpPr>
            <p:cNvPr name="Group 8" id="8"/>
            <p:cNvGrpSpPr/>
            <p:nvPr/>
          </p:nvGrpSpPr>
          <p:grpSpPr>
            <a:xfrm rot="0">
              <a:off x="0" y="0"/>
              <a:ext cx="6858000" cy="9017000"/>
              <a:chOff x="0" y="0"/>
              <a:chExt cx="6858000" cy="9017000"/>
            </a:xfrm>
          </p:grpSpPr>
          <p:sp>
            <p:nvSpPr>
              <p:cNvPr name="Freeform 9" id="9"/>
              <p:cNvSpPr/>
              <p:nvPr/>
            </p:nvSpPr>
            <p:spPr>
              <a:xfrm flipH="false" flipV="false" rot="0">
                <a:off x="0" y="0"/>
                <a:ext cx="6858000" cy="9017000"/>
              </a:xfrm>
              <a:custGeom>
                <a:avLst/>
                <a:gdLst/>
                <a:ahLst/>
                <a:cxnLst/>
                <a:rect r="r" b="b" t="t" l="l"/>
                <a:pathLst>
                  <a:path h="9017000" w="6858000">
                    <a:moveTo>
                      <a:pt x="0" y="0"/>
                    </a:moveTo>
                    <a:lnTo>
                      <a:pt x="6858000" y="0"/>
                    </a:lnTo>
                    <a:lnTo>
                      <a:pt x="6858000" y="9017000"/>
                    </a:lnTo>
                    <a:lnTo>
                      <a:pt x="0" y="9017000"/>
                    </a:lnTo>
                    <a:close/>
                  </a:path>
                </a:pathLst>
              </a:custGeom>
              <a:solidFill>
                <a:srgbClr val="101E31">
                  <a:alpha val="95686"/>
                </a:srgbClr>
              </a:solidFill>
              <a:ln w="9525" cap="sq">
                <a:solidFill>
                  <a:srgbClr val="29425F">
                    <a:alpha val="95686"/>
                  </a:srgbClr>
                </a:solidFill>
                <a:prstDash val="solid"/>
                <a:miter/>
              </a:ln>
            </p:spPr>
          </p:sp>
          <p:sp>
            <p:nvSpPr>
              <p:cNvPr name="TextBox 10" id="10"/>
              <p:cNvSpPr txBox="true"/>
              <p:nvPr/>
            </p:nvSpPr>
            <p:spPr>
              <a:xfrm>
                <a:off x="0" y="-38100"/>
                <a:ext cx="6858000" cy="905510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381000" y="352425"/>
              <a:ext cx="5461000" cy="333375"/>
            </a:xfrm>
            <a:prstGeom prst="rect">
              <a:avLst/>
            </a:prstGeom>
          </p:spPr>
          <p:txBody>
            <a:bodyPr anchor="t" rtlCol="false" tIns="0" lIns="0" bIns="0" rIns="0">
              <a:spAutoFit/>
            </a:bodyPr>
            <a:lstStyle/>
            <a:p>
              <a:pPr algn="l">
                <a:lnSpc>
                  <a:spcPts val="2100"/>
                </a:lnSpc>
              </a:pPr>
              <a:r>
                <a:rPr lang="en-US" sz="1500" spc="120" b="true">
                  <a:solidFill>
                    <a:srgbClr val="FF9900"/>
                  </a:solidFill>
                  <a:latin typeface="IBM Plex Mono Bold"/>
                  <a:ea typeface="IBM Plex Mono Bold"/>
                  <a:cs typeface="IBM Plex Mono Bold"/>
                  <a:sym typeface="IBM Plex Mono Bold"/>
                </a:rPr>
                <a:t>DEMO DATA</a:t>
              </a:r>
            </a:p>
          </p:txBody>
        </p:sp>
        <p:sp>
          <p:nvSpPr>
            <p:cNvPr name="TextBox 12" id="12"/>
            <p:cNvSpPr txBox="true"/>
            <p:nvPr/>
          </p:nvSpPr>
          <p:spPr>
            <a:xfrm rot="0">
              <a:off x="381000" y="1670050"/>
              <a:ext cx="6350000" cy="1304925"/>
            </a:xfrm>
            <a:prstGeom prst="rect">
              <a:avLst/>
            </a:prstGeom>
          </p:spPr>
          <p:txBody>
            <a:bodyPr anchor="t" rtlCol="false" tIns="0" lIns="0" bIns="0" rIns="0">
              <a:spAutoFit/>
            </a:bodyPr>
            <a:lstStyle/>
            <a:p>
              <a:pPr algn="l">
                <a:lnSpc>
                  <a:spcPts val="3881"/>
                </a:lnSpc>
              </a:pPr>
              <a:r>
                <a:rPr lang="en-US" sz="3375" b="true">
                  <a:solidFill>
                    <a:srgbClr val="F7FBFF"/>
                  </a:solidFill>
                  <a:latin typeface="Montserrat Bold"/>
                  <a:ea typeface="Montserrat Bold"/>
                  <a:cs typeface="Montserrat Bold"/>
                  <a:sym typeface="Montserrat Bold"/>
                </a:rPr>
                <a:t>Request handled by</a:t>
              </a:r>
            </a:p>
            <a:p>
              <a:pPr algn="l">
                <a:lnSpc>
                  <a:spcPts val="3881"/>
                </a:lnSpc>
              </a:pPr>
              <a:r>
                <a:rPr lang="en-US" sz="3375" b="true">
                  <a:solidFill>
                    <a:srgbClr val="F7FBFF"/>
                  </a:solidFill>
                  <a:latin typeface="Montserrat Bold"/>
                  <a:ea typeface="Montserrat Bold"/>
                  <a:cs typeface="Montserrat Bold"/>
                  <a:sym typeface="Montserrat Bold"/>
                </a:rPr>
                <a:t>Web Server 01</a:t>
              </a:r>
            </a:p>
          </p:txBody>
        </p:sp>
        <p:sp>
          <p:nvSpPr>
            <p:cNvPr name="TextBox 13" id="13"/>
            <p:cNvSpPr txBox="true"/>
            <p:nvPr/>
          </p:nvSpPr>
          <p:spPr>
            <a:xfrm rot="0">
              <a:off x="381000" y="4416425"/>
              <a:ext cx="5588000" cy="1298575"/>
            </a:xfrm>
            <a:prstGeom prst="rect">
              <a:avLst/>
            </a:prstGeom>
          </p:spPr>
          <p:txBody>
            <a:bodyPr anchor="t" rtlCol="false" tIns="0" lIns="0" bIns="0" rIns="0">
              <a:spAutoFit/>
            </a:bodyPr>
            <a:lstStyle/>
            <a:p>
              <a:pPr algn="l">
                <a:lnSpc>
                  <a:spcPts val="2625"/>
                </a:lnSpc>
              </a:pPr>
              <a:r>
                <a:rPr lang="en-US" sz="1875">
                  <a:solidFill>
                    <a:srgbClr val="9BB0C7"/>
                  </a:solidFill>
                  <a:latin typeface="IBM Plex Sans"/>
                  <a:ea typeface="IBM Plex Sans"/>
                  <a:cs typeface="IBM Plex Sans"/>
                  <a:sym typeface="IBM Plex Sans"/>
                </a:rPr>
                <a:t>Equivalent server identities are implemented for Web Server 02 and Web Server 03.</a:t>
              </a:r>
            </a:p>
          </p:txBody>
        </p:sp>
        <p:sp>
          <p:nvSpPr>
            <p:cNvPr name="TextBox 14" id="14"/>
            <p:cNvSpPr txBox="true"/>
            <p:nvPr/>
          </p:nvSpPr>
          <p:spPr>
            <a:xfrm rot="0">
              <a:off x="381000" y="7464425"/>
              <a:ext cx="5842000" cy="343535"/>
            </a:xfrm>
            <a:prstGeom prst="rect">
              <a:avLst/>
            </a:prstGeom>
          </p:spPr>
          <p:txBody>
            <a:bodyPr anchor="t" rtlCol="false" tIns="0" lIns="0" bIns="0" rIns="0">
              <a:spAutoFit/>
            </a:bodyPr>
            <a:lstStyle/>
            <a:p>
              <a:pPr algn="l">
                <a:lnSpc>
                  <a:spcPts val="2204"/>
                </a:lnSpc>
              </a:pPr>
              <a:r>
                <a:rPr lang="en-US" sz="1575" b="true">
                  <a:solidFill>
                    <a:srgbClr val="36D399"/>
                  </a:solidFill>
                  <a:latin typeface="IBM Plex Mono Bold"/>
                  <a:ea typeface="IBM Plex Mono Bold"/>
                  <a:cs typeface="IBM Plex Mono Bold"/>
                  <a:sym typeface="IBM Plex Mono Bold"/>
                </a:rPr>
                <a:t>END-TO-END APP RESPONSE  •  VERIFIED</a:t>
              </a:r>
            </a:p>
          </p:txBody>
        </p:sp>
      </p:grpSp>
      <p:sp>
        <p:nvSpPr>
          <p:cNvPr name="TextBox 15" id="15"/>
          <p:cNvSpPr txBox="true"/>
          <p:nvPr/>
        </p:nvSpPr>
        <p:spPr>
          <a:xfrm rot="0">
            <a:off x="838200" y="9763125"/>
            <a:ext cx="6858000" cy="232410"/>
          </a:xfrm>
          <a:prstGeom prst="rect">
            <a:avLst/>
          </a:prstGeom>
        </p:spPr>
        <p:txBody>
          <a:bodyPr anchor="t" rtlCol="false" tIns="0" lIns="0" bIns="0" rIns="0">
            <a:spAutoFit/>
          </a:bodyPr>
          <a:lstStyle/>
          <a:p>
            <a:pPr algn="l">
              <a:lnSpc>
                <a:spcPts val="1889"/>
              </a:lnSpc>
            </a:pPr>
            <a:r>
              <a:rPr lang="en-US" sz="1350">
                <a:solidFill>
                  <a:srgbClr val="9BB0C7"/>
                </a:solidFill>
                <a:latin typeface="IBM Plex Mono"/>
                <a:ea typeface="IBM Plex Mono"/>
                <a:cs typeface="IBM Plex Mono"/>
                <a:sym typeface="IBM Plex Mono"/>
              </a:rPr>
              <a:t>Y24-SAA-Team391  •  24CC3014-P109  •  07</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838200" y="514350"/>
            <a:ext cx="16592550" cy="893445"/>
            <a:chOff x="0" y="0"/>
            <a:chExt cx="22123400" cy="1191260"/>
          </a:xfrm>
        </p:grpSpPr>
        <p:sp>
          <p:nvSpPr>
            <p:cNvPr name="TextBox 3" id="3"/>
            <p:cNvSpPr txBox="true"/>
            <p:nvPr/>
          </p:nvSpPr>
          <p:spPr>
            <a:xfrm rot="0">
              <a:off x="0" y="-28575"/>
              <a:ext cx="889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RUNTIME VALIDATION</a:t>
              </a:r>
            </a:p>
          </p:txBody>
        </p:sp>
        <p:sp>
          <p:nvSpPr>
            <p:cNvPr name="TextBox 4" id="4"/>
            <p:cNvSpPr txBox="true"/>
            <p:nvPr/>
          </p:nvSpPr>
          <p:spPr>
            <a:xfrm rot="0">
              <a:off x="0" y="508000"/>
              <a:ext cx="18034000" cy="683260"/>
            </a:xfrm>
            <a:prstGeom prst="rect">
              <a:avLst/>
            </a:prstGeom>
          </p:spPr>
          <p:txBody>
            <a:bodyPr anchor="t" rtlCol="false" tIns="0" lIns="0" bIns="0" rIns="0">
              <a:spAutoFit/>
            </a:bodyPr>
            <a:lstStyle/>
            <a:p>
              <a:pPr algn="l">
                <a:lnSpc>
                  <a:spcPts val="3960"/>
                </a:lnSpc>
              </a:pPr>
              <a:r>
                <a:rPr lang="en-US" sz="3600" b="true">
                  <a:solidFill>
                    <a:srgbClr val="F7FBFF"/>
                  </a:solidFill>
                  <a:latin typeface="Montserrat Bold"/>
                  <a:ea typeface="Montserrat Bold"/>
                  <a:cs typeface="Montserrat Bold"/>
                  <a:sym typeface="Montserrat Bold"/>
                </a:rPr>
                <a:t>Live load balancing</a:t>
              </a:r>
            </a:p>
          </p:txBody>
        </p:sp>
        <p:sp>
          <p:nvSpPr>
            <p:cNvPr name="TextBox 5" id="5"/>
            <p:cNvSpPr txBox="true"/>
            <p:nvPr/>
          </p:nvSpPr>
          <p:spPr>
            <a:xfrm rot="0">
              <a:off x="20345400" y="98425"/>
              <a:ext cx="1778000" cy="333375"/>
            </a:xfrm>
            <a:prstGeom prst="rect">
              <a:avLst/>
            </a:prstGeom>
          </p:spPr>
          <p:txBody>
            <a:bodyPr anchor="t" rtlCol="false" tIns="0" lIns="0" bIns="0" rIns="0">
              <a:spAutoFit/>
            </a:bodyPr>
            <a:lstStyle/>
            <a:p>
              <a:pPr algn="r">
                <a:lnSpc>
                  <a:spcPts val="2100"/>
                </a:lnSpc>
              </a:pPr>
              <a:r>
                <a:rPr lang="en-US" sz="1500">
                  <a:solidFill>
                    <a:srgbClr val="9BB0C7"/>
                  </a:solidFill>
                  <a:latin typeface="IBM Plex Mono"/>
                  <a:ea typeface="IBM Plex Mono"/>
                  <a:cs typeface="IBM Plex Mono"/>
                  <a:sym typeface="IBM Plex Mono"/>
                </a:rPr>
                <a:t>07</a:t>
              </a:r>
            </a:p>
          </p:txBody>
        </p:sp>
      </p:grpSp>
      <p:grpSp>
        <p:nvGrpSpPr>
          <p:cNvPr name="Group 6" id="6"/>
          <p:cNvGrpSpPr/>
          <p:nvPr/>
        </p:nvGrpSpPr>
        <p:grpSpPr>
          <a:xfrm rot="0">
            <a:off x="952500" y="4000500"/>
            <a:ext cx="2095500" cy="1143000"/>
            <a:chOff x="0" y="0"/>
            <a:chExt cx="2794000" cy="1524000"/>
          </a:xfrm>
        </p:grpSpPr>
        <p:sp>
          <p:nvSpPr>
            <p:cNvPr name="Freeform 7" id="7"/>
            <p:cNvSpPr/>
            <p:nvPr/>
          </p:nvSpPr>
          <p:spPr>
            <a:xfrm flipH="false" flipV="false" rot="0">
              <a:off x="0" y="0"/>
              <a:ext cx="2794000" cy="1524000"/>
            </a:xfrm>
            <a:custGeom>
              <a:avLst/>
              <a:gdLst/>
              <a:ahLst/>
              <a:cxnLst/>
              <a:rect r="r" b="b" t="t" l="l"/>
              <a:pathLst>
                <a:path h="1524000" w="2794000">
                  <a:moveTo>
                    <a:pt x="80818" y="0"/>
                  </a:moveTo>
                  <a:lnTo>
                    <a:pt x="2713182" y="0"/>
                  </a:lnTo>
                  <a:cubicBezTo>
                    <a:pt x="2734616" y="0"/>
                    <a:pt x="2755173" y="8515"/>
                    <a:pt x="2770329" y="23671"/>
                  </a:cubicBezTo>
                  <a:cubicBezTo>
                    <a:pt x="2785485" y="38827"/>
                    <a:pt x="2794000" y="59384"/>
                    <a:pt x="2794000" y="80818"/>
                  </a:cubicBezTo>
                  <a:lnTo>
                    <a:pt x="2794000" y="1443182"/>
                  </a:lnTo>
                  <a:cubicBezTo>
                    <a:pt x="2794000" y="1464616"/>
                    <a:pt x="2785485" y="1485173"/>
                    <a:pt x="2770329" y="1500329"/>
                  </a:cubicBezTo>
                  <a:cubicBezTo>
                    <a:pt x="2755173" y="1515485"/>
                    <a:pt x="2734616" y="1524000"/>
                    <a:pt x="2713182" y="1524000"/>
                  </a:cubicBezTo>
                  <a:lnTo>
                    <a:pt x="80818" y="1524000"/>
                  </a:lnTo>
                  <a:cubicBezTo>
                    <a:pt x="59384" y="1524000"/>
                    <a:pt x="38827" y="1515485"/>
                    <a:pt x="23671" y="1500329"/>
                  </a:cubicBezTo>
                  <a:cubicBezTo>
                    <a:pt x="8515" y="1485173"/>
                    <a:pt x="0" y="1464616"/>
                    <a:pt x="0" y="1443182"/>
                  </a:cubicBezTo>
                  <a:lnTo>
                    <a:pt x="0" y="80818"/>
                  </a:lnTo>
                  <a:cubicBezTo>
                    <a:pt x="0" y="59384"/>
                    <a:pt x="8515" y="38827"/>
                    <a:pt x="23671" y="23671"/>
                  </a:cubicBezTo>
                  <a:cubicBezTo>
                    <a:pt x="38827" y="8515"/>
                    <a:pt x="59384" y="0"/>
                    <a:pt x="80818" y="0"/>
                  </a:cubicBezTo>
                  <a:close/>
                </a:path>
              </a:pathLst>
            </a:custGeom>
            <a:solidFill>
              <a:srgbClr val="142A42"/>
            </a:solidFill>
            <a:ln w="19050" cap="sq">
              <a:solidFill>
                <a:srgbClr val="20A4F3"/>
              </a:solidFill>
              <a:prstDash val="solid"/>
              <a:miter/>
            </a:ln>
          </p:spPr>
        </p:sp>
        <p:sp>
          <p:nvSpPr>
            <p:cNvPr name="TextBox 8" id="8"/>
            <p:cNvSpPr txBox="true"/>
            <p:nvPr/>
          </p:nvSpPr>
          <p:spPr>
            <a:xfrm>
              <a:off x="0" y="-38100"/>
              <a:ext cx="2794000" cy="1562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USER</a:t>
              </a:r>
            </a:p>
          </p:txBody>
        </p:sp>
      </p:grpSp>
      <p:grpSp>
        <p:nvGrpSpPr>
          <p:cNvPr name="Group 9" id="9"/>
          <p:cNvGrpSpPr/>
          <p:nvPr/>
        </p:nvGrpSpPr>
        <p:grpSpPr>
          <a:xfrm rot="0">
            <a:off x="4953000" y="3714750"/>
            <a:ext cx="2857500" cy="1714500"/>
            <a:chOff x="0" y="0"/>
            <a:chExt cx="3810000" cy="2286000"/>
          </a:xfrm>
        </p:grpSpPr>
        <p:sp>
          <p:nvSpPr>
            <p:cNvPr name="Freeform 10" id="10"/>
            <p:cNvSpPr/>
            <p:nvPr/>
          </p:nvSpPr>
          <p:spPr>
            <a:xfrm flipH="false" flipV="false" rot="0">
              <a:off x="0" y="0"/>
              <a:ext cx="3810000" cy="2286000"/>
            </a:xfrm>
            <a:custGeom>
              <a:avLst/>
              <a:gdLst/>
              <a:ahLst/>
              <a:cxnLst/>
              <a:rect r="r" b="b" t="t" l="l"/>
              <a:pathLst>
                <a:path h="2286000" w="3810000">
                  <a:moveTo>
                    <a:pt x="59267" y="0"/>
                  </a:moveTo>
                  <a:lnTo>
                    <a:pt x="3750733" y="0"/>
                  </a:lnTo>
                  <a:cubicBezTo>
                    <a:pt x="3783466" y="0"/>
                    <a:pt x="3810000" y="26535"/>
                    <a:pt x="3810000" y="59267"/>
                  </a:cubicBezTo>
                  <a:lnTo>
                    <a:pt x="3810000" y="2226733"/>
                  </a:lnTo>
                  <a:cubicBezTo>
                    <a:pt x="3810000" y="2259465"/>
                    <a:pt x="3783466" y="2286000"/>
                    <a:pt x="3750733" y="2286000"/>
                  </a:cubicBezTo>
                  <a:lnTo>
                    <a:pt x="59267" y="2286000"/>
                  </a:lnTo>
                  <a:cubicBezTo>
                    <a:pt x="26535" y="2286000"/>
                    <a:pt x="0" y="2259465"/>
                    <a:pt x="0" y="2226733"/>
                  </a:cubicBezTo>
                  <a:lnTo>
                    <a:pt x="0" y="59267"/>
                  </a:lnTo>
                  <a:cubicBezTo>
                    <a:pt x="0" y="26535"/>
                    <a:pt x="26535" y="0"/>
                    <a:pt x="59267" y="0"/>
                  </a:cubicBezTo>
                  <a:close/>
                </a:path>
              </a:pathLst>
            </a:custGeom>
            <a:solidFill>
              <a:srgbClr val="142A42"/>
            </a:solidFill>
            <a:ln w="19050" cap="sq">
              <a:solidFill>
                <a:srgbClr val="57D7FF"/>
              </a:solidFill>
              <a:prstDash val="solid"/>
              <a:miter/>
            </a:ln>
          </p:spPr>
        </p:sp>
        <p:sp>
          <p:nvSpPr>
            <p:cNvPr name="TextBox 11" id="11"/>
            <p:cNvSpPr txBox="true"/>
            <p:nvPr/>
          </p:nvSpPr>
          <p:spPr>
            <a:xfrm>
              <a:off x="0" y="-38100"/>
              <a:ext cx="3810000" cy="2324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APPLICATION</a:t>
              </a:r>
            </a:p>
            <a:p>
              <a:pPr algn="ctr">
                <a:lnSpc>
                  <a:spcPts val="2310"/>
                </a:lnSpc>
              </a:pPr>
              <a:r>
                <a:rPr lang="en-US" sz="1650" b="true">
                  <a:solidFill>
                    <a:srgbClr val="F7FBFF"/>
                  </a:solidFill>
                  <a:latin typeface="IBM Plex Sans Bold"/>
                  <a:ea typeface="IBM Plex Sans Bold"/>
                  <a:cs typeface="IBM Plex Sans Bold"/>
                  <a:sym typeface="IBM Plex Sans Bold"/>
                </a:rPr>
                <a:t>LOAD BALANCER</a:t>
              </a:r>
            </a:p>
          </p:txBody>
        </p:sp>
      </p:grpSp>
      <p:grpSp>
        <p:nvGrpSpPr>
          <p:cNvPr name="Group 12" id="12"/>
          <p:cNvGrpSpPr/>
          <p:nvPr/>
        </p:nvGrpSpPr>
        <p:grpSpPr>
          <a:xfrm rot="0">
            <a:off x="10572750" y="2619375"/>
            <a:ext cx="3143250" cy="1238250"/>
            <a:chOff x="0" y="0"/>
            <a:chExt cx="4191000" cy="1651000"/>
          </a:xfrm>
        </p:grpSpPr>
        <p:sp>
          <p:nvSpPr>
            <p:cNvPr name="Freeform 13" id="13"/>
            <p:cNvSpPr/>
            <p:nvPr/>
          </p:nvSpPr>
          <p:spPr>
            <a:xfrm flipH="false" flipV="false" rot="0">
              <a:off x="0" y="0"/>
              <a:ext cx="4191000" cy="1651000"/>
            </a:xfrm>
            <a:custGeom>
              <a:avLst/>
              <a:gdLst/>
              <a:ahLst/>
              <a:cxnLst/>
              <a:rect r="r" b="b" t="t" l="l"/>
              <a:pathLst>
                <a:path h="1651000" w="4191000">
                  <a:moveTo>
                    <a:pt x="53879" y="0"/>
                  </a:moveTo>
                  <a:lnTo>
                    <a:pt x="4137121" y="0"/>
                  </a:lnTo>
                  <a:cubicBezTo>
                    <a:pt x="4151411" y="0"/>
                    <a:pt x="4165115" y="5676"/>
                    <a:pt x="4175219" y="15781"/>
                  </a:cubicBezTo>
                  <a:cubicBezTo>
                    <a:pt x="4185324" y="25885"/>
                    <a:pt x="4191000" y="39589"/>
                    <a:pt x="4191000" y="53879"/>
                  </a:cubicBezTo>
                  <a:lnTo>
                    <a:pt x="4191000" y="1597121"/>
                  </a:lnTo>
                  <a:cubicBezTo>
                    <a:pt x="4191000" y="1611411"/>
                    <a:pt x="4185324" y="1625115"/>
                    <a:pt x="4175219" y="1635219"/>
                  </a:cubicBezTo>
                  <a:cubicBezTo>
                    <a:pt x="4165115" y="1645324"/>
                    <a:pt x="4151411" y="1651000"/>
                    <a:pt x="4137121" y="1651000"/>
                  </a:cubicBezTo>
                  <a:lnTo>
                    <a:pt x="53879" y="1651000"/>
                  </a:lnTo>
                  <a:cubicBezTo>
                    <a:pt x="39589" y="1651000"/>
                    <a:pt x="25885" y="1645324"/>
                    <a:pt x="15781" y="1635219"/>
                  </a:cubicBezTo>
                  <a:cubicBezTo>
                    <a:pt x="5676" y="1625115"/>
                    <a:pt x="0" y="1611411"/>
                    <a:pt x="0" y="1597121"/>
                  </a:cubicBezTo>
                  <a:lnTo>
                    <a:pt x="0" y="53879"/>
                  </a:lnTo>
                  <a:cubicBezTo>
                    <a:pt x="0" y="39589"/>
                    <a:pt x="5676" y="25885"/>
                    <a:pt x="15781" y="15781"/>
                  </a:cubicBezTo>
                  <a:cubicBezTo>
                    <a:pt x="25885" y="5676"/>
                    <a:pt x="39589" y="0"/>
                    <a:pt x="53879" y="0"/>
                  </a:cubicBezTo>
                  <a:close/>
                </a:path>
              </a:pathLst>
            </a:custGeom>
            <a:solidFill>
              <a:srgbClr val="142A42"/>
            </a:solidFill>
            <a:ln w="19050" cap="sq">
              <a:solidFill>
                <a:srgbClr val="36D399"/>
              </a:solidFill>
              <a:prstDash val="solid"/>
              <a:miter/>
            </a:ln>
          </p:spPr>
        </p:sp>
        <p:sp>
          <p:nvSpPr>
            <p:cNvPr name="TextBox 14" id="14"/>
            <p:cNvSpPr txBox="true"/>
            <p:nvPr/>
          </p:nvSpPr>
          <p:spPr>
            <a:xfrm>
              <a:off x="0" y="-38100"/>
              <a:ext cx="4191000" cy="1689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WEB-01  •  HEALTHY</a:t>
              </a:r>
            </a:p>
          </p:txBody>
        </p:sp>
      </p:grpSp>
      <p:sp>
        <p:nvSpPr>
          <p:cNvPr name="AutoShape 15" id="15"/>
          <p:cNvSpPr/>
          <p:nvPr/>
        </p:nvSpPr>
        <p:spPr>
          <a:xfrm flipV="true">
            <a:off x="7810500" y="3238500"/>
            <a:ext cx="2762250" cy="1333500"/>
          </a:xfrm>
          <a:prstGeom prst="line">
            <a:avLst/>
          </a:prstGeom>
          <a:ln cap="rnd" w="47625">
            <a:solidFill>
              <a:srgbClr val="20A4F3"/>
            </a:solidFill>
            <a:prstDash val="solid"/>
            <a:headEnd type="none" len="sm" w="sm"/>
            <a:tailEnd type="none" len="sm" w="sm"/>
          </a:ln>
        </p:spPr>
      </p:sp>
      <p:grpSp>
        <p:nvGrpSpPr>
          <p:cNvPr name="Group 16" id="16"/>
          <p:cNvGrpSpPr/>
          <p:nvPr/>
        </p:nvGrpSpPr>
        <p:grpSpPr>
          <a:xfrm rot="0">
            <a:off x="10572750" y="4619625"/>
            <a:ext cx="3143250" cy="1238250"/>
            <a:chOff x="0" y="0"/>
            <a:chExt cx="4191000" cy="1651000"/>
          </a:xfrm>
        </p:grpSpPr>
        <p:sp>
          <p:nvSpPr>
            <p:cNvPr name="Freeform 17" id="17"/>
            <p:cNvSpPr/>
            <p:nvPr/>
          </p:nvSpPr>
          <p:spPr>
            <a:xfrm flipH="false" flipV="false" rot="0">
              <a:off x="0" y="0"/>
              <a:ext cx="4191000" cy="1651000"/>
            </a:xfrm>
            <a:custGeom>
              <a:avLst/>
              <a:gdLst/>
              <a:ahLst/>
              <a:cxnLst/>
              <a:rect r="r" b="b" t="t" l="l"/>
              <a:pathLst>
                <a:path h="1651000" w="4191000">
                  <a:moveTo>
                    <a:pt x="53879" y="0"/>
                  </a:moveTo>
                  <a:lnTo>
                    <a:pt x="4137121" y="0"/>
                  </a:lnTo>
                  <a:cubicBezTo>
                    <a:pt x="4151411" y="0"/>
                    <a:pt x="4165115" y="5676"/>
                    <a:pt x="4175219" y="15781"/>
                  </a:cubicBezTo>
                  <a:cubicBezTo>
                    <a:pt x="4185324" y="25885"/>
                    <a:pt x="4191000" y="39589"/>
                    <a:pt x="4191000" y="53879"/>
                  </a:cubicBezTo>
                  <a:lnTo>
                    <a:pt x="4191000" y="1597121"/>
                  </a:lnTo>
                  <a:cubicBezTo>
                    <a:pt x="4191000" y="1611411"/>
                    <a:pt x="4185324" y="1625115"/>
                    <a:pt x="4175219" y="1635219"/>
                  </a:cubicBezTo>
                  <a:cubicBezTo>
                    <a:pt x="4165115" y="1645324"/>
                    <a:pt x="4151411" y="1651000"/>
                    <a:pt x="4137121" y="1651000"/>
                  </a:cubicBezTo>
                  <a:lnTo>
                    <a:pt x="53879" y="1651000"/>
                  </a:lnTo>
                  <a:cubicBezTo>
                    <a:pt x="39589" y="1651000"/>
                    <a:pt x="25885" y="1645324"/>
                    <a:pt x="15781" y="1635219"/>
                  </a:cubicBezTo>
                  <a:cubicBezTo>
                    <a:pt x="5676" y="1625115"/>
                    <a:pt x="0" y="1611411"/>
                    <a:pt x="0" y="1597121"/>
                  </a:cubicBezTo>
                  <a:lnTo>
                    <a:pt x="0" y="53879"/>
                  </a:lnTo>
                  <a:cubicBezTo>
                    <a:pt x="0" y="39589"/>
                    <a:pt x="5676" y="25885"/>
                    <a:pt x="15781" y="15781"/>
                  </a:cubicBezTo>
                  <a:cubicBezTo>
                    <a:pt x="25885" y="5676"/>
                    <a:pt x="39589" y="0"/>
                    <a:pt x="53879" y="0"/>
                  </a:cubicBezTo>
                  <a:close/>
                </a:path>
              </a:pathLst>
            </a:custGeom>
            <a:solidFill>
              <a:srgbClr val="142A42"/>
            </a:solidFill>
            <a:ln w="19050" cap="sq">
              <a:solidFill>
                <a:srgbClr val="36D399"/>
              </a:solidFill>
              <a:prstDash val="solid"/>
              <a:miter/>
            </a:ln>
          </p:spPr>
        </p:sp>
        <p:sp>
          <p:nvSpPr>
            <p:cNvPr name="TextBox 18" id="18"/>
            <p:cNvSpPr txBox="true"/>
            <p:nvPr/>
          </p:nvSpPr>
          <p:spPr>
            <a:xfrm>
              <a:off x="0" y="-38100"/>
              <a:ext cx="4191000" cy="1689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WEB-02  •  HEALTHY</a:t>
              </a:r>
            </a:p>
          </p:txBody>
        </p:sp>
      </p:grpSp>
      <p:sp>
        <p:nvSpPr>
          <p:cNvPr name="AutoShape 19" id="19"/>
          <p:cNvSpPr/>
          <p:nvPr/>
        </p:nvSpPr>
        <p:spPr>
          <a:xfrm>
            <a:off x="7810500" y="4572000"/>
            <a:ext cx="2762250" cy="666750"/>
          </a:xfrm>
          <a:prstGeom prst="line">
            <a:avLst/>
          </a:prstGeom>
          <a:ln cap="rnd" w="47625">
            <a:solidFill>
              <a:srgbClr val="20A4F3"/>
            </a:solidFill>
            <a:prstDash val="solid"/>
            <a:headEnd type="none" len="sm" w="sm"/>
            <a:tailEnd type="none" len="sm" w="sm"/>
          </a:ln>
        </p:spPr>
      </p:sp>
      <p:grpSp>
        <p:nvGrpSpPr>
          <p:cNvPr name="Group 20" id="20"/>
          <p:cNvGrpSpPr/>
          <p:nvPr/>
        </p:nvGrpSpPr>
        <p:grpSpPr>
          <a:xfrm rot="0">
            <a:off x="10572750" y="6619875"/>
            <a:ext cx="3143250" cy="1238250"/>
            <a:chOff x="0" y="0"/>
            <a:chExt cx="4191000" cy="1651000"/>
          </a:xfrm>
        </p:grpSpPr>
        <p:sp>
          <p:nvSpPr>
            <p:cNvPr name="Freeform 21" id="21"/>
            <p:cNvSpPr/>
            <p:nvPr/>
          </p:nvSpPr>
          <p:spPr>
            <a:xfrm flipH="false" flipV="false" rot="0">
              <a:off x="0" y="0"/>
              <a:ext cx="4191000" cy="1651000"/>
            </a:xfrm>
            <a:custGeom>
              <a:avLst/>
              <a:gdLst/>
              <a:ahLst/>
              <a:cxnLst/>
              <a:rect r="r" b="b" t="t" l="l"/>
              <a:pathLst>
                <a:path h="1651000" w="4191000">
                  <a:moveTo>
                    <a:pt x="53879" y="0"/>
                  </a:moveTo>
                  <a:lnTo>
                    <a:pt x="4137121" y="0"/>
                  </a:lnTo>
                  <a:cubicBezTo>
                    <a:pt x="4151411" y="0"/>
                    <a:pt x="4165115" y="5676"/>
                    <a:pt x="4175219" y="15781"/>
                  </a:cubicBezTo>
                  <a:cubicBezTo>
                    <a:pt x="4185324" y="25885"/>
                    <a:pt x="4191000" y="39589"/>
                    <a:pt x="4191000" y="53879"/>
                  </a:cubicBezTo>
                  <a:lnTo>
                    <a:pt x="4191000" y="1597121"/>
                  </a:lnTo>
                  <a:cubicBezTo>
                    <a:pt x="4191000" y="1611411"/>
                    <a:pt x="4185324" y="1625115"/>
                    <a:pt x="4175219" y="1635219"/>
                  </a:cubicBezTo>
                  <a:cubicBezTo>
                    <a:pt x="4165115" y="1645324"/>
                    <a:pt x="4151411" y="1651000"/>
                    <a:pt x="4137121" y="1651000"/>
                  </a:cubicBezTo>
                  <a:lnTo>
                    <a:pt x="53879" y="1651000"/>
                  </a:lnTo>
                  <a:cubicBezTo>
                    <a:pt x="39589" y="1651000"/>
                    <a:pt x="25885" y="1645324"/>
                    <a:pt x="15781" y="1635219"/>
                  </a:cubicBezTo>
                  <a:cubicBezTo>
                    <a:pt x="5676" y="1625115"/>
                    <a:pt x="0" y="1611411"/>
                    <a:pt x="0" y="1597121"/>
                  </a:cubicBezTo>
                  <a:lnTo>
                    <a:pt x="0" y="53879"/>
                  </a:lnTo>
                  <a:cubicBezTo>
                    <a:pt x="0" y="39589"/>
                    <a:pt x="5676" y="25885"/>
                    <a:pt x="15781" y="15781"/>
                  </a:cubicBezTo>
                  <a:cubicBezTo>
                    <a:pt x="25885" y="5676"/>
                    <a:pt x="39589" y="0"/>
                    <a:pt x="53879" y="0"/>
                  </a:cubicBezTo>
                  <a:close/>
                </a:path>
              </a:pathLst>
            </a:custGeom>
            <a:solidFill>
              <a:srgbClr val="142A42"/>
            </a:solidFill>
            <a:ln w="19050" cap="sq">
              <a:solidFill>
                <a:srgbClr val="36D399"/>
              </a:solidFill>
              <a:prstDash val="solid"/>
              <a:miter/>
            </a:ln>
          </p:spPr>
        </p:sp>
        <p:sp>
          <p:nvSpPr>
            <p:cNvPr name="TextBox 22" id="22"/>
            <p:cNvSpPr txBox="true"/>
            <p:nvPr/>
          </p:nvSpPr>
          <p:spPr>
            <a:xfrm>
              <a:off x="0" y="-38100"/>
              <a:ext cx="4191000" cy="1689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WEB-03  •  HEALTHY</a:t>
              </a:r>
            </a:p>
          </p:txBody>
        </p:sp>
      </p:grpSp>
      <p:sp>
        <p:nvSpPr>
          <p:cNvPr name="AutoShape 23" id="23"/>
          <p:cNvSpPr/>
          <p:nvPr/>
        </p:nvSpPr>
        <p:spPr>
          <a:xfrm>
            <a:off x="7810500" y="4572000"/>
            <a:ext cx="2762250" cy="2667000"/>
          </a:xfrm>
          <a:prstGeom prst="line">
            <a:avLst/>
          </a:prstGeom>
          <a:ln cap="rnd" w="47625">
            <a:solidFill>
              <a:srgbClr val="20A4F3"/>
            </a:solidFill>
            <a:prstDash val="solid"/>
            <a:headEnd type="none" len="sm" w="sm"/>
            <a:tailEnd type="none" len="sm" w="sm"/>
          </a:ln>
        </p:spPr>
      </p:sp>
      <p:sp>
        <p:nvSpPr>
          <p:cNvPr name="AutoShape 24" id="24"/>
          <p:cNvSpPr/>
          <p:nvPr/>
        </p:nvSpPr>
        <p:spPr>
          <a:xfrm>
            <a:off x="3048000" y="4572000"/>
            <a:ext cx="1905000" cy="0"/>
          </a:xfrm>
          <a:prstGeom prst="line">
            <a:avLst/>
          </a:prstGeom>
          <a:ln cap="rnd" w="47625">
            <a:solidFill>
              <a:srgbClr val="20A4F3"/>
            </a:solidFill>
            <a:prstDash val="solid"/>
            <a:headEnd type="none" len="sm" w="sm"/>
            <a:tailEnd type="none" len="sm" w="sm"/>
          </a:ln>
        </p:spPr>
      </p:sp>
      <p:sp>
        <p:nvSpPr>
          <p:cNvPr name="TextBox 25" id="25"/>
          <p:cNvSpPr txBox="true"/>
          <p:nvPr/>
        </p:nvSpPr>
        <p:spPr>
          <a:xfrm rot="0">
            <a:off x="8572500" y="2924175"/>
            <a:ext cx="1714500" cy="2571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REQUEST 1</a:t>
            </a:r>
          </a:p>
        </p:txBody>
      </p:sp>
      <p:sp>
        <p:nvSpPr>
          <p:cNvPr name="TextBox 26" id="26"/>
          <p:cNvSpPr txBox="true"/>
          <p:nvPr/>
        </p:nvSpPr>
        <p:spPr>
          <a:xfrm rot="0">
            <a:off x="8572500" y="4924425"/>
            <a:ext cx="1714500" cy="2571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REQUEST 2</a:t>
            </a:r>
          </a:p>
        </p:txBody>
      </p:sp>
      <p:sp>
        <p:nvSpPr>
          <p:cNvPr name="TextBox 27" id="27"/>
          <p:cNvSpPr txBox="true"/>
          <p:nvPr/>
        </p:nvSpPr>
        <p:spPr>
          <a:xfrm rot="0">
            <a:off x="8572500" y="6924675"/>
            <a:ext cx="1714500" cy="2571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REQUEST 3</a:t>
            </a:r>
          </a:p>
        </p:txBody>
      </p:sp>
      <p:sp>
        <p:nvSpPr>
          <p:cNvPr name="TextBox 28" id="28"/>
          <p:cNvSpPr txBox="true"/>
          <p:nvPr/>
        </p:nvSpPr>
        <p:spPr>
          <a:xfrm rot="0">
            <a:off x="1524000" y="6153150"/>
            <a:ext cx="5810250" cy="331470"/>
          </a:xfrm>
          <a:prstGeom prst="rect">
            <a:avLst/>
          </a:prstGeom>
        </p:spPr>
        <p:txBody>
          <a:bodyPr anchor="t" rtlCol="false" tIns="0" lIns="0" bIns="0" rIns="0">
            <a:spAutoFit/>
          </a:bodyPr>
          <a:lstStyle/>
          <a:p>
            <a:pPr algn="l">
              <a:lnSpc>
                <a:spcPts val="2729"/>
              </a:lnSpc>
            </a:pPr>
            <a:r>
              <a:rPr lang="en-US" sz="1950">
                <a:solidFill>
                  <a:srgbClr val="9BB0C7"/>
                </a:solidFill>
                <a:latin typeface="IBM Plex Mono"/>
                <a:ea typeface="IBM Plex Mono"/>
                <a:cs typeface="IBM Plex Mono"/>
                <a:sym typeface="IBM Plex Mono"/>
              </a:rPr>
              <a:t>Health check  HTTP /</a:t>
            </a:r>
          </a:p>
        </p:txBody>
      </p:sp>
      <p:sp>
        <p:nvSpPr>
          <p:cNvPr name="TextBox 29" id="29"/>
          <p:cNvSpPr txBox="true"/>
          <p:nvPr/>
        </p:nvSpPr>
        <p:spPr>
          <a:xfrm rot="0">
            <a:off x="1238250" y="7600950"/>
            <a:ext cx="7524750" cy="947737"/>
          </a:xfrm>
          <a:prstGeom prst="rect">
            <a:avLst/>
          </a:prstGeom>
        </p:spPr>
        <p:txBody>
          <a:bodyPr anchor="t" rtlCol="false" tIns="0" lIns="0" bIns="0" rIns="0">
            <a:spAutoFit/>
          </a:bodyPr>
          <a:lstStyle/>
          <a:p>
            <a:pPr algn="l">
              <a:lnSpc>
                <a:spcPts val="3712"/>
              </a:lnSpc>
            </a:pPr>
            <a:r>
              <a:rPr lang="en-US" sz="3375" b="true">
                <a:solidFill>
                  <a:srgbClr val="FF9900"/>
                </a:solidFill>
                <a:latin typeface="Montserrat Bold"/>
                <a:ea typeface="Montserrat Bold"/>
                <a:cs typeface="Montserrat Bold"/>
                <a:sym typeface="Montserrat Bold"/>
              </a:rPr>
              <a:t>LIVE TRAFFIC</a:t>
            </a:r>
          </a:p>
          <a:p>
            <a:pPr algn="l">
              <a:lnSpc>
                <a:spcPts val="3712"/>
              </a:lnSpc>
            </a:pPr>
            <a:r>
              <a:rPr lang="en-US" sz="3375" b="true">
                <a:solidFill>
                  <a:srgbClr val="FF9900"/>
                </a:solidFill>
                <a:latin typeface="Montserrat Bold"/>
                <a:ea typeface="Montserrat Bold"/>
                <a:cs typeface="Montserrat Bold"/>
                <a:sym typeface="Montserrat Bold"/>
              </a:rPr>
              <a:t>DISTRIBUTION VERIFIED</a:t>
            </a:r>
          </a:p>
        </p:txBody>
      </p:sp>
      <p:sp>
        <p:nvSpPr>
          <p:cNvPr name="TextBox 30" id="30"/>
          <p:cNvSpPr txBox="true"/>
          <p:nvPr/>
        </p:nvSpPr>
        <p:spPr>
          <a:xfrm rot="0">
            <a:off x="838200" y="9763125"/>
            <a:ext cx="6858000" cy="232410"/>
          </a:xfrm>
          <a:prstGeom prst="rect">
            <a:avLst/>
          </a:prstGeom>
        </p:spPr>
        <p:txBody>
          <a:bodyPr anchor="t" rtlCol="false" tIns="0" lIns="0" bIns="0" rIns="0">
            <a:spAutoFit/>
          </a:bodyPr>
          <a:lstStyle/>
          <a:p>
            <a:pPr algn="l">
              <a:lnSpc>
                <a:spcPts val="1889"/>
              </a:lnSpc>
            </a:pPr>
            <a:r>
              <a:rPr lang="en-US" sz="1350">
                <a:solidFill>
                  <a:srgbClr val="9BB0C7"/>
                </a:solidFill>
                <a:latin typeface="IBM Plex Mono"/>
                <a:ea typeface="IBM Plex Mono"/>
                <a:cs typeface="IBM Plex Mono"/>
                <a:sym typeface="IBM Plex Mono"/>
              </a:rPr>
              <a:t>Y24-SAA-Team391  •  24CC3014-P109  •  08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838200" y="514350"/>
            <a:ext cx="16592550" cy="893445"/>
            <a:chOff x="0" y="0"/>
            <a:chExt cx="22123400" cy="1191260"/>
          </a:xfrm>
        </p:grpSpPr>
        <p:sp>
          <p:nvSpPr>
            <p:cNvPr name="TextBox 3" id="3"/>
            <p:cNvSpPr txBox="true"/>
            <p:nvPr/>
          </p:nvSpPr>
          <p:spPr>
            <a:xfrm rot="0">
              <a:off x="0" y="-28575"/>
              <a:ext cx="889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OPERATIONS</a:t>
              </a:r>
            </a:p>
          </p:txBody>
        </p:sp>
        <p:sp>
          <p:nvSpPr>
            <p:cNvPr name="TextBox 4" id="4"/>
            <p:cNvSpPr txBox="true"/>
            <p:nvPr/>
          </p:nvSpPr>
          <p:spPr>
            <a:xfrm rot="0">
              <a:off x="0" y="508000"/>
              <a:ext cx="18034000" cy="683260"/>
            </a:xfrm>
            <a:prstGeom prst="rect">
              <a:avLst/>
            </a:prstGeom>
          </p:spPr>
          <p:txBody>
            <a:bodyPr anchor="t" rtlCol="false" tIns="0" lIns="0" bIns="0" rIns="0">
              <a:spAutoFit/>
            </a:bodyPr>
            <a:lstStyle/>
            <a:p>
              <a:pPr algn="l">
                <a:lnSpc>
                  <a:spcPts val="3960"/>
                </a:lnSpc>
              </a:pPr>
              <a:r>
                <a:rPr lang="en-US" sz="3600" b="true">
                  <a:solidFill>
                    <a:srgbClr val="F7FBFF"/>
                  </a:solidFill>
                  <a:latin typeface="Montserrat Bold"/>
                  <a:ea typeface="Montserrat Bold"/>
                  <a:cs typeface="Montserrat Bold"/>
                  <a:sym typeface="Montserrat Bold"/>
                </a:rPr>
                <a:t>Observability with CloudWatch</a:t>
              </a:r>
            </a:p>
          </p:txBody>
        </p:sp>
        <p:sp>
          <p:nvSpPr>
            <p:cNvPr name="TextBox 5" id="5"/>
            <p:cNvSpPr txBox="true"/>
            <p:nvPr/>
          </p:nvSpPr>
          <p:spPr>
            <a:xfrm rot="0">
              <a:off x="20345400" y="98425"/>
              <a:ext cx="1778000" cy="333375"/>
            </a:xfrm>
            <a:prstGeom prst="rect">
              <a:avLst/>
            </a:prstGeom>
          </p:spPr>
          <p:txBody>
            <a:bodyPr anchor="t" rtlCol="false" tIns="0" lIns="0" bIns="0" rIns="0">
              <a:spAutoFit/>
            </a:bodyPr>
            <a:lstStyle/>
            <a:p>
              <a:pPr algn="r">
                <a:lnSpc>
                  <a:spcPts val="2100"/>
                </a:lnSpc>
              </a:pPr>
              <a:r>
                <a:rPr lang="en-US" sz="1500">
                  <a:solidFill>
                    <a:srgbClr val="9BB0C7"/>
                  </a:solidFill>
                  <a:latin typeface="IBM Plex Mono"/>
                  <a:ea typeface="IBM Plex Mono"/>
                  <a:cs typeface="IBM Plex Mono"/>
                  <a:sym typeface="IBM Plex Mono"/>
                </a:rPr>
                <a:t>08</a:t>
              </a:r>
            </a:p>
          </p:txBody>
        </p:sp>
      </p:grpSp>
      <p:grpSp>
        <p:nvGrpSpPr>
          <p:cNvPr name="Group 6" id="6"/>
          <p:cNvGrpSpPr/>
          <p:nvPr/>
        </p:nvGrpSpPr>
        <p:grpSpPr>
          <a:xfrm rot="0">
            <a:off x="666750" y="2143125"/>
            <a:ext cx="10382250" cy="6286500"/>
            <a:chOff x="0" y="0"/>
            <a:chExt cx="13843000" cy="8382000"/>
          </a:xfrm>
        </p:grpSpPr>
        <p:grpSp>
          <p:nvGrpSpPr>
            <p:cNvPr name="Group 7" id="7"/>
            <p:cNvGrpSpPr/>
            <p:nvPr/>
          </p:nvGrpSpPr>
          <p:grpSpPr>
            <a:xfrm rot="0">
              <a:off x="0" y="0"/>
              <a:ext cx="13843000" cy="8382000"/>
              <a:chOff x="0" y="0"/>
              <a:chExt cx="13843000" cy="8382000"/>
            </a:xfrm>
          </p:grpSpPr>
          <p:sp>
            <p:nvSpPr>
              <p:cNvPr name="Freeform 8" id="8"/>
              <p:cNvSpPr/>
              <p:nvPr/>
            </p:nvSpPr>
            <p:spPr>
              <a:xfrm flipH="false" flipV="false" rot="0">
                <a:off x="0" y="0"/>
                <a:ext cx="13843000" cy="8382000"/>
              </a:xfrm>
              <a:custGeom>
                <a:avLst/>
                <a:gdLst/>
                <a:ahLst/>
                <a:cxnLst/>
                <a:rect r="r" b="b" t="t" l="l"/>
                <a:pathLst>
                  <a:path h="8382000" w="13843000">
                    <a:moveTo>
                      <a:pt x="0" y="0"/>
                    </a:moveTo>
                    <a:lnTo>
                      <a:pt x="13843000" y="0"/>
                    </a:lnTo>
                    <a:lnTo>
                      <a:pt x="13843000" y="8382000"/>
                    </a:lnTo>
                    <a:lnTo>
                      <a:pt x="0" y="8382000"/>
                    </a:lnTo>
                    <a:close/>
                  </a:path>
                </a:pathLst>
              </a:custGeom>
              <a:solidFill>
                <a:srgbClr val="101E31">
                  <a:alpha val="95686"/>
                </a:srgbClr>
              </a:solidFill>
              <a:ln w="9525" cap="sq">
                <a:solidFill>
                  <a:srgbClr val="29425F">
                    <a:alpha val="95686"/>
                  </a:srgbClr>
                </a:solidFill>
                <a:prstDash val="solid"/>
                <a:miter/>
              </a:ln>
            </p:spPr>
          </p:sp>
          <p:sp>
            <p:nvSpPr>
              <p:cNvPr name="TextBox 9" id="9"/>
              <p:cNvSpPr txBox="true"/>
              <p:nvPr/>
            </p:nvSpPr>
            <p:spPr>
              <a:xfrm>
                <a:off x="0" y="-38100"/>
                <a:ext cx="13843000" cy="8420100"/>
              </a:xfrm>
              <a:prstGeom prst="rect">
                <a:avLst/>
              </a:prstGeom>
            </p:spPr>
            <p:txBody>
              <a:bodyPr anchor="ctr" rtlCol="false" tIns="50800" lIns="50800" bIns="50800" rIns="50800"/>
              <a:lstStyle/>
              <a:p>
                <a:pPr algn="l">
                  <a:lnSpc>
                    <a:spcPts val="1679"/>
                  </a:lnSpc>
                </a:pPr>
              </a:p>
            </p:txBody>
          </p:sp>
        </p:grpSp>
        <p:pic>
          <p:nvPicPr>
            <p:cNvPr name="Picture 10" id="10"/>
            <p:cNvPicPr>
              <a:picLocks noChangeAspect="true"/>
            </p:cNvPicPr>
            <p:nvPr/>
          </p:nvPicPr>
          <p:blipFill>
            <a:blip r:embed="rId3"/>
            <a:stretch>
              <a:fillRect/>
            </a:stretch>
          </p:blipFill>
          <p:spPr>
            <a:xfrm rot="0">
              <a:off x="-1063432" y="-944443"/>
              <a:ext cx="15969863" cy="10270886"/>
            </a:xfrm>
            <a:prstGeom prst="rect">
              <a:avLst/>
            </a:prstGeom>
          </p:spPr>
        </p:pic>
      </p:grpSp>
      <p:grpSp>
        <p:nvGrpSpPr>
          <p:cNvPr name="Group 11" id="11"/>
          <p:cNvGrpSpPr/>
          <p:nvPr/>
        </p:nvGrpSpPr>
        <p:grpSpPr>
          <a:xfrm rot="0">
            <a:off x="11430000" y="2762250"/>
            <a:ext cx="5715000" cy="1190625"/>
            <a:chOff x="0" y="0"/>
            <a:chExt cx="7620000" cy="1587500"/>
          </a:xfrm>
        </p:grpSpPr>
        <p:grpSp>
          <p:nvGrpSpPr>
            <p:cNvPr name="Group 12" id="12"/>
            <p:cNvGrpSpPr/>
            <p:nvPr/>
          </p:nvGrpSpPr>
          <p:grpSpPr>
            <a:xfrm rot="0">
              <a:off x="0" y="0"/>
              <a:ext cx="7620000" cy="1587500"/>
              <a:chOff x="0" y="0"/>
              <a:chExt cx="7620000" cy="1587500"/>
            </a:xfrm>
          </p:grpSpPr>
          <p:sp>
            <p:nvSpPr>
              <p:cNvPr name="Freeform 13" id="13"/>
              <p:cNvSpPr/>
              <p:nvPr/>
            </p:nvSpPr>
            <p:spPr>
              <a:xfrm flipH="false" flipV="false" rot="0">
                <a:off x="0" y="0"/>
                <a:ext cx="7620000" cy="1587500"/>
              </a:xfrm>
              <a:custGeom>
                <a:avLst/>
                <a:gdLst/>
                <a:ahLst/>
                <a:cxnLst/>
                <a:rect r="r" b="b" t="t" l="l"/>
                <a:pathLst>
                  <a:path h="1587500" w="7620000">
                    <a:moveTo>
                      <a:pt x="0" y="0"/>
                    </a:moveTo>
                    <a:lnTo>
                      <a:pt x="7620000" y="0"/>
                    </a:lnTo>
                    <a:lnTo>
                      <a:pt x="7620000" y="1587500"/>
                    </a:lnTo>
                    <a:lnTo>
                      <a:pt x="0" y="1587500"/>
                    </a:lnTo>
                    <a:close/>
                  </a:path>
                </a:pathLst>
              </a:custGeom>
              <a:solidFill>
                <a:srgbClr val="101E31">
                  <a:alpha val="95686"/>
                </a:srgbClr>
              </a:solidFill>
              <a:ln w="9525" cap="sq">
                <a:solidFill>
                  <a:srgbClr val="29425F">
                    <a:alpha val="95686"/>
                  </a:srgbClr>
                </a:solidFill>
                <a:prstDash val="solid"/>
                <a:miter/>
              </a:ln>
            </p:spPr>
          </p:sp>
          <p:sp>
            <p:nvSpPr>
              <p:cNvPr name="TextBox 14" id="14"/>
              <p:cNvSpPr txBox="true"/>
              <p:nvPr/>
            </p:nvSpPr>
            <p:spPr>
              <a:xfrm>
                <a:off x="0" y="-38100"/>
                <a:ext cx="7620000" cy="16256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508000" y="469900"/>
              <a:ext cx="6604000" cy="396240"/>
            </a:xfrm>
            <a:prstGeom prst="rect">
              <a:avLst/>
            </a:prstGeom>
          </p:spPr>
          <p:txBody>
            <a:bodyPr anchor="t" rtlCol="false" tIns="0" lIns="0" bIns="0" rIns="0">
              <a:spAutoFit/>
            </a:bodyPr>
            <a:lstStyle/>
            <a:p>
              <a:pPr algn="l">
                <a:lnSpc>
                  <a:spcPts val="2520"/>
                </a:lnSpc>
              </a:pPr>
              <a:r>
                <a:rPr lang="en-US" sz="1800" b="true">
                  <a:solidFill>
                    <a:srgbClr val="F7FBFF"/>
                  </a:solidFill>
                  <a:latin typeface="IBM Plex Mono Bold"/>
                  <a:ea typeface="IBM Plex Mono Bold"/>
                  <a:cs typeface="IBM Plex Mono Bold"/>
                  <a:sym typeface="IBM Plex Mono Bold"/>
                </a:rPr>
                <a:t>WebFarm-Web01-HighCPU</a:t>
              </a:r>
            </a:p>
          </p:txBody>
        </p:sp>
        <p:sp>
          <p:nvSpPr>
            <p:cNvPr name="TextBox 16" id="16"/>
            <p:cNvSpPr txBox="true"/>
            <p:nvPr/>
          </p:nvSpPr>
          <p:spPr>
            <a:xfrm rot="0">
              <a:off x="508000" y="1130300"/>
              <a:ext cx="6096000" cy="363220"/>
            </a:xfrm>
            <a:prstGeom prst="rect">
              <a:avLst/>
            </a:prstGeom>
          </p:spPr>
          <p:txBody>
            <a:bodyPr anchor="t" rtlCol="false" tIns="0" lIns="0" bIns="0" rIns="0">
              <a:spAutoFit/>
            </a:bodyPr>
            <a:lstStyle/>
            <a:p>
              <a:pPr algn="l">
                <a:lnSpc>
                  <a:spcPts val="2310"/>
                </a:lnSpc>
              </a:pPr>
              <a:r>
                <a:rPr lang="en-US" sz="1650">
                  <a:solidFill>
                    <a:srgbClr val="36D399"/>
                  </a:solidFill>
                  <a:latin typeface="IBM Plex Sans"/>
                  <a:ea typeface="IBM Plex Sans"/>
                  <a:cs typeface="IBM Plex Sans"/>
                  <a:sym typeface="IBM Plex Sans"/>
                </a:rPr>
                <a:t>OK  •  CPU &gt; 70%</a:t>
              </a:r>
            </a:p>
          </p:txBody>
        </p:sp>
      </p:grpSp>
      <p:grpSp>
        <p:nvGrpSpPr>
          <p:cNvPr name="Group 17" id="17"/>
          <p:cNvGrpSpPr/>
          <p:nvPr/>
        </p:nvGrpSpPr>
        <p:grpSpPr>
          <a:xfrm rot="0">
            <a:off x="11430000" y="4238625"/>
            <a:ext cx="5715000" cy="1190625"/>
            <a:chOff x="0" y="0"/>
            <a:chExt cx="7620000" cy="1587500"/>
          </a:xfrm>
        </p:grpSpPr>
        <p:grpSp>
          <p:nvGrpSpPr>
            <p:cNvPr name="Group 18" id="18"/>
            <p:cNvGrpSpPr/>
            <p:nvPr/>
          </p:nvGrpSpPr>
          <p:grpSpPr>
            <a:xfrm rot="0">
              <a:off x="0" y="0"/>
              <a:ext cx="7620000" cy="1587500"/>
              <a:chOff x="0" y="0"/>
              <a:chExt cx="7620000" cy="1587500"/>
            </a:xfrm>
          </p:grpSpPr>
          <p:sp>
            <p:nvSpPr>
              <p:cNvPr name="Freeform 19" id="19"/>
              <p:cNvSpPr/>
              <p:nvPr/>
            </p:nvSpPr>
            <p:spPr>
              <a:xfrm flipH="false" flipV="false" rot="0">
                <a:off x="0" y="0"/>
                <a:ext cx="7620000" cy="1587500"/>
              </a:xfrm>
              <a:custGeom>
                <a:avLst/>
                <a:gdLst/>
                <a:ahLst/>
                <a:cxnLst/>
                <a:rect r="r" b="b" t="t" l="l"/>
                <a:pathLst>
                  <a:path h="1587500" w="7620000">
                    <a:moveTo>
                      <a:pt x="0" y="0"/>
                    </a:moveTo>
                    <a:lnTo>
                      <a:pt x="7620000" y="0"/>
                    </a:lnTo>
                    <a:lnTo>
                      <a:pt x="7620000" y="1587500"/>
                    </a:lnTo>
                    <a:lnTo>
                      <a:pt x="0" y="1587500"/>
                    </a:lnTo>
                    <a:close/>
                  </a:path>
                </a:pathLst>
              </a:custGeom>
              <a:solidFill>
                <a:srgbClr val="101E31">
                  <a:alpha val="95686"/>
                </a:srgbClr>
              </a:solidFill>
              <a:ln w="9525" cap="sq">
                <a:solidFill>
                  <a:srgbClr val="29425F">
                    <a:alpha val="95686"/>
                  </a:srgbClr>
                </a:solidFill>
                <a:prstDash val="solid"/>
                <a:miter/>
              </a:ln>
            </p:spPr>
          </p:sp>
          <p:sp>
            <p:nvSpPr>
              <p:cNvPr name="TextBox 20" id="20"/>
              <p:cNvSpPr txBox="true"/>
              <p:nvPr/>
            </p:nvSpPr>
            <p:spPr>
              <a:xfrm>
                <a:off x="0" y="-38100"/>
                <a:ext cx="7620000" cy="16256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508000" y="469900"/>
              <a:ext cx="6604000" cy="396240"/>
            </a:xfrm>
            <a:prstGeom prst="rect">
              <a:avLst/>
            </a:prstGeom>
          </p:spPr>
          <p:txBody>
            <a:bodyPr anchor="t" rtlCol="false" tIns="0" lIns="0" bIns="0" rIns="0">
              <a:spAutoFit/>
            </a:bodyPr>
            <a:lstStyle/>
            <a:p>
              <a:pPr algn="l">
                <a:lnSpc>
                  <a:spcPts val="2520"/>
                </a:lnSpc>
              </a:pPr>
              <a:r>
                <a:rPr lang="en-US" sz="1800" b="true">
                  <a:solidFill>
                    <a:srgbClr val="F7FBFF"/>
                  </a:solidFill>
                  <a:latin typeface="IBM Plex Mono Bold"/>
                  <a:ea typeface="IBM Plex Mono Bold"/>
                  <a:cs typeface="IBM Plex Mono Bold"/>
                  <a:sym typeface="IBM Plex Mono Bold"/>
                </a:rPr>
                <a:t>WebFarm-Web02-HighCPU</a:t>
              </a:r>
            </a:p>
          </p:txBody>
        </p:sp>
        <p:sp>
          <p:nvSpPr>
            <p:cNvPr name="TextBox 22" id="22"/>
            <p:cNvSpPr txBox="true"/>
            <p:nvPr/>
          </p:nvSpPr>
          <p:spPr>
            <a:xfrm rot="0">
              <a:off x="508000" y="1130300"/>
              <a:ext cx="6096000" cy="363220"/>
            </a:xfrm>
            <a:prstGeom prst="rect">
              <a:avLst/>
            </a:prstGeom>
          </p:spPr>
          <p:txBody>
            <a:bodyPr anchor="t" rtlCol="false" tIns="0" lIns="0" bIns="0" rIns="0">
              <a:spAutoFit/>
            </a:bodyPr>
            <a:lstStyle/>
            <a:p>
              <a:pPr algn="l">
                <a:lnSpc>
                  <a:spcPts val="2310"/>
                </a:lnSpc>
              </a:pPr>
              <a:r>
                <a:rPr lang="en-US" sz="1650">
                  <a:solidFill>
                    <a:srgbClr val="36D399"/>
                  </a:solidFill>
                  <a:latin typeface="IBM Plex Sans"/>
                  <a:ea typeface="IBM Plex Sans"/>
                  <a:cs typeface="IBM Plex Sans"/>
                  <a:sym typeface="IBM Plex Sans"/>
                </a:rPr>
                <a:t>OK  •  CPU &gt; 70%</a:t>
              </a:r>
            </a:p>
          </p:txBody>
        </p:sp>
      </p:grpSp>
      <p:grpSp>
        <p:nvGrpSpPr>
          <p:cNvPr name="Group 23" id="23"/>
          <p:cNvGrpSpPr/>
          <p:nvPr/>
        </p:nvGrpSpPr>
        <p:grpSpPr>
          <a:xfrm rot="0">
            <a:off x="11430000" y="5715000"/>
            <a:ext cx="5715000" cy="1190625"/>
            <a:chOff x="0" y="0"/>
            <a:chExt cx="7620000" cy="1587500"/>
          </a:xfrm>
        </p:grpSpPr>
        <p:grpSp>
          <p:nvGrpSpPr>
            <p:cNvPr name="Group 24" id="24"/>
            <p:cNvGrpSpPr/>
            <p:nvPr/>
          </p:nvGrpSpPr>
          <p:grpSpPr>
            <a:xfrm rot="0">
              <a:off x="0" y="0"/>
              <a:ext cx="7620000" cy="1587500"/>
              <a:chOff x="0" y="0"/>
              <a:chExt cx="7620000" cy="1587500"/>
            </a:xfrm>
          </p:grpSpPr>
          <p:sp>
            <p:nvSpPr>
              <p:cNvPr name="Freeform 25" id="25"/>
              <p:cNvSpPr/>
              <p:nvPr/>
            </p:nvSpPr>
            <p:spPr>
              <a:xfrm flipH="false" flipV="false" rot="0">
                <a:off x="0" y="0"/>
                <a:ext cx="7620000" cy="1587500"/>
              </a:xfrm>
              <a:custGeom>
                <a:avLst/>
                <a:gdLst/>
                <a:ahLst/>
                <a:cxnLst/>
                <a:rect r="r" b="b" t="t" l="l"/>
                <a:pathLst>
                  <a:path h="1587500" w="7620000">
                    <a:moveTo>
                      <a:pt x="0" y="0"/>
                    </a:moveTo>
                    <a:lnTo>
                      <a:pt x="7620000" y="0"/>
                    </a:lnTo>
                    <a:lnTo>
                      <a:pt x="7620000" y="1587500"/>
                    </a:lnTo>
                    <a:lnTo>
                      <a:pt x="0" y="1587500"/>
                    </a:lnTo>
                    <a:close/>
                  </a:path>
                </a:pathLst>
              </a:custGeom>
              <a:solidFill>
                <a:srgbClr val="101E31">
                  <a:alpha val="95686"/>
                </a:srgbClr>
              </a:solidFill>
              <a:ln w="9525" cap="sq">
                <a:solidFill>
                  <a:srgbClr val="29425F">
                    <a:alpha val="95686"/>
                  </a:srgbClr>
                </a:solidFill>
                <a:prstDash val="solid"/>
                <a:miter/>
              </a:ln>
            </p:spPr>
          </p:sp>
          <p:sp>
            <p:nvSpPr>
              <p:cNvPr name="TextBox 26" id="26"/>
              <p:cNvSpPr txBox="true"/>
              <p:nvPr/>
            </p:nvSpPr>
            <p:spPr>
              <a:xfrm>
                <a:off x="0" y="-38100"/>
                <a:ext cx="7620000" cy="1625600"/>
              </a:xfrm>
              <a:prstGeom prst="rect">
                <a:avLst/>
              </a:prstGeom>
            </p:spPr>
            <p:txBody>
              <a:bodyPr anchor="ctr" rtlCol="false" tIns="50800" lIns="50800" bIns="50800" rIns="50800"/>
              <a:lstStyle/>
              <a:p>
                <a:pPr algn="l">
                  <a:lnSpc>
                    <a:spcPts val="1679"/>
                  </a:lnSpc>
                </a:pPr>
              </a:p>
            </p:txBody>
          </p:sp>
        </p:grpSp>
        <p:sp>
          <p:nvSpPr>
            <p:cNvPr name="TextBox 27" id="27"/>
            <p:cNvSpPr txBox="true"/>
            <p:nvPr/>
          </p:nvSpPr>
          <p:spPr>
            <a:xfrm rot="0">
              <a:off x="508000" y="469900"/>
              <a:ext cx="6604000" cy="396240"/>
            </a:xfrm>
            <a:prstGeom prst="rect">
              <a:avLst/>
            </a:prstGeom>
          </p:spPr>
          <p:txBody>
            <a:bodyPr anchor="t" rtlCol="false" tIns="0" lIns="0" bIns="0" rIns="0">
              <a:spAutoFit/>
            </a:bodyPr>
            <a:lstStyle/>
            <a:p>
              <a:pPr algn="l">
                <a:lnSpc>
                  <a:spcPts val="2520"/>
                </a:lnSpc>
              </a:pPr>
              <a:r>
                <a:rPr lang="en-US" sz="1800" b="true">
                  <a:solidFill>
                    <a:srgbClr val="F7FBFF"/>
                  </a:solidFill>
                  <a:latin typeface="IBM Plex Mono Bold"/>
                  <a:ea typeface="IBM Plex Mono Bold"/>
                  <a:cs typeface="IBM Plex Mono Bold"/>
                  <a:sym typeface="IBM Plex Mono Bold"/>
                </a:rPr>
                <a:t>WebFarm-Web03-HighCPU</a:t>
              </a:r>
            </a:p>
          </p:txBody>
        </p:sp>
        <p:sp>
          <p:nvSpPr>
            <p:cNvPr name="TextBox 28" id="28"/>
            <p:cNvSpPr txBox="true"/>
            <p:nvPr/>
          </p:nvSpPr>
          <p:spPr>
            <a:xfrm rot="0">
              <a:off x="508000" y="1130300"/>
              <a:ext cx="6096000" cy="363220"/>
            </a:xfrm>
            <a:prstGeom prst="rect">
              <a:avLst/>
            </a:prstGeom>
          </p:spPr>
          <p:txBody>
            <a:bodyPr anchor="t" rtlCol="false" tIns="0" lIns="0" bIns="0" rIns="0">
              <a:spAutoFit/>
            </a:bodyPr>
            <a:lstStyle/>
            <a:p>
              <a:pPr algn="l">
                <a:lnSpc>
                  <a:spcPts val="2310"/>
                </a:lnSpc>
              </a:pPr>
              <a:r>
                <a:rPr lang="en-US" sz="1650">
                  <a:solidFill>
                    <a:srgbClr val="36D399"/>
                  </a:solidFill>
                  <a:latin typeface="IBM Plex Sans"/>
                  <a:ea typeface="IBM Plex Sans"/>
                  <a:cs typeface="IBM Plex Sans"/>
                  <a:sym typeface="IBM Plex Sans"/>
                </a:rPr>
                <a:t>OK  •  CPU &gt; 70%</a:t>
              </a:r>
            </a:p>
          </p:txBody>
        </p:sp>
      </p:grpSp>
      <p:sp>
        <p:nvSpPr>
          <p:cNvPr name="TextBox 29" id="29"/>
          <p:cNvSpPr txBox="true"/>
          <p:nvPr/>
        </p:nvSpPr>
        <p:spPr>
          <a:xfrm rot="0">
            <a:off x="838200" y="9763125"/>
            <a:ext cx="6858000" cy="232410"/>
          </a:xfrm>
          <a:prstGeom prst="rect">
            <a:avLst/>
          </a:prstGeom>
        </p:spPr>
        <p:txBody>
          <a:bodyPr anchor="t" rtlCol="false" tIns="0" lIns="0" bIns="0" rIns="0">
            <a:spAutoFit/>
          </a:bodyPr>
          <a:lstStyle/>
          <a:p>
            <a:pPr algn="l">
              <a:lnSpc>
                <a:spcPts val="1889"/>
              </a:lnSpc>
            </a:pPr>
            <a:r>
              <a:rPr lang="en-US" sz="1350">
                <a:solidFill>
                  <a:srgbClr val="9BB0C7"/>
                </a:solidFill>
                <a:latin typeface="IBM Plex Mono"/>
                <a:ea typeface="IBM Plex Mono"/>
                <a:cs typeface="IBM Plex Mono"/>
                <a:sym typeface="IBM Plex Mono"/>
              </a:rPr>
              <a:t>Y24-SAA-Team391  •  24CC3014-P109  •  09</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838200" y="514350"/>
            <a:ext cx="16592550" cy="893445"/>
            <a:chOff x="0" y="0"/>
            <a:chExt cx="22123400" cy="1191260"/>
          </a:xfrm>
        </p:grpSpPr>
        <p:sp>
          <p:nvSpPr>
            <p:cNvPr name="TextBox 3" id="3"/>
            <p:cNvSpPr txBox="true"/>
            <p:nvPr/>
          </p:nvSpPr>
          <p:spPr>
            <a:xfrm rot="0">
              <a:off x="0" y="-28575"/>
              <a:ext cx="889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RESILIENCE DESIGN</a:t>
              </a:r>
            </a:p>
          </p:txBody>
        </p:sp>
        <p:sp>
          <p:nvSpPr>
            <p:cNvPr name="TextBox 4" id="4"/>
            <p:cNvSpPr txBox="true"/>
            <p:nvPr/>
          </p:nvSpPr>
          <p:spPr>
            <a:xfrm rot="0">
              <a:off x="0" y="508000"/>
              <a:ext cx="18034000" cy="683260"/>
            </a:xfrm>
            <a:prstGeom prst="rect">
              <a:avLst/>
            </a:prstGeom>
          </p:spPr>
          <p:txBody>
            <a:bodyPr anchor="t" rtlCol="false" tIns="0" lIns="0" bIns="0" rIns="0">
              <a:spAutoFit/>
            </a:bodyPr>
            <a:lstStyle/>
            <a:p>
              <a:pPr algn="l">
                <a:lnSpc>
                  <a:spcPts val="3960"/>
                </a:lnSpc>
              </a:pPr>
              <a:r>
                <a:rPr lang="en-US" sz="3600" b="true">
                  <a:solidFill>
                    <a:srgbClr val="F7FBFF"/>
                  </a:solidFill>
                  <a:latin typeface="Montserrat Bold"/>
                  <a:ea typeface="Montserrat Bold"/>
                  <a:cs typeface="Montserrat Bold"/>
                  <a:sym typeface="Montserrat Bold"/>
                </a:rPr>
                <a:t>High availability &amp; failure handling</a:t>
              </a:r>
            </a:p>
          </p:txBody>
        </p:sp>
        <p:sp>
          <p:nvSpPr>
            <p:cNvPr name="TextBox 5" id="5"/>
            <p:cNvSpPr txBox="true"/>
            <p:nvPr/>
          </p:nvSpPr>
          <p:spPr>
            <a:xfrm rot="0">
              <a:off x="20345400" y="98425"/>
              <a:ext cx="1778000" cy="333375"/>
            </a:xfrm>
            <a:prstGeom prst="rect">
              <a:avLst/>
            </a:prstGeom>
          </p:spPr>
          <p:txBody>
            <a:bodyPr anchor="t" rtlCol="false" tIns="0" lIns="0" bIns="0" rIns="0">
              <a:spAutoFit/>
            </a:bodyPr>
            <a:lstStyle/>
            <a:p>
              <a:pPr algn="r">
                <a:lnSpc>
                  <a:spcPts val="2100"/>
                </a:lnSpc>
              </a:pPr>
              <a:r>
                <a:rPr lang="en-US" sz="1500">
                  <a:solidFill>
                    <a:srgbClr val="9BB0C7"/>
                  </a:solidFill>
                  <a:latin typeface="IBM Plex Mono"/>
                  <a:ea typeface="IBM Plex Mono"/>
                  <a:cs typeface="IBM Plex Mono"/>
                  <a:sym typeface="IBM Plex Mono"/>
                </a:rPr>
                <a:t>09</a:t>
              </a:r>
            </a:p>
          </p:txBody>
        </p:sp>
      </p:grpSp>
      <p:grpSp>
        <p:nvGrpSpPr>
          <p:cNvPr name="Group 6" id="6"/>
          <p:cNvGrpSpPr/>
          <p:nvPr/>
        </p:nvGrpSpPr>
        <p:grpSpPr>
          <a:xfrm rot="0">
            <a:off x="1428750" y="3714750"/>
            <a:ext cx="2857500" cy="1524000"/>
            <a:chOff x="0" y="0"/>
            <a:chExt cx="3810000" cy="2032000"/>
          </a:xfrm>
        </p:grpSpPr>
        <p:sp>
          <p:nvSpPr>
            <p:cNvPr name="Freeform 7" id="7"/>
            <p:cNvSpPr/>
            <p:nvPr/>
          </p:nvSpPr>
          <p:spPr>
            <a:xfrm flipH="false" flipV="false" rot="0">
              <a:off x="0" y="0"/>
              <a:ext cx="3810000" cy="2032000"/>
            </a:xfrm>
            <a:custGeom>
              <a:avLst/>
              <a:gdLst/>
              <a:ahLst/>
              <a:cxnLst/>
              <a:rect r="r" b="b" t="t" l="l"/>
              <a:pathLst>
                <a:path h="2032000" w="3810000">
                  <a:moveTo>
                    <a:pt x="59267" y="0"/>
                  </a:moveTo>
                  <a:lnTo>
                    <a:pt x="3750733" y="0"/>
                  </a:lnTo>
                  <a:cubicBezTo>
                    <a:pt x="3783466" y="0"/>
                    <a:pt x="3810000" y="26535"/>
                    <a:pt x="3810000" y="59267"/>
                  </a:cubicBezTo>
                  <a:lnTo>
                    <a:pt x="3810000" y="1972733"/>
                  </a:lnTo>
                  <a:cubicBezTo>
                    <a:pt x="3810000" y="2005465"/>
                    <a:pt x="3783466" y="2032000"/>
                    <a:pt x="3750733" y="2032000"/>
                  </a:cubicBezTo>
                  <a:lnTo>
                    <a:pt x="59267" y="2032000"/>
                  </a:lnTo>
                  <a:cubicBezTo>
                    <a:pt x="26535" y="2032000"/>
                    <a:pt x="0" y="2005465"/>
                    <a:pt x="0" y="1972733"/>
                  </a:cubicBezTo>
                  <a:lnTo>
                    <a:pt x="0" y="59267"/>
                  </a:lnTo>
                  <a:cubicBezTo>
                    <a:pt x="0" y="26535"/>
                    <a:pt x="26535" y="0"/>
                    <a:pt x="59267" y="0"/>
                  </a:cubicBezTo>
                  <a:close/>
                </a:path>
              </a:pathLst>
            </a:custGeom>
            <a:solidFill>
              <a:srgbClr val="142A42"/>
            </a:solidFill>
            <a:ln w="19050" cap="sq">
              <a:solidFill>
                <a:srgbClr val="20A4F3"/>
              </a:solidFill>
              <a:prstDash val="solid"/>
              <a:miter/>
            </a:ln>
          </p:spPr>
        </p:sp>
        <p:sp>
          <p:nvSpPr>
            <p:cNvPr name="TextBox 8" id="8"/>
            <p:cNvSpPr txBox="true"/>
            <p:nvPr/>
          </p:nvSpPr>
          <p:spPr>
            <a:xfrm>
              <a:off x="0" y="-38100"/>
              <a:ext cx="3810000" cy="20701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ALB</a:t>
              </a:r>
            </a:p>
            <a:p>
              <a:pPr algn="ctr">
                <a:lnSpc>
                  <a:spcPts val="2310"/>
                </a:lnSpc>
              </a:pPr>
              <a:r>
                <a:rPr lang="en-US" sz="1650" b="true">
                  <a:solidFill>
                    <a:srgbClr val="F7FBFF"/>
                  </a:solidFill>
                  <a:latin typeface="IBM Plex Sans Bold"/>
                  <a:ea typeface="IBM Plex Sans Bold"/>
                  <a:cs typeface="IBM Plex Sans Bold"/>
                  <a:sym typeface="IBM Plex Sans Bold"/>
                </a:rPr>
                <a:t>health checks</a:t>
              </a:r>
            </a:p>
          </p:txBody>
        </p:sp>
      </p:grpSp>
      <p:grpSp>
        <p:nvGrpSpPr>
          <p:cNvPr name="Group 9" id="9"/>
          <p:cNvGrpSpPr/>
          <p:nvPr/>
        </p:nvGrpSpPr>
        <p:grpSpPr>
          <a:xfrm rot="0">
            <a:off x="6858000" y="2476500"/>
            <a:ext cx="2857500" cy="1285875"/>
            <a:chOff x="0" y="0"/>
            <a:chExt cx="3810000" cy="1714500"/>
          </a:xfrm>
        </p:grpSpPr>
        <p:sp>
          <p:nvSpPr>
            <p:cNvPr name="Freeform 10" id="10"/>
            <p:cNvSpPr/>
            <p:nvPr/>
          </p:nvSpPr>
          <p:spPr>
            <a:xfrm flipH="false" flipV="false" rot="0">
              <a:off x="0" y="0"/>
              <a:ext cx="3810000" cy="1714500"/>
            </a:xfrm>
            <a:custGeom>
              <a:avLst/>
              <a:gdLst/>
              <a:ahLst/>
              <a:cxnLst/>
              <a:rect r="r" b="b" t="t" l="l"/>
              <a:pathLst>
                <a:path h="1714500" w="3810000">
                  <a:moveTo>
                    <a:pt x="59267" y="0"/>
                  </a:moveTo>
                  <a:lnTo>
                    <a:pt x="3750733" y="0"/>
                  </a:lnTo>
                  <a:cubicBezTo>
                    <a:pt x="3783466" y="0"/>
                    <a:pt x="3810000" y="26535"/>
                    <a:pt x="3810000" y="59267"/>
                  </a:cubicBezTo>
                  <a:lnTo>
                    <a:pt x="3810000" y="1655233"/>
                  </a:lnTo>
                  <a:cubicBezTo>
                    <a:pt x="3810000" y="1687965"/>
                    <a:pt x="3783466" y="1714500"/>
                    <a:pt x="3750733" y="1714500"/>
                  </a:cubicBezTo>
                  <a:lnTo>
                    <a:pt x="59267" y="1714500"/>
                  </a:lnTo>
                  <a:cubicBezTo>
                    <a:pt x="26535" y="1714500"/>
                    <a:pt x="0" y="1687965"/>
                    <a:pt x="0" y="1655233"/>
                  </a:cubicBezTo>
                  <a:lnTo>
                    <a:pt x="0" y="59267"/>
                  </a:lnTo>
                  <a:cubicBezTo>
                    <a:pt x="0" y="26535"/>
                    <a:pt x="26535" y="0"/>
                    <a:pt x="59267" y="0"/>
                  </a:cubicBezTo>
                  <a:close/>
                </a:path>
              </a:pathLst>
            </a:custGeom>
            <a:solidFill>
              <a:srgbClr val="142A42"/>
            </a:solidFill>
            <a:ln w="19050" cap="sq">
              <a:solidFill>
                <a:srgbClr val="36D399"/>
              </a:solidFill>
              <a:prstDash val="solid"/>
              <a:miter/>
            </a:ln>
          </p:spPr>
        </p:sp>
        <p:sp>
          <p:nvSpPr>
            <p:cNvPr name="TextBox 11" id="11"/>
            <p:cNvSpPr txBox="true"/>
            <p:nvPr/>
          </p:nvSpPr>
          <p:spPr>
            <a:xfrm>
              <a:off x="0" y="-38100"/>
              <a:ext cx="3810000" cy="17526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WEB-01</a:t>
              </a:r>
            </a:p>
            <a:p>
              <a:pPr algn="ctr">
                <a:lnSpc>
                  <a:spcPts val="2310"/>
                </a:lnSpc>
              </a:pPr>
              <a:r>
                <a:rPr lang="en-US" sz="1650" b="true">
                  <a:solidFill>
                    <a:srgbClr val="F7FBFF"/>
                  </a:solidFill>
                  <a:latin typeface="IBM Plex Sans Bold"/>
                  <a:ea typeface="IBM Plex Sans Bold"/>
                  <a:cs typeface="IBM Plex Sans Bold"/>
                  <a:sym typeface="IBM Plex Sans Bold"/>
                </a:rPr>
                <a:t>AZ-A</a:t>
              </a:r>
            </a:p>
          </p:txBody>
        </p:sp>
      </p:grpSp>
      <p:sp>
        <p:nvSpPr>
          <p:cNvPr name="AutoShape 12" id="12"/>
          <p:cNvSpPr/>
          <p:nvPr/>
        </p:nvSpPr>
        <p:spPr>
          <a:xfrm flipV="true">
            <a:off x="4286250" y="3124200"/>
            <a:ext cx="2571750" cy="1352550"/>
          </a:xfrm>
          <a:prstGeom prst="line">
            <a:avLst/>
          </a:prstGeom>
          <a:ln cap="rnd" w="47625">
            <a:solidFill>
              <a:srgbClr val="20A4F3"/>
            </a:solidFill>
            <a:prstDash val="solid"/>
            <a:headEnd type="none" len="sm" w="sm"/>
            <a:tailEnd type="none" len="sm" w="sm"/>
          </a:ln>
        </p:spPr>
      </p:sp>
      <p:grpSp>
        <p:nvGrpSpPr>
          <p:cNvPr name="Group 13" id="13"/>
          <p:cNvGrpSpPr/>
          <p:nvPr/>
        </p:nvGrpSpPr>
        <p:grpSpPr>
          <a:xfrm rot="0">
            <a:off x="6858000" y="4572000"/>
            <a:ext cx="2857500" cy="1285875"/>
            <a:chOff x="0" y="0"/>
            <a:chExt cx="3810000" cy="1714500"/>
          </a:xfrm>
        </p:grpSpPr>
        <p:sp>
          <p:nvSpPr>
            <p:cNvPr name="Freeform 14" id="14"/>
            <p:cNvSpPr/>
            <p:nvPr/>
          </p:nvSpPr>
          <p:spPr>
            <a:xfrm flipH="false" flipV="false" rot="0">
              <a:off x="0" y="0"/>
              <a:ext cx="3810000" cy="1714500"/>
            </a:xfrm>
            <a:custGeom>
              <a:avLst/>
              <a:gdLst/>
              <a:ahLst/>
              <a:cxnLst/>
              <a:rect r="r" b="b" t="t" l="l"/>
              <a:pathLst>
                <a:path h="1714500" w="3810000">
                  <a:moveTo>
                    <a:pt x="59267" y="0"/>
                  </a:moveTo>
                  <a:lnTo>
                    <a:pt x="3750733" y="0"/>
                  </a:lnTo>
                  <a:cubicBezTo>
                    <a:pt x="3783466" y="0"/>
                    <a:pt x="3810000" y="26535"/>
                    <a:pt x="3810000" y="59267"/>
                  </a:cubicBezTo>
                  <a:lnTo>
                    <a:pt x="3810000" y="1655233"/>
                  </a:lnTo>
                  <a:cubicBezTo>
                    <a:pt x="3810000" y="1687965"/>
                    <a:pt x="3783466" y="1714500"/>
                    <a:pt x="3750733" y="1714500"/>
                  </a:cubicBezTo>
                  <a:lnTo>
                    <a:pt x="59267" y="1714500"/>
                  </a:lnTo>
                  <a:cubicBezTo>
                    <a:pt x="26535" y="1714500"/>
                    <a:pt x="0" y="1687965"/>
                    <a:pt x="0" y="1655233"/>
                  </a:cubicBezTo>
                  <a:lnTo>
                    <a:pt x="0" y="59267"/>
                  </a:lnTo>
                  <a:cubicBezTo>
                    <a:pt x="0" y="26535"/>
                    <a:pt x="26535" y="0"/>
                    <a:pt x="59267" y="0"/>
                  </a:cubicBezTo>
                  <a:close/>
                </a:path>
              </a:pathLst>
            </a:custGeom>
            <a:solidFill>
              <a:srgbClr val="142A42"/>
            </a:solidFill>
            <a:ln w="19050" cap="sq">
              <a:solidFill>
                <a:srgbClr val="FF6B6B"/>
              </a:solidFill>
              <a:prstDash val="solid"/>
              <a:miter/>
            </a:ln>
          </p:spPr>
        </p:sp>
        <p:sp>
          <p:nvSpPr>
            <p:cNvPr name="TextBox 15" id="15"/>
            <p:cNvSpPr txBox="true"/>
            <p:nvPr/>
          </p:nvSpPr>
          <p:spPr>
            <a:xfrm>
              <a:off x="0" y="-38100"/>
              <a:ext cx="3810000" cy="17526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WEB-02</a:t>
              </a:r>
            </a:p>
            <a:p>
              <a:pPr algn="ctr">
                <a:lnSpc>
                  <a:spcPts val="2310"/>
                </a:lnSpc>
              </a:pPr>
              <a:r>
                <a:rPr lang="en-US" sz="1650" b="true">
                  <a:solidFill>
                    <a:srgbClr val="F7FBFF"/>
                  </a:solidFill>
                  <a:latin typeface="IBM Plex Sans Bold"/>
                  <a:ea typeface="IBM Plex Sans Bold"/>
                  <a:cs typeface="IBM Plex Sans Bold"/>
                  <a:sym typeface="IBM Plex Sans Bold"/>
                </a:rPr>
                <a:t>AZ-B</a:t>
              </a:r>
            </a:p>
          </p:txBody>
        </p:sp>
      </p:grpSp>
      <p:sp>
        <p:nvSpPr>
          <p:cNvPr name="AutoShape 16" id="16"/>
          <p:cNvSpPr/>
          <p:nvPr/>
        </p:nvSpPr>
        <p:spPr>
          <a:xfrm>
            <a:off x="4286250" y="4476750"/>
            <a:ext cx="2571750" cy="742950"/>
          </a:xfrm>
          <a:prstGeom prst="line">
            <a:avLst/>
          </a:prstGeom>
          <a:ln cap="rnd" w="47625">
            <a:solidFill>
              <a:srgbClr val="FF6B6B"/>
            </a:solidFill>
            <a:prstDash val="lgDash"/>
            <a:headEnd type="none" len="sm" w="sm"/>
            <a:tailEnd type="none" len="sm" w="sm"/>
          </a:ln>
        </p:spPr>
      </p:sp>
      <p:grpSp>
        <p:nvGrpSpPr>
          <p:cNvPr name="Group 17" id="17"/>
          <p:cNvGrpSpPr/>
          <p:nvPr/>
        </p:nvGrpSpPr>
        <p:grpSpPr>
          <a:xfrm rot="0">
            <a:off x="6858000" y="6667500"/>
            <a:ext cx="2857500" cy="1285875"/>
            <a:chOff x="0" y="0"/>
            <a:chExt cx="3810000" cy="1714500"/>
          </a:xfrm>
        </p:grpSpPr>
        <p:sp>
          <p:nvSpPr>
            <p:cNvPr name="Freeform 18" id="18"/>
            <p:cNvSpPr/>
            <p:nvPr/>
          </p:nvSpPr>
          <p:spPr>
            <a:xfrm flipH="false" flipV="false" rot="0">
              <a:off x="0" y="0"/>
              <a:ext cx="3810000" cy="1714500"/>
            </a:xfrm>
            <a:custGeom>
              <a:avLst/>
              <a:gdLst/>
              <a:ahLst/>
              <a:cxnLst/>
              <a:rect r="r" b="b" t="t" l="l"/>
              <a:pathLst>
                <a:path h="1714500" w="3810000">
                  <a:moveTo>
                    <a:pt x="59267" y="0"/>
                  </a:moveTo>
                  <a:lnTo>
                    <a:pt x="3750733" y="0"/>
                  </a:lnTo>
                  <a:cubicBezTo>
                    <a:pt x="3783466" y="0"/>
                    <a:pt x="3810000" y="26535"/>
                    <a:pt x="3810000" y="59267"/>
                  </a:cubicBezTo>
                  <a:lnTo>
                    <a:pt x="3810000" y="1655233"/>
                  </a:lnTo>
                  <a:cubicBezTo>
                    <a:pt x="3810000" y="1687965"/>
                    <a:pt x="3783466" y="1714500"/>
                    <a:pt x="3750733" y="1714500"/>
                  </a:cubicBezTo>
                  <a:lnTo>
                    <a:pt x="59267" y="1714500"/>
                  </a:lnTo>
                  <a:cubicBezTo>
                    <a:pt x="26535" y="1714500"/>
                    <a:pt x="0" y="1687965"/>
                    <a:pt x="0" y="1655233"/>
                  </a:cubicBezTo>
                  <a:lnTo>
                    <a:pt x="0" y="59267"/>
                  </a:lnTo>
                  <a:cubicBezTo>
                    <a:pt x="0" y="26535"/>
                    <a:pt x="26535" y="0"/>
                    <a:pt x="59267" y="0"/>
                  </a:cubicBezTo>
                  <a:close/>
                </a:path>
              </a:pathLst>
            </a:custGeom>
            <a:solidFill>
              <a:srgbClr val="142A42"/>
            </a:solidFill>
            <a:ln w="19050" cap="sq">
              <a:solidFill>
                <a:srgbClr val="36D399"/>
              </a:solidFill>
              <a:prstDash val="solid"/>
              <a:miter/>
            </a:ln>
          </p:spPr>
        </p:sp>
        <p:sp>
          <p:nvSpPr>
            <p:cNvPr name="TextBox 19" id="19"/>
            <p:cNvSpPr txBox="true"/>
            <p:nvPr/>
          </p:nvSpPr>
          <p:spPr>
            <a:xfrm>
              <a:off x="0" y="-38100"/>
              <a:ext cx="3810000" cy="17526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WEB-03</a:t>
              </a:r>
            </a:p>
            <a:p>
              <a:pPr algn="ctr">
                <a:lnSpc>
                  <a:spcPts val="2310"/>
                </a:lnSpc>
              </a:pPr>
              <a:r>
                <a:rPr lang="en-US" sz="1650" b="true">
                  <a:solidFill>
                    <a:srgbClr val="F7FBFF"/>
                  </a:solidFill>
                  <a:latin typeface="IBM Plex Sans Bold"/>
                  <a:ea typeface="IBM Plex Sans Bold"/>
                  <a:cs typeface="IBM Plex Sans Bold"/>
                  <a:sym typeface="IBM Plex Sans Bold"/>
                </a:rPr>
                <a:t>AZ-B</a:t>
              </a:r>
            </a:p>
          </p:txBody>
        </p:sp>
      </p:grpSp>
      <p:sp>
        <p:nvSpPr>
          <p:cNvPr name="AutoShape 20" id="20"/>
          <p:cNvSpPr/>
          <p:nvPr/>
        </p:nvSpPr>
        <p:spPr>
          <a:xfrm>
            <a:off x="4286250" y="4476750"/>
            <a:ext cx="2571750" cy="2838450"/>
          </a:xfrm>
          <a:prstGeom prst="line">
            <a:avLst/>
          </a:prstGeom>
          <a:ln cap="rnd" w="47625">
            <a:solidFill>
              <a:srgbClr val="20A4F3"/>
            </a:solidFill>
            <a:prstDash val="solid"/>
            <a:headEnd type="none" len="sm" w="sm"/>
            <a:tailEnd type="none" len="sm" w="sm"/>
          </a:ln>
        </p:spPr>
      </p:sp>
      <p:grpSp>
        <p:nvGrpSpPr>
          <p:cNvPr name="Group 21" id="21"/>
          <p:cNvGrpSpPr/>
          <p:nvPr/>
        </p:nvGrpSpPr>
        <p:grpSpPr>
          <a:xfrm rot="0">
            <a:off x="10668000" y="2095500"/>
            <a:ext cx="6286500" cy="6572250"/>
            <a:chOff x="0" y="0"/>
            <a:chExt cx="8382000" cy="8763000"/>
          </a:xfrm>
        </p:grpSpPr>
        <p:grpSp>
          <p:nvGrpSpPr>
            <p:cNvPr name="Group 22" id="22"/>
            <p:cNvGrpSpPr/>
            <p:nvPr/>
          </p:nvGrpSpPr>
          <p:grpSpPr>
            <a:xfrm rot="0">
              <a:off x="508000" y="0"/>
              <a:ext cx="7874000" cy="8763000"/>
              <a:chOff x="0" y="0"/>
              <a:chExt cx="7874000" cy="8763000"/>
            </a:xfrm>
          </p:grpSpPr>
          <p:sp>
            <p:nvSpPr>
              <p:cNvPr name="Freeform 23" id="23"/>
              <p:cNvSpPr/>
              <p:nvPr/>
            </p:nvSpPr>
            <p:spPr>
              <a:xfrm flipH="false" flipV="false" rot="0">
                <a:off x="0" y="0"/>
                <a:ext cx="7874000" cy="8763000"/>
              </a:xfrm>
              <a:custGeom>
                <a:avLst/>
                <a:gdLst/>
                <a:ahLst/>
                <a:cxnLst/>
                <a:rect r="r" b="b" t="t" l="l"/>
                <a:pathLst>
                  <a:path h="8763000" w="7874000">
                    <a:moveTo>
                      <a:pt x="0" y="0"/>
                    </a:moveTo>
                    <a:lnTo>
                      <a:pt x="7874000" y="0"/>
                    </a:lnTo>
                    <a:lnTo>
                      <a:pt x="7874000" y="8763000"/>
                    </a:lnTo>
                    <a:lnTo>
                      <a:pt x="0" y="8763000"/>
                    </a:lnTo>
                    <a:close/>
                  </a:path>
                </a:pathLst>
              </a:custGeom>
              <a:solidFill>
                <a:srgbClr val="101E31">
                  <a:alpha val="95686"/>
                </a:srgbClr>
              </a:solidFill>
              <a:ln w="9525" cap="sq">
                <a:solidFill>
                  <a:srgbClr val="29425F">
                    <a:alpha val="95686"/>
                  </a:srgbClr>
                </a:solidFill>
                <a:prstDash val="solid"/>
                <a:miter/>
              </a:ln>
            </p:spPr>
          </p:sp>
          <p:sp>
            <p:nvSpPr>
              <p:cNvPr name="TextBox 24" id="24"/>
              <p:cNvSpPr txBox="true"/>
              <p:nvPr/>
            </p:nvSpPr>
            <p:spPr>
              <a:xfrm>
                <a:off x="0" y="-38100"/>
                <a:ext cx="7874000" cy="88011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1016000" y="479425"/>
              <a:ext cx="6350000" cy="333375"/>
            </a:xfrm>
            <a:prstGeom prst="rect">
              <a:avLst/>
            </a:prstGeom>
          </p:spPr>
          <p:txBody>
            <a:bodyPr anchor="t" rtlCol="false" tIns="0" lIns="0" bIns="0" rIns="0">
              <a:spAutoFit/>
            </a:bodyPr>
            <a:lstStyle/>
            <a:p>
              <a:pPr algn="l">
                <a:lnSpc>
                  <a:spcPts val="2100"/>
                </a:lnSpc>
              </a:pPr>
              <a:r>
                <a:rPr lang="en-US" sz="1500" spc="120" b="true">
                  <a:solidFill>
                    <a:srgbClr val="FF9900"/>
                  </a:solidFill>
                  <a:latin typeface="IBM Plex Mono Bold"/>
                  <a:ea typeface="IBM Plex Mono Bold"/>
                  <a:cs typeface="IBM Plex Mono Bold"/>
                  <a:sym typeface="IBM Plex Mono Bold"/>
                </a:rPr>
                <a:t>THEORETICAL SCENARIO</a:t>
              </a:r>
            </a:p>
          </p:txBody>
        </p:sp>
        <p:sp>
          <p:nvSpPr>
            <p:cNvPr name="TextBox 26" id="26"/>
            <p:cNvSpPr txBox="true"/>
            <p:nvPr/>
          </p:nvSpPr>
          <p:spPr>
            <a:xfrm rot="0">
              <a:off x="1016000" y="1358900"/>
              <a:ext cx="6604000" cy="4144645"/>
            </a:xfrm>
            <a:prstGeom prst="rect">
              <a:avLst/>
            </a:prstGeom>
          </p:spPr>
          <p:txBody>
            <a:bodyPr anchor="t" rtlCol="false" tIns="0" lIns="0" bIns="0" rIns="0">
              <a:spAutoFit/>
            </a:bodyPr>
            <a:lstStyle/>
            <a:p>
              <a:pPr algn="l">
                <a:lnSpc>
                  <a:spcPts val="3138"/>
                </a:lnSpc>
              </a:pPr>
              <a:r>
                <a:rPr lang="en-US" sz="2325" b="true">
                  <a:solidFill>
                    <a:srgbClr val="F7FBFF"/>
                  </a:solidFill>
                  <a:latin typeface="IBM Plex Sans Bold"/>
                  <a:ea typeface="IBM Plex Sans Bold"/>
                  <a:cs typeface="IBM Plex Sans Bold"/>
                  <a:sym typeface="IBM Plex Sans Bold"/>
                </a:rPr>
                <a:t>Web-02 fails</a:t>
              </a:r>
            </a:p>
            <a:p>
              <a:pPr algn="l">
                <a:lnSpc>
                  <a:spcPts val="3138"/>
                </a:lnSpc>
              </a:pPr>
              <a:r>
                <a:rPr lang="en-US" sz="2325" b="true">
                  <a:solidFill>
                    <a:srgbClr val="F7FBFF"/>
                  </a:solidFill>
                  <a:latin typeface="IBM Plex Sans Bold"/>
                  <a:ea typeface="IBM Plex Sans Bold"/>
                  <a:cs typeface="IBM Plex Sans Bold"/>
                  <a:sym typeface="IBM Plex Sans Bold"/>
                </a:rPr>
                <a:t>↓</a:t>
              </a:r>
            </a:p>
            <a:p>
              <a:pPr algn="l">
                <a:lnSpc>
                  <a:spcPts val="3138"/>
                </a:lnSpc>
              </a:pPr>
              <a:r>
                <a:rPr lang="en-US" sz="2325" b="true">
                  <a:solidFill>
                    <a:srgbClr val="F7FBFF"/>
                  </a:solidFill>
                  <a:latin typeface="IBM Plex Sans Bold"/>
                  <a:ea typeface="IBM Plex Sans Bold"/>
                  <a:cs typeface="IBM Plex Sans Bold"/>
                  <a:sym typeface="IBM Plex Sans Bold"/>
                </a:rPr>
                <a:t>Health check fails</a:t>
              </a:r>
            </a:p>
            <a:p>
              <a:pPr algn="l">
                <a:lnSpc>
                  <a:spcPts val="3138"/>
                </a:lnSpc>
              </a:pPr>
              <a:r>
                <a:rPr lang="en-US" sz="2325" b="true">
                  <a:solidFill>
                    <a:srgbClr val="F7FBFF"/>
                  </a:solidFill>
                  <a:latin typeface="IBM Plex Sans Bold"/>
                  <a:ea typeface="IBM Plex Sans Bold"/>
                  <a:cs typeface="IBM Plex Sans Bold"/>
                  <a:sym typeface="IBM Plex Sans Bold"/>
                </a:rPr>
                <a:t>↓</a:t>
              </a:r>
            </a:p>
            <a:p>
              <a:pPr algn="l">
                <a:lnSpc>
                  <a:spcPts val="3138"/>
                </a:lnSpc>
              </a:pPr>
              <a:r>
                <a:rPr lang="en-US" sz="2325" b="true">
                  <a:solidFill>
                    <a:srgbClr val="F7FBFF"/>
                  </a:solidFill>
                  <a:latin typeface="IBM Plex Sans Bold"/>
                  <a:ea typeface="IBM Plex Sans Bold"/>
                  <a:cs typeface="IBM Plex Sans Bold"/>
                  <a:sym typeface="IBM Plex Sans Bold"/>
                </a:rPr>
                <a:t>Target marked unhealthy</a:t>
              </a:r>
            </a:p>
            <a:p>
              <a:pPr algn="l">
                <a:lnSpc>
                  <a:spcPts val="3138"/>
                </a:lnSpc>
              </a:pPr>
              <a:r>
                <a:rPr lang="en-US" sz="2325" b="true">
                  <a:solidFill>
                    <a:srgbClr val="F7FBFF"/>
                  </a:solidFill>
                  <a:latin typeface="IBM Plex Sans Bold"/>
                  <a:ea typeface="IBM Plex Sans Bold"/>
                  <a:cs typeface="IBM Plex Sans Bold"/>
                  <a:sym typeface="IBM Plex Sans Bold"/>
                </a:rPr>
                <a:t>↓</a:t>
              </a:r>
            </a:p>
            <a:p>
              <a:pPr algn="l">
                <a:lnSpc>
                  <a:spcPts val="3138"/>
                </a:lnSpc>
              </a:pPr>
              <a:r>
                <a:rPr lang="en-US" sz="2325" b="true">
                  <a:solidFill>
                    <a:srgbClr val="F7FBFF"/>
                  </a:solidFill>
                  <a:latin typeface="IBM Plex Sans Bold"/>
                  <a:ea typeface="IBM Plex Sans Bold"/>
                  <a:cs typeface="IBM Plex Sans Bold"/>
                  <a:sym typeface="IBM Plex Sans Bold"/>
                </a:rPr>
                <a:t>Traffic continues to</a:t>
              </a:r>
            </a:p>
            <a:p>
              <a:pPr algn="l">
                <a:lnSpc>
                  <a:spcPts val="3138"/>
                </a:lnSpc>
              </a:pPr>
              <a:r>
                <a:rPr lang="en-US" sz="2325" b="true">
                  <a:solidFill>
                    <a:srgbClr val="F7FBFF"/>
                  </a:solidFill>
                  <a:latin typeface="IBM Plex Sans Bold"/>
                  <a:ea typeface="IBM Plex Sans Bold"/>
                  <a:cs typeface="IBM Plex Sans Bold"/>
                  <a:sym typeface="IBM Plex Sans Bold"/>
                </a:rPr>
                <a:t>remaining healthy servers</a:t>
              </a:r>
            </a:p>
          </p:txBody>
        </p:sp>
        <p:sp>
          <p:nvSpPr>
            <p:cNvPr name="TextBox 27" id="27"/>
            <p:cNvSpPr txBox="true"/>
            <p:nvPr/>
          </p:nvSpPr>
          <p:spPr>
            <a:xfrm rot="0">
              <a:off x="0" y="8035925"/>
              <a:ext cx="8255000" cy="333375"/>
            </a:xfrm>
            <a:prstGeom prst="rect">
              <a:avLst/>
            </a:prstGeom>
          </p:spPr>
          <p:txBody>
            <a:bodyPr anchor="t" rtlCol="false" tIns="0" lIns="0" bIns="0" rIns="0">
              <a:spAutoFit/>
            </a:bodyPr>
            <a:lstStyle/>
            <a:p>
              <a:pPr algn="l">
                <a:lnSpc>
                  <a:spcPts val="2100"/>
                </a:lnSpc>
              </a:pPr>
              <a:r>
                <a:rPr lang="en-US" sz="1500">
                  <a:solidFill>
                    <a:srgbClr val="FF9900"/>
                  </a:solidFill>
                  <a:latin typeface="IBM Plex Mono"/>
                  <a:ea typeface="IBM Plex Mono"/>
                  <a:cs typeface="IBM Plex Mono"/>
                  <a:sym typeface="IBM Plex Mono"/>
                </a:rPr>
                <a:t>DESIGNED BEHAVIOR — NO FAILURE TEST PERFORMED</a:t>
              </a:r>
            </a:p>
          </p:txBody>
        </p:sp>
      </p:grpSp>
      <p:sp>
        <p:nvSpPr>
          <p:cNvPr name="TextBox 28" id="28"/>
          <p:cNvSpPr txBox="true"/>
          <p:nvPr/>
        </p:nvSpPr>
        <p:spPr>
          <a:xfrm rot="0">
            <a:off x="838200" y="9763125"/>
            <a:ext cx="6858000" cy="232410"/>
          </a:xfrm>
          <a:prstGeom prst="rect">
            <a:avLst/>
          </a:prstGeom>
        </p:spPr>
        <p:txBody>
          <a:bodyPr anchor="t" rtlCol="false" tIns="0" lIns="0" bIns="0" rIns="0">
            <a:spAutoFit/>
          </a:bodyPr>
          <a:lstStyle/>
          <a:p>
            <a:pPr algn="l">
              <a:lnSpc>
                <a:spcPts val="1889"/>
              </a:lnSpc>
            </a:pPr>
            <a:r>
              <a:rPr lang="en-US" sz="1350">
                <a:solidFill>
                  <a:srgbClr val="9BB0C7"/>
                </a:solidFill>
                <a:latin typeface="IBM Plex Mono"/>
                <a:ea typeface="IBM Plex Mono"/>
                <a:cs typeface="IBM Plex Mono"/>
                <a:sym typeface="IBM Plex Mono"/>
              </a:rPr>
              <a:t>Y24-SAA-Team391  •  24CC3014-P109  •  10</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838200" y="514350"/>
            <a:ext cx="16592550" cy="893445"/>
            <a:chOff x="0" y="0"/>
            <a:chExt cx="22123400" cy="1191260"/>
          </a:xfrm>
        </p:grpSpPr>
        <p:sp>
          <p:nvSpPr>
            <p:cNvPr name="TextBox 3" id="3"/>
            <p:cNvSpPr txBox="true"/>
            <p:nvPr/>
          </p:nvSpPr>
          <p:spPr>
            <a:xfrm rot="0">
              <a:off x="0" y="-28575"/>
              <a:ext cx="889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MEASURED OUTCOMES</a:t>
              </a:r>
            </a:p>
          </p:txBody>
        </p:sp>
        <p:sp>
          <p:nvSpPr>
            <p:cNvPr name="TextBox 4" id="4"/>
            <p:cNvSpPr txBox="true"/>
            <p:nvPr/>
          </p:nvSpPr>
          <p:spPr>
            <a:xfrm rot="0">
              <a:off x="0" y="508000"/>
              <a:ext cx="18034000" cy="683260"/>
            </a:xfrm>
            <a:prstGeom prst="rect">
              <a:avLst/>
            </a:prstGeom>
          </p:spPr>
          <p:txBody>
            <a:bodyPr anchor="t" rtlCol="false" tIns="0" lIns="0" bIns="0" rIns="0">
              <a:spAutoFit/>
            </a:bodyPr>
            <a:lstStyle/>
            <a:p>
              <a:pPr algn="l">
                <a:lnSpc>
                  <a:spcPts val="3960"/>
                </a:lnSpc>
              </a:pPr>
              <a:r>
                <a:rPr lang="en-US" sz="3600" b="true">
                  <a:solidFill>
                    <a:srgbClr val="F7FBFF"/>
                  </a:solidFill>
                  <a:latin typeface="Montserrat Bold"/>
                  <a:ea typeface="Montserrat Bold"/>
                  <a:cs typeface="Montserrat Bold"/>
                  <a:sym typeface="Montserrat Bold"/>
                </a:rPr>
                <a:t>Results &amp; project metrics</a:t>
              </a:r>
            </a:p>
          </p:txBody>
        </p:sp>
        <p:sp>
          <p:nvSpPr>
            <p:cNvPr name="TextBox 5" id="5"/>
            <p:cNvSpPr txBox="true"/>
            <p:nvPr/>
          </p:nvSpPr>
          <p:spPr>
            <a:xfrm rot="0">
              <a:off x="20345400" y="98425"/>
              <a:ext cx="1778000" cy="333375"/>
            </a:xfrm>
            <a:prstGeom prst="rect">
              <a:avLst/>
            </a:prstGeom>
          </p:spPr>
          <p:txBody>
            <a:bodyPr anchor="t" rtlCol="false" tIns="0" lIns="0" bIns="0" rIns="0">
              <a:spAutoFit/>
            </a:bodyPr>
            <a:lstStyle/>
            <a:p>
              <a:pPr algn="r">
                <a:lnSpc>
                  <a:spcPts val="2100"/>
                </a:lnSpc>
              </a:pPr>
              <a:r>
                <a:rPr lang="en-US" sz="1500">
                  <a:solidFill>
                    <a:srgbClr val="9BB0C7"/>
                  </a:solidFill>
                  <a:latin typeface="IBM Plex Mono"/>
                  <a:ea typeface="IBM Plex Mono"/>
                  <a:cs typeface="IBM Plex Mono"/>
                  <a:sym typeface="IBM Plex Mono"/>
                </a:rPr>
                <a:t>10</a:t>
              </a:r>
            </a:p>
          </p:txBody>
        </p:sp>
      </p:grpSp>
      <p:grpSp>
        <p:nvGrpSpPr>
          <p:cNvPr name="Group 6" id="6"/>
          <p:cNvGrpSpPr/>
          <p:nvPr/>
        </p:nvGrpSpPr>
        <p:grpSpPr>
          <a:xfrm rot="0">
            <a:off x="904875" y="2238375"/>
            <a:ext cx="5095875" cy="2476500"/>
            <a:chOff x="0" y="0"/>
            <a:chExt cx="6794500" cy="3302000"/>
          </a:xfrm>
        </p:grpSpPr>
        <p:grpSp>
          <p:nvGrpSpPr>
            <p:cNvPr name="Group 7" id="7"/>
            <p:cNvGrpSpPr/>
            <p:nvPr/>
          </p:nvGrpSpPr>
          <p:grpSpPr>
            <a:xfrm rot="0">
              <a:off x="0" y="0"/>
              <a:ext cx="6794500" cy="3302000"/>
              <a:chOff x="0" y="0"/>
              <a:chExt cx="6794500" cy="3302000"/>
            </a:xfrm>
          </p:grpSpPr>
          <p:sp>
            <p:nvSpPr>
              <p:cNvPr name="Freeform 8" id="8"/>
              <p:cNvSpPr/>
              <p:nvPr/>
            </p:nvSpPr>
            <p:spPr>
              <a:xfrm flipH="false" flipV="false" rot="0">
                <a:off x="0" y="0"/>
                <a:ext cx="6794500" cy="3302000"/>
              </a:xfrm>
              <a:custGeom>
                <a:avLst/>
                <a:gdLst/>
                <a:ahLst/>
                <a:cxnLst/>
                <a:rect r="r" b="b" t="t" l="l"/>
                <a:pathLst>
                  <a:path h="3302000" w="6794500">
                    <a:moveTo>
                      <a:pt x="0" y="0"/>
                    </a:moveTo>
                    <a:lnTo>
                      <a:pt x="6794500" y="0"/>
                    </a:lnTo>
                    <a:lnTo>
                      <a:pt x="6794500" y="3302000"/>
                    </a:lnTo>
                    <a:lnTo>
                      <a:pt x="0" y="3302000"/>
                    </a:lnTo>
                    <a:close/>
                  </a:path>
                </a:pathLst>
              </a:custGeom>
              <a:solidFill>
                <a:srgbClr val="101E31">
                  <a:alpha val="95686"/>
                </a:srgbClr>
              </a:solidFill>
              <a:ln w="9525" cap="sq">
                <a:solidFill>
                  <a:srgbClr val="29425F">
                    <a:alpha val="95686"/>
                  </a:srgbClr>
                </a:solidFill>
                <a:prstDash val="solid"/>
                <a:miter/>
              </a:ln>
            </p:spPr>
          </p:sp>
          <p:sp>
            <p:nvSpPr>
              <p:cNvPr name="TextBox 9" id="9"/>
              <p:cNvSpPr txBox="true"/>
              <p:nvPr/>
            </p:nvSpPr>
            <p:spPr>
              <a:xfrm>
                <a:off x="0" y="-38100"/>
                <a:ext cx="6794500" cy="3340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431800" y="695325"/>
              <a:ext cx="6223000" cy="828675"/>
            </a:xfrm>
            <a:prstGeom prst="rect">
              <a:avLst/>
            </a:prstGeom>
          </p:spPr>
          <p:txBody>
            <a:bodyPr anchor="t" rtlCol="false" tIns="0" lIns="0" bIns="0" rIns="0">
              <a:spAutoFit/>
            </a:bodyPr>
            <a:lstStyle/>
            <a:p>
              <a:pPr algn="l">
                <a:lnSpc>
                  <a:spcPts val="4500"/>
                </a:lnSpc>
              </a:pPr>
              <a:r>
                <a:rPr lang="en-US" sz="4500" b="true">
                  <a:solidFill>
                    <a:srgbClr val="FF9900"/>
                  </a:solidFill>
                  <a:latin typeface="Montserrat Bold"/>
                  <a:ea typeface="Montserrat Bold"/>
                  <a:cs typeface="Montserrat Bold"/>
                  <a:sym typeface="Montserrat Bold"/>
                </a:rPr>
                <a:t>8 / 8 GiB</a:t>
              </a:r>
            </a:p>
          </p:txBody>
        </p:sp>
        <p:sp>
          <p:nvSpPr>
            <p:cNvPr name="TextBox 11" id="11"/>
            <p:cNvSpPr txBox="true"/>
            <p:nvPr/>
          </p:nvSpPr>
          <p:spPr>
            <a:xfrm rot="0">
              <a:off x="431800" y="1803400"/>
              <a:ext cx="6223000" cy="396240"/>
            </a:xfrm>
            <a:prstGeom prst="rect">
              <a:avLst/>
            </a:prstGeom>
          </p:spPr>
          <p:txBody>
            <a:bodyPr anchor="t" rtlCol="false" tIns="0" lIns="0" bIns="0" rIns="0">
              <a:spAutoFit/>
            </a:bodyPr>
            <a:lstStyle/>
            <a:p>
              <a:pPr algn="l">
                <a:lnSpc>
                  <a:spcPts val="2520"/>
                </a:lnSpc>
              </a:pPr>
              <a:r>
                <a:rPr lang="en-US" sz="1800">
                  <a:solidFill>
                    <a:srgbClr val="9BB0C7"/>
                  </a:solidFill>
                  <a:latin typeface="IBM Plex Sans"/>
                  <a:ea typeface="IBM Plex Sans"/>
                  <a:cs typeface="IBM Plex Sans"/>
                  <a:sym typeface="IBM Plex Sans"/>
                </a:rPr>
                <a:t>Initial MGN replication</a:t>
              </a:r>
            </a:p>
          </p:txBody>
        </p:sp>
      </p:grpSp>
      <p:grpSp>
        <p:nvGrpSpPr>
          <p:cNvPr name="Group 12" id="12"/>
          <p:cNvGrpSpPr/>
          <p:nvPr/>
        </p:nvGrpSpPr>
        <p:grpSpPr>
          <a:xfrm rot="0">
            <a:off x="6524625" y="2238375"/>
            <a:ext cx="5095875" cy="2476500"/>
            <a:chOff x="0" y="0"/>
            <a:chExt cx="6794500" cy="3302000"/>
          </a:xfrm>
        </p:grpSpPr>
        <p:grpSp>
          <p:nvGrpSpPr>
            <p:cNvPr name="Group 13" id="13"/>
            <p:cNvGrpSpPr/>
            <p:nvPr/>
          </p:nvGrpSpPr>
          <p:grpSpPr>
            <a:xfrm rot="0">
              <a:off x="0" y="0"/>
              <a:ext cx="6794500" cy="3302000"/>
              <a:chOff x="0" y="0"/>
              <a:chExt cx="6794500" cy="3302000"/>
            </a:xfrm>
          </p:grpSpPr>
          <p:sp>
            <p:nvSpPr>
              <p:cNvPr name="Freeform 14" id="14"/>
              <p:cNvSpPr/>
              <p:nvPr/>
            </p:nvSpPr>
            <p:spPr>
              <a:xfrm flipH="false" flipV="false" rot="0">
                <a:off x="0" y="0"/>
                <a:ext cx="6794500" cy="3302000"/>
              </a:xfrm>
              <a:custGeom>
                <a:avLst/>
                <a:gdLst/>
                <a:ahLst/>
                <a:cxnLst/>
                <a:rect r="r" b="b" t="t" l="l"/>
                <a:pathLst>
                  <a:path h="3302000" w="6794500">
                    <a:moveTo>
                      <a:pt x="0" y="0"/>
                    </a:moveTo>
                    <a:lnTo>
                      <a:pt x="6794500" y="0"/>
                    </a:lnTo>
                    <a:lnTo>
                      <a:pt x="6794500" y="3302000"/>
                    </a:lnTo>
                    <a:lnTo>
                      <a:pt x="0" y="3302000"/>
                    </a:lnTo>
                    <a:close/>
                  </a:path>
                </a:pathLst>
              </a:custGeom>
              <a:solidFill>
                <a:srgbClr val="101E31">
                  <a:alpha val="95686"/>
                </a:srgbClr>
              </a:solidFill>
              <a:ln w="9525" cap="sq">
                <a:solidFill>
                  <a:srgbClr val="29425F">
                    <a:alpha val="95686"/>
                  </a:srgbClr>
                </a:solidFill>
                <a:prstDash val="solid"/>
                <a:miter/>
              </a:ln>
            </p:spPr>
          </p:sp>
          <p:sp>
            <p:nvSpPr>
              <p:cNvPr name="TextBox 15" id="15"/>
              <p:cNvSpPr txBox="true"/>
              <p:nvPr/>
            </p:nvSpPr>
            <p:spPr>
              <a:xfrm>
                <a:off x="0" y="-38100"/>
                <a:ext cx="6794500" cy="3340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431800" y="695325"/>
              <a:ext cx="6223000" cy="828675"/>
            </a:xfrm>
            <a:prstGeom prst="rect">
              <a:avLst/>
            </a:prstGeom>
          </p:spPr>
          <p:txBody>
            <a:bodyPr anchor="t" rtlCol="false" tIns="0" lIns="0" bIns="0" rIns="0">
              <a:spAutoFit/>
            </a:bodyPr>
            <a:lstStyle/>
            <a:p>
              <a:pPr algn="l">
                <a:lnSpc>
                  <a:spcPts val="4500"/>
                </a:lnSpc>
              </a:pPr>
              <a:r>
                <a:rPr lang="en-US" sz="4500" b="true">
                  <a:solidFill>
                    <a:srgbClr val="36D399"/>
                  </a:solidFill>
                  <a:latin typeface="Montserrat Bold"/>
                  <a:ea typeface="Montserrat Bold"/>
                  <a:cs typeface="Montserrat Bold"/>
                  <a:sym typeface="Montserrat Bold"/>
                </a:rPr>
                <a:t>3 / 3</a:t>
              </a:r>
            </a:p>
          </p:txBody>
        </p:sp>
        <p:sp>
          <p:nvSpPr>
            <p:cNvPr name="TextBox 17" id="17"/>
            <p:cNvSpPr txBox="true"/>
            <p:nvPr/>
          </p:nvSpPr>
          <p:spPr>
            <a:xfrm rot="0">
              <a:off x="431800" y="1803400"/>
              <a:ext cx="6223000" cy="396240"/>
            </a:xfrm>
            <a:prstGeom prst="rect">
              <a:avLst/>
            </a:prstGeom>
          </p:spPr>
          <p:txBody>
            <a:bodyPr anchor="t" rtlCol="false" tIns="0" lIns="0" bIns="0" rIns="0">
              <a:spAutoFit/>
            </a:bodyPr>
            <a:lstStyle/>
            <a:p>
              <a:pPr algn="l">
                <a:lnSpc>
                  <a:spcPts val="2520"/>
                </a:lnSpc>
              </a:pPr>
              <a:r>
                <a:rPr lang="en-US" sz="1800">
                  <a:solidFill>
                    <a:srgbClr val="9BB0C7"/>
                  </a:solidFill>
                  <a:latin typeface="IBM Plex Sans"/>
                  <a:ea typeface="IBM Plex Sans"/>
                  <a:cs typeface="IBM Plex Sans"/>
                  <a:sym typeface="IBM Plex Sans"/>
                </a:rPr>
                <a:t>Healthy ALB targets</a:t>
              </a:r>
            </a:p>
          </p:txBody>
        </p:sp>
      </p:grpSp>
      <p:grpSp>
        <p:nvGrpSpPr>
          <p:cNvPr name="Group 18" id="18"/>
          <p:cNvGrpSpPr/>
          <p:nvPr/>
        </p:nvGrpSpPr>
        <p:grpSpPr>
          <a:xfrm rot="0">
            <a:off x="12144375" y="2238375"/>
            <a:ext cx="5095875" cy="2476500"/>
            <a:chOff x="0" y="0"/>
            <a:chExt cx="6794500" cy="3302000"/>
          </a:xfrm>
        </p:grpSpPr>
        <p:grpSp>
          <p:nvGrpSpPr>
            <p:cNvPr name="Group 19" id="19"/>
            <p:cNvGrpSpPr/>
            <p:nvPr/>
          </p:nvGrpSpPr>
          <p:grpSpPr>
            <a:xfrm rot="0">
              <a:off x="0" y="0"/>
              <a:ext cx="6794500" cy="3302000"/>
              <a:chOff x="0" y="0"/>
              <a:chExt cx="6794500" cy="3302000"/>
            </a:xfrm>
          </p:grpSpPr>
          <p:sp>
            <p:nvSpPr>
              <p:cNvPr name="Freeform 20" id="20"/>
              <p:cNvSpPr/>
              <p:nvPr/>
            </p:nvSpPr>
            <p:spPr>
              <a:xfrm flipH="false" flipV="false" rot="0">
                <a:off x="0" y="0"/>
                <a:ext cx="6794500" cy="3302000"/>
              </a:xfrm>
              <a:custGeom>
                <a:avLst/>
                <a:gdLst/>
                <a:ahLst/>
                <a:cxnLst/>
                <a:rect r="r" b="b" t="t" l="l"/>
                <a:pathLst>
                  <a:path h="3302000" w="6794500">
                    <a:moveTo>
                      <a:pt x="0" y="0"/>
                    </a:moveTo>
                    <a:lnTo>
                      <a:pt x="6794500" y="0"/>
                    </a:lnTo>
                    <a:lnTo>
                      <a:pt x="6794500" y="3302000"/>
                    </a:lnTo>
                    <a:lnTo>
                      <a:pt x="0" y="3302000"/>
                    </a:lnTo>
                    <a:close/>
                  </a:path>
                </a:pathLst>
              </a:custGeom>
              <a:solidFill>
                <a:srgbClr val="101E31">
                  <a:alpha val="95686"/>
                </a:srgbClr>
              </a:solidFill>
              <a:ln w="9525" cap="sq">
                <a:solidFill>
                  <a:srgbClr val="29425F">
                    <a:alpha val="95686"/>
                  </a:srgbClr>
                </a:solidFill>
                <a:prstDash val="solid"/>
                <a:miter/>
              </a:ln>
            </p:spPr>
          </p:sp>
          <p:sp>
            <p:nvSpPr>
              <p:cNvPr name="TextBox 21" id="21"/>
              <p:cNvSpPr txBox="true"/>
              <p:nvPr/>
            </p:nvSpPr>
            <p:spPr>
              <a:xfrm>
                <a:off x="0" y="-38100"/>
                <a:ext cx="6794500" cy="33401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431800" y="695325"/>
              <a:ext cx="6223000" cy="828675"/>
            </a:xfrm>
            <a:prstGeom prst="rect">
              <a:avLst/>
            </a:prstGeom>
          </p:spPr>
          <p:txBody>
            <a:bodyPr anchor="t" rtlCol="false" tIns="0" lIns="0" bIns="0" rIns="0">
              <a:spAutoFit/>
            </a:bodyPr>
            <a:lstStyle/>
            <a:p>
              <a:pPr algn="l">
                <a:lnSpc>
                  <a:spcPts val="4500"/>
                </a:lnSpc>
              </a:pPr>
              <a:r>
                <a:rPr lang="en-US" sz="4500" b="true">
                  <a:solidFill>
                    <a:srgbClr val="57D7FF"/>
                  </a:solidFill>
                  <a:latin typeface="Montserrat Bold"/>
                  <a:ea typeface="Montserrat Bold"/>
                  <a:cs typeface="Montserrat Bold"/>
                  <a:sym typeface="Montserrat Bold"/>
                </a:rPr>
                <a:t>2</a:t>
              </a:r>
            </a:p>
          </p:txBody>
        </p:sp>
        <p:sp>
          <p:nvSpPr>
            <p:cNvPr name="TextBox 23" id="23"/>
            <p:cNvSpPr txBox="true"/>
            <p:nvPr/>
          </p:nvSpPr>
          <p:spPr>
            <a:xfrm rot="0">
              <a:off x="431800" y="1803400"/>
              <a:ext cx="6223000" cy="396240"/>
            </a:xfrm>
            <a:prstGeom prst="rect">
              <a:avLst/>
            </a:prstGeom>
          </p:spPr>
          <p:txBody>
            <a:bodyPr anchor="t" rtlCol="false" tIns="0" lIns="0" bIns="0" rIns="0">
              <a:spAutoFit/>
            </a:bodyPr>
            <a:lstStyle/>
            <a:p>
              <a:pPr algn="l">
                <a:lnSpc>
                  <a:spcPts val="2520"/>
                </a:lnSpc>
              </a:pPr>
              <a:r>
                <a:rPr lang="en-US" sz="1800">
                  <a:solidFill>
                    <a:srgbClr val="9BB0C7"/>
                  </a:solidFill>
                  <a:latin typeface="IBM Plex Sans"/>
                  <a:ea typeface="IBM Plex Sans"/>
                  <a:cs typeface="IBM Plex Sans"/>
                  <a:sym typeface="IBM Plex Sans"/>
                </a:rPr>
                <a:t>Availability Zones</a:t>
              </a:r>
            </a:p>
          </p:txBody>
        </p:sp>
      </p:grpSp>
      <p:grpSp>
        <p:nvGrpSpPr>
          <p:cNvPr name="Group 24" id="24"/>
          <p:cNvGrpSpPr/>
          <p:nvPr/>
        </p:nvGrpSpPr>
        <p:grpSpPr>
          <a:xfrm rot="0">
            <a:off x="904875" y="5381625"/>
            <a:ext cx="5095875" cy="2476500"/>
            <a:chOff x="0" y="0"/>
            <a:chExt cx="6794500" cy="3302000"/>
          </a:xfrm>
        </p:grpSpPr>
        <p:grpSp>
          <p:nvGrpSpPr>
            <p:cNvPr name="Group 25" id="25"/>
            <p:cNvGrpSpPr/>
            <p:nvPr/>
          </p:nvGrpSpPr>
          <p:grpSpPr>
            <a:xfrm rot="0">
              <a:off x="0" y="0"/>
              <a:ext cx="6794500" cy="3302000"/>
              <a:chOff x="0" y="0"/>
              <a:chExt cx="6794500" cy="3302000"/>
            </a:xfrm>
          </p:grpSpPr>
          <p:sp>
            <p:nvSpPr>
              <p:cNvPr name="Freeform 26" id="26"/>
              <p:cNvSpPr/>
              <p:nvPr/>
            </p:nvSpPr>
            <p:spPr>
              <a:xfrm flipH="false" flipV="false" rot="0">
                <a:off x="0" y="0"/>
                <a:ext cx="6794500" cy="3302000"/>
              </a:xfrm>
              <a:custGeom>
                <a:avLst/>
                <a:gdLst/>
                <a:ahLst/>
                <a:cxnLst/>
                <a:rect r="r" b="b" t="t" l="l"/>
                <a:pathLst>
                  <a:path h="3302000" w="6794500">
                    <a:moveTo>
                      <a:pt x="0" y="0"/>
                    </a:moveTo>
                    <a:lnTo>
                      <a:pt x="6794500" y="0"/>
                    </a:lnTo>
                    <a:lnTo>
                      <a:pt x="6794500" y="3302000"/>
                    </a:lnTo>
                    <a:lnTo>
                      <a:pt x="0" y="3302000"/>
                    </a:lnTo>
                    <a:close/>
                  </a:path>
                </a:pathLst>
              </a:custGeom>
              <a:solidFill>
                <a:srgbClr val="101E31">
                  <a:alpha val="95686"/>
                </a:srgbClr>
              </a:solidFill>
              <a:ln w="9525" cap="sq">
                <a:solidFill>
                  <a:srgbClr val="29425F">
                    <a:alpha val="95686"/>
                  </a:srgbClr>
                </a:solidFill>
                <a:prstDash val="solid"/>
                <a:miter/>
              </a:ln>
            </p:spPr>
          </p:sp>
          <p:sp>
            <p:nvSpPr>
              <p:cNvPr name="TextBox 27" id="27"/>
              <p:cNvSpPr txBox="true"/>
              <p:nvPr/>
            </p:nvSpPr>
            <p:spPr>
              <a:xfrm>
                <a:off x="0" y="-38100"/>
                <a:ext cx="6794500" cy="3340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431800" y="695325"/>
              <a:ext cx="6223000" cy="828675"/>
            </a:xfrm>
            <a:prstGeom prst="rect">
              <a:avLst/>
            </a:prstGeom>
          </p:spPr>
          <p:txBody>
            <a:bodyPr anchor="t" rtlCol="false" tIns="0" lIns="0" bIns="0" rIns="0">
              <a:spAutoFit/>
            </a:bodyPr>
            <a:lstStyle/>
            <a:p>
              <a:pPr algn="l">
                <a:lnSpc>
                  <a:spcPts val="4500"/>
                </a:lnSpc>
              </a:pPr>
              <a:r>
                <a:rPr lang="en-US" sz="4500" b="true">
                  <a:solidFill>
                    <a:srgbClr val="20A4F3"/>
                  </a:solidFill>
                  <a:latin typeface="Montserrat Bold"/>
                  <a:ea typeface="Montserrat Bold"/>
                  <a:cs typeface="Montserrat Bold"/>
                  <a:sym typeface="Montserrat Bold"/>
                </a:rPr>
                <a:t>3</a:t>
              </a:r>
            </a:p>
          </p:txBody>
        </p:sp>
        <p:sp>
          <p:nvSpPr>
            <p:cNvPr name="TextBox 29" id="29"/>
            <p:cNvSpPr txBox="true"/>
            <p:nvPr/>
          </p:nvSpPr>
          <p:spPr>
            <a:xfrm rot="0">
              <a:off x="431800" y="1803400"/>
              <a:ext cx="6223000" cy="396240"/>
            </a:xfrm>
            <a:prstGeom prst="rect">
              <a:avLst/>
            </a:prstGeom>
          </p:spPr>
          <p:txBody>
            <a:bodyPr anchor="t" rtlCol="false" tIns="0" lIns="0" bIns="0" rIns="0">
              <a:spAutoFit/>
            </a:bodyPr>
            <a:lstStyle/>
            <a:p>
              <a:pPr algn="l">
                <a:lnSpc>
                  <a:spcPts val="2520"/>
                </a:lnSpc>
              </a:pPr>
              <a:r>
                <a:rPr lang="en-US" sz="1800">
                  <a:solidFill>
                    <a:srgbClr val="9BB0C7"/>
                  </a:solidFill>
                  <a:latin typeface="IBM Plex Sans"/>
                  <a:ea typeface="IBM Plex Sans"/>
                  <a:cs typeface="IBM Plex Sans"/>
                  <a:sym typeface="IBM Plex Sans"/>
                </a:rPr>
                <a:t>EC2 web servers</a:t>
              </a:r>
            </a:p>
          </p:txBody>
        </p:sp>
      </p:grpSp>
      <p:grpSp>
        <p:nvGrpSpPr>
          <p:cNvPr name="Group 30" id="30"/>
          <p:cNvGrpSpPr/>
          <p:nvPr/>
        </p:nvGrpSpPr>
        <p:grpSpPr>
          <a:xfrm rot="0">
            <a:off x="6524625" y="5381625"/>
            <a:ext cx="5095875" cy="2476500"/>
            <a:chOff x="0" y="0"/>
            <a:chExt cx="6794500" cy="3302000"/>
          </a:xfrm>
        </p:grpSpPr>
        <p:grpSp>
          <p:nvGrpSpPr>
            <p:cNvPr name="Group 31" id="31"/>
            <p:cNvGrpSpPr/>
            <p:nvPr/>
          </p:nvGrpSpPr>
          <p:grpSpPr>
            <a:xfrm rot="0">
              <a:off x="0" y="0"/>
              <a:ext cx="6794500" cy="3302000"/>
              <a:chOff x="0" y="0"/>
              <a:chExt cx="6794500" cy="3302000"/>
            </a:xfrm>
          </p:grpSpPr>
          <p:sp>
            <p:nvSpPr>
              <p:cNvPr name="Freeform 32" id="32"/>
              <p:cNvSpPr/>
              <p:nvPr/>
            </p:nvSpPr>
            <p:spPr>
              <a:xfrm flipH="false" flipV="false" rot="0">
                <a:off x="0" y="0"/>
                <a:ext cx="6794500" cy="3302000"/>
              </a:xfrm>
              <a:custGeom>
                <a:avLst/>
                <a:gdLst/>
                <a:ahLst/>
                <a:cxnLst/>
                <a:rect r="r" b="b" t="t" l="l"/>
                <a:pathLst>
                  <a:path h="3302000" w="6794500">
                    <a:moveTo>
                      <a:pt x="0" y="0"/>
                    </a:moveTo>
                    <a:lnTo>
                      <a:pt x="6794500" y="0"/>
                    </a:lnTo>
                    <a:lnTo>
                      <a:pt x="6794500" y="3302000"/>
                    </a:lnTo>
                    <a:lnTo>
                      <a:pt x="0" y="3302000"/>
                    </a:lnTo>
                    <a:close/>
                  </a:path>
                </a:pathLst>
              </a:custGeom>
              <a:solidFill>
                <a:srgbClr val="101E31">
                  <a:alpha val="95686"/>
                </a:srgbClr>
              </a:solidFill>
              <a:ln w="9525" cap="sq">
                <a:solidFill>
                  <a:srgbClr val="29425F">
                    <a:alpha val="95686"/>
                  </a:srgbClr>
                </a:solidFill>
                <a:prstDash val="solid"/>
                <a:miter/>
              </a:ln>
            </p:spPr>
          </p:sp>
          <p:sp>
            <p:nvSpPr>
              <p:cNvPr name="TextBox 33" id="33"/>
              <p:cNvSpPr txBox="true"/>
              <p:nvPr/>
            </p:nvSpPr>
            <p:spPr>
              <a:xfrm>
                <a:off x="0" y="-38100"/>
                <a:ext cx="6794500" cy="3340100"/>
              </a:xfrm>
              <a:prstGeom prst="rect">
                <a:avLst/>
              </a:prstGeom>
            </p:spPr>
            <p:txBody>
              <a:bodyPr anchor="ctr" rtlCol="false" tIns="50800" lIns="50800" bIns="50800" rIns="50800"/>
              <a:lstStyle/>
              <a:p>
                <a:pPr algn="l">
                  <a:lnSpc>
                    <a:spcPts val="1679"/>
                  </a:lnSpc>
                </a:pPr>
              </a:p>
            </p:txBody>
          </p:sp>
        </p:grpSp>
        <p:sp>
          <p:nvSpPr>
            <p:cNvPr name="TextBox 34" id="34"/>
            <p:cNvSpPr txBox="true"/>
            <p:nvPr/>
          </p:nvSpPr>
          <p:spPr>
            <a:xfrm rot="0">
              <a:off x="431800" y="695325"/>
              <a:ext cx="6223000" cy="828675"/>
            </a:xfrm>
            <a:prstGeom prst="rect">
              <a:avLst/>
            </a:prstGeom>
          </p:spPr>
          <p:txBody>
            <a:bodyPr anchor="t" rtlCol="false" tIns="0" lIns="0" bIns="0" rIns="0">
              <a:spAutoFit/>
            </a:bodyPr>
            <a:lstStyle/>
            <a:p>
              <a:pPr algn="l">
                <a:lnSpc>
                  <a:spcPts val="4500"/>
                </a:lnSpc>
              </a:pPr>
              <a:r>
                <a:rPr lang="en-US" sz="4500" b="true">
                  <a:solidFill>
                    <a:srgbClr val="57D7FF"/>
                  </a:solidFill>
                  <a:latin typeface="Montserrat Bold"/>
                  <a:ea typeface="Montserrat Bold"/>
                  <a:cs typeface="Montserrat Bold"/>
                  <a:sym typeface="Montserrat Bold"/>
                </a:rPr>
                <a:t>3</a:t>
              </a:r>
            </a:p>
          </p:txBody>
        </p:sp>
        <p:sp>
          <p:nvSpPr>
            <p:cNvPr name="TextBox 35" id="35"/>
            <p:cNvSpPr txBox="true"/>
            <p:nvPr/>
          </p:nvSpPr>
          <p:spPr>
            <a:xfrm rot="0">
              <a:off x="431800" y="1803400"/>
              <a:ext cx="6223000" cy="396240"/>
            </a:xfrm>
            <a:prstGeom prst="rect">
              <a:avLst/>
            </a:prstGeom>
          </p:spPr>
          <p:txBody>
            <a:bodyPr anchor="t" rtlCol="false" tIns="0" lIns="0" bIns="0" rIns="0">
              <a:spAutoFit/>
            </a:bodyPr>
            <a:lstStyle/>
            <a:p>
              <a:pPr algn="l">
                <a:lnSpc>
                  <a:spcPts val="2520"/>
                </a:lnSpc>
              </a:pPr>
              <a:r>
                <a:rPr lang="en-US" sz="1800">
                  <a:solidFill>
                    <a:srgbClr val="9BB0C7"/>
                  </a:solidFill>
                  <a:latin typeface="IBM Plex Sans"/>
                  <a:ea typeface="IBM Plex Sans"/>
                  <a:cs typeface="IBM Plex Sans"/>
                  <a:sym typeface="IBM Plex Sans"/>
                </a:rPr>
                <a:t>CloudWatch CPU alarms</a:t>
              </a:r>
            </a:p>
          </p:txBody>
        </p:sp>
      </p:grpSp>
      <p:grpSp>
        <p:nvGrpSpPr>
          <p:cNvPr name="Group 36" id="36"/>
          <p:cNvGrpSpPr/>
          <p:nvPr/>
        </p:nvGrpSpPr>
        <p:grpSpPr>
          <a:xfrm rot="0">
            <a:off x="12144375" y="5381625"/>
            <a:ext cx="5095875" cy="2476500"/>
            <a:chOff x="0" y="0"/>
            <a:chExt cx="6794500" cy="3302000"/>
          </a:xfrm>
        </p:grpSpPr>
        <p:grpSp>
          <p:nvGrpSpPr>
            <p:cNvPr name="Group 37" id="37"/>
            <p:cNvGrpSpPr/>
            <p:nvPr/>
          </p:nvGrpSpPr>
          <p:grpSpPr>
            <a:xfrm rot="0">
              <a:off x="0" y="0"/>
              <a:ext cx="6794500" cy="3302000"/>
              <a:chOff x="0" y="0"/>
              <a:chExt cx="6794500" cy="3302000"/>
            </a:xfrm>
          </p:grpSpPr>
          <p:sp>
            <p:nvSpPr>
              <p:cNvPr name="Freeform 38" id="38"/>
              <p:cNvSpPr/>
              <p:nvPr/>
            </p:nvSpPr>
            <p:spPr>
              <a:xfrm flipH="false" flipV="false" rot="0">
                <a:off x="0" y="0"/>
                <a:ext cx="6794500" cy="3302000"/>
              </a:xfrm>
              <a:custGeom>
                <a:avLst/>
                <a:gdLst/>
                <a:ahLst/>
                <a:cxnLst/>
                <a:rect r="r" b="b" t="t" l="l"/>
                <a:pathLst>
                  <a:path h="3302000" w="6794500">
                    <a:moveTo>
                      <a:pt x="0" y="0"/>
                    </a:moveTo>
                    <a:lnTo>
                      <a:pt x="6794500" y="0"/>
                    </a:lnTo>
                    <a:lnTo>
                      <a:pt x="6794500" y="3302000"/>
                    </a:lnTo>
                    <a:lnTo>
                      <a:pt x="0" y="3302000"/>
                    </a:lnTo>
                    <a:close/>
                  </a:path>
                </a:pathLst>
              </a:custGeom>
              <a:solidFill>
                <a:srgbClr val="101E31">
                  <a:alpha val="95686"/>
                </a:srgbClr>
              </a:solidFill>
              <a:ln w="9525" cap="sq">
                <a:solidFill>
                  <a:srgbClr val="29425F">
                    <a:alpha val="95686"/>
                  </a:srgbClr>
                </a:solidFill>
                <a:prstDash val="solid"/>
                <a:miter/>
              </a:ln>
            </p:spPr>
          </p:sp>
          <p:sp>
            <p:nvSpPr>
              <p:cNvPr name="TextBox 39" id="39"/>
              <p:cNvSpPr txBox="true"/>
              <p:nvPr/>
            </p:nvSpPr>
            <p:spPr>
              <a:xfrm>
                <a:off x="0" y="-38100"/>
                <a:ext cx="6794500" cy="3340100"/>
              </a:xfrm>
              <a:prstGeom prst="rect">
                <a:avLst/>
              </a:prstGeom>
            </p:spPr>
            <p:txBody>
              <a:bodyPr anchor="ctr" rtlCol="false" tIns="50800" lIns="50800" bIns="50800" rIns="50800"/>
              <a:lstStyle/>
              <a:p>
                <a:pPr algn="l">
                  <a:lnSpc>
                    <a:spcPts val="1679"/>
                  </a:lnSpc>
                </a:pPr>
              </a:p>
            </p:txBody>
          </p:sp>
        </p:grpSp>
        <p:sp>
          <p:nvSpPr>
            <p:cNvPr name="TextBox 40" id="40"/>
            <p:cNvSpPr txBox="true"/>
            <p:nvPr/>
          </p:nvSpPr>
          <p:spPr>
            <a:xfrm rot="0">
              <a:off x="431800" y="695325"/>
              <a:ext cx="6223000" cy="828675"/>
            </a:xfrm>
            <a:prstGeom prst="rect">
              <a:avLst/>
            </a:prstGeom>
          </p:spPr>
          <p:txBody>
            <a:bodyPr anchor="t" rtlCol="false" tIns="0" lIns="0" bIns="0" rIns="0">
              <a:spAutoFit/>
            </a:bodyPr>
            <a:lstStyle/>
            <a:p>
              <a:pPr algn="l">
                <a:lnSpc>
                  <a:spcPts val="4500"/>
                </a:lnSpc>
              </a:pPr>
              <a:r>
                <a:rPr lang="en-US" sz="4500" b="true">
                  <a:solidFill>
                    <a:srgbClr val="FF9900"/>
                  </a:solidFill>
                  <a:latin typeface="Montserrat Bold"/>
                  <a:ea typeface="Montserrat Bold"/>
                  <a:cs typeface="Montserrat Bold"/>
                  <a:sym typeface="Montserrat Bold"/>
                </a:rPr>
                <a:t>1</a:t>
              </a:r>
            </a:p>
          </p:txBody>
        </p:sp>
        <p:sp>
          <p:nvSpPr>
            <p:cNvPr name="TextBox 41" id="41"/>
            <p:cNvSpPr txBox="true"/>
            <p:nvPr/>
          </p:nvSpPr>
          <p:spPr>
            <a:xfrm rot="0">
              <a:off x="431800" y="1803400"/>
              <a:ext cx="6223000" cy="396240"/>
            </a:xfrm>
            <a:prstGeom prst="rect">
              <a:avLst/>
            </a:prstGeom>
          </p:spPr>
          <p:txBody>
            <a:bodyPr anchor="t" rtlCol="false" tIns="0" lIns="0" bIns="0" rIns="0">
              <a:spAutoFit/>
            </a:bodyPr>
            <a:lstStyle/>
            <a:p>
              <a:pPr algn="l">
                <a:lnSpc>
                  <a:spcPts val="2520"/>
                </a:lnSpc>
              </a:pPr>
              <a:r>
                <a:rPr lang="en-US" sz="1800">
                  <a:solidFill>
                    <a:srgbClr val="9BB0C7"/>
                  </a:solidFill>
                  <a:latin typeface="IBM Plex Sans"/>
                  <a:ea typeface="IBM Plex Sans"/>
                  <a:cs typeface="IBM Plex Sans"/>
                  <a:sym typeface="IBM Plex Sans"/>
                </a:rPr>
                <a:t>Working ALB endpoint</a:t>
              </a:r>
            </a:p>
          </p:txBody>
        </p:sp>
      </p:grpSp>
      <p:sp>
        <p:nvSpPr>
          <p:cNvPr name="TextBox 42" id="42"/>
          <p:cNvSpPr txBox="true"/>
          <p:nvPr/>
        </p:nvSpPr>
        <p:spPr>
          <a:xfrm rot="0">
            <a:off x="2571750" y="8724900"/>
            <a:ext cx="13144500" cy="331470"/>
          </a:xfrm>
          <a:prstGeom prst="rect">
            <a:avLst/>
          </a:prstGeom>
        </p:spPr>
        <p:txBody>
          <a:bodyPr anchor="t" rtlCol="false" tIns="0" lIns="0" bIns="0" rIns="0">
            <a:spAutoFit/>
          </a:bodyPr>
          <a:lstStyle/>
          <a:p>
            <a:pPr algn="ctr">
              <a:lnSpc>
                <a:spcPts val="2729"/>
              </a:lnSpc>
            </a:pPr>
            <a:r>
              <a:rPr lang="en-US" sz="1950" b="true">
                <a:solidFill>
                  <a:srgbClr val="F7FBFF"/>
                </a:solidFill>
                <a:latin typeface="IBM Plex Mono Bold"/>
                <a:ea typeface="IBM Plex Mono Bold"/>
                <a:cs typeface="IBM Plex Mono Bold"/>
                <a:sym typeface="IBM Plex Mono Bold"/>
              </a:rPr>
              <a:t>INITIAL REPLICATION COMPLETED  •  LIVE TRAFFIC DISTRIBUTION VERIFIED</a:t>
            </a:r>
          </a:p>
        </p:txBody>
      </p:sp>
      <p:sp>
        <p:nvSpPr>
          <p:cNvPr name="TextBox 43" id="43"/>
          <p:cNvSpPr txBox="true"/>
          <p:nvPr/>
        </p:nvSpPr>
        <p:spPr>
          <a:xfrm rot="0">
            <a:off x="838200" y="9763125"/>
            <a:ext cx="6858000" cy="232410"/>
          </a:xfrm>
          <a:prstGeom prst="rect">
            <a:avLst/>
          </a:prstGeom>
        </p:spPr>
        <p:txBody>
          <a:bodyPr anchor="t" rtlCol="false" tIns="0" lIns="0" bIns="0" rIns="0">
            <a:spAutoFit/>
          </a:bodyPr>
          <a:lstStyle/>
          <a:p>
            <a:pPr algn="l">
              <a:lnSpc>
                <a:spcPts val="1889"/>
              </a:lnSpc>
            </a:pPr>
            <a:r>
              <a:rPr lang="en-US" sz="1350">
                <a:solidFill>
                  <a:srgbClr val="9BB0C7"/>
                </a:solidFill>
                <a:latin typeface="IBM Plex Mono"/>
                <a:ea typeface="IBM Plex Mono"/>
                <a:cs typeface="IBM Plex Mono"/>
                <a:sym typeface="IBM Plex Mono"/>
              </a:rPr>
              <a:t>Y24-SAA-Team391  •  24CC3014-P109  •  11</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838200" y="514350"/>
            <a:ext cx="16592550" cy="893445"/>
            <a:chOff x="0" y="0"/>
            <a:chExt cx="22123400" cy="1191260"/>
          </a:xfrm>
        </p:grpSpPr>
        <p:sp>
          <p:nvSpPr>
            <p:cNvPr name="TextBox 3" id="3"/>
            <p:cNvSpPr txBox="true"/>
            <p:nvPr/>
          </p:nvSpPr>
          <p:spPr>
            <a:xfrm rot="0">
              <a:off x="0" y="-28575"/>
              <a:ext cx="889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ENGINEERING TRANSPARENCY</a:t>
              </a:r>
            </a:p>
          </p:txBody>
        </p:sp>
        <p:sp>
          <p:nvSpPr>
            <p:cNvPr name="TextBox 4" id="4"/>
            <p:cNvSpPr txBox="true"/>
            <p:nvPr/>
          </p:nvSpPr>
          <p:spPr>
            <a:xfrm rot="0">
              <a:off x="0" y="508000"/>
              <a:ext cx="18034000" cy="683260"/>
            </a:xfrm>
            <a:prstGeom prst="rect">
              <a:avLst/>
            </a:prstGeom>
          </p:spPr>
          <p:txBody>
            <a:bodyPr anchor="t" rtlCol="false" tIns="0" lIns="0" bIns="0" rIns="0">
              <a:spAutoFit/>
            </a:bodyPr>
            <a:lstStyle/>
            <a:p>
              <a:pPr algn="l">
                <a:lnSpc>
                  <a:spcPts val="3960"/>
                </a:lnSpc>
              </a:pPr>
              <a:r>
                <a:rPr lang="en-US" sz="3600" b="true">
                  <a:solidFill>
                    <a:srgbClr val="F7FBFF"/>
                  </a:solidFill>
                  <a:latin typeface="Montserrat Bold"/>
                  <a:ea typeface="Montserrat Bold"/>
                  <a:cs typeface="Montserrat Bold"/>
                  <a:sym typeface="Montserrat Bold"/>
                </a:rPr>
                <a:t>Challenges &amp; decisions</a:t>
              </a:r>
            </a:p>
          </p:txBody>
        </p:sp>
        <p:sp>
          <p:nvSpPr>
            <p:cNvPr name="TextBox 5" id="5"/>
            <p:cNvSpPr txBox="true"/>
            <p:nvPr/>
          </p:nvSpPr>
          <p:spPr>
            <a:xfrm rot="0">
              <a:off x="20345400" y="98425"/>
              <a:ext cx="1778000" cy="333375"/>
            </a:xfrm>
            <a:prstGeom prst="rect">
              <a:avLst/>
            </a:prstGeom>
          </p:spPr>
          <p:txBody>
            <a:bodyPr anchor="t" rtlCol="false" tIns="0" lIns="0" bIns="0" rIns="0">
              <a:spAutoFit/>
            </a:bodyPr>
            <a:lstStyle/>
            <a:p>
              <a:pPr algn="r">
                <a:lnSpc>
                  <a:spcPts val="2100"/>
                </a:lnSpc>
              </a:pPr>
              <a:r>
                <a:rPr lang="en-US" sz="1500">
                  <a:solidFill>
                    <a:srgbClr val="9BB0C7"/>
                  </a:solidFill>
                  <a:latin typeface="IBM Plex Mono"/>
                  <a:ea typeface="IBM Plex Mono"/>
                  <a:cs typeface="IBM Plex Mono"/>
                  <a:sym typeface="IBM Plex Mono"/>
                </a:rPr>
                <a:t>11</a:t>
              </a:r>
            </a:p>
          </p:txBody>
        </p:sp>
      </p:grpSp>
      <p:grpSp>
        <p:nvGrpSpPr>
          <p:cNvPr name="Group 6" id="6"/>
          <p:cNvGrpSpPr/>
          <p:nvPr/>
        </p:nvGrpSpPr>
        <p:grpSpPr>
          <a:xfrm rot="0">
            <a:off x="809625" y="2286000"/>
            <a:ext cx="5334000" cy="5810250"/>
            <a:chOff x="0" y="0"/>
            <a:chExt cx="7112000" cy="7747000"/>
          </a:xfrm>
        </p:grpSpPr>
        <p:grpSp>
          <p:nvGrpSpPr>
            <p:cNvPr name="Group 7" id="7"/>
            <p:cNvGrpSpPr/>
            <p:nvPr/>
          </p:nvGrpSpPr>
          <p:grpSpPr>
            <a:xfrm rot="0">
              <a:off x="0" y="0"/>
              <a:ext cx="7112000" cy="7747000"/>
              <a:chOff x="0" y="0"/>
              <a:chExt cx="7112000" cy="7747000"/>
            </a:xfrm>
          </p:grpSpPr>
          <p:sp>
            <p:nvSpPr>
              <p:cNvPr name="Freeform 8" id="8"/>
              <p:cNvSpPr/>
              <p:nvPr/>
            </p:nvSpPr>
            <p:spPr>
              <a:xfrm flipH="false" flipV="false" rot="0">
                <a:off x="0" y="0"/>
                <a:ext cx="7112000" cy="7747000"/>
              </a:xfrm>
              <a:custGeom>
                <a:avLst/>
                <a:gdLst/>
                <a:ahLst/>
                <a:cxnLst/>
                <a:rect r="r" b="b" t="t" l="l"/>
                <a:pathLst>
                  <a:path h="7747000" w="7112000">
                    <a:moveTo>
                      <a:pt x="0" y="0"/>
                    </a:moveTo>
                    <a:lnTo>
                      <a:pt x="7112000" y="0"/>
                    </a:lnTo>
                    <a:lnTo>
                      <a:pt x="7112000" y="7747000"/>
                    </a:lnTo>
                    <a:lnTo>
                      <a:pt x="0" y="7747000"/>
                    </a:lnTo>
                    <a:close/>
                  </a:path>
                </a:pathLst>
              </a:custGeom>
              <a:solidFill>
                <a:srgbClr val="101E31">
                  <a:alpha val="95686"/>
                </a:srgbClr>
              </a:solidFill>
              <a:ln w="9525" cap="sq">
                <a:solidFill>
                  <a:srgbClr val="29425F">
                    <a:alpha val="95686"/>
                  </a:srgbClr>
                </a:solidFill>
                <a:prstDash val="solid"/>
                <a:miter/>
              </a:ln>
            </p:spPr>
          </p:sp>
          <p:sp>
            <p:nvSpPr>
              <p:cNvPr name="TextBox 9" id="9"/>
              <p:cNvSpPr txBox="true"/>
              <p:nvPr/>
            </p:nvSpPr>
            <p:spPr>
              <a:xfrm>
                <a:off x="0" y="-38100"/>
                <a:ext cx="7112000" cy="7785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431800" y="542925"/>
              <a:ext cx="635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01  MGN INSTANCE RESTRICTION</a:t>
              </a:r>
            </a:p>
          </p:txBody>
        </p:sp>
        <p:sp>
          <p:nvSpPr>
            <p:cNvPr name="TextBox 11" id="11"/>
            <p:cNvSpPr txBox="true"/>
            <p:nvPr/>
          </p:nvSpPr>
          <p:spPr>
            <a:xfrm rot="0">
              <a:off x="431800" y="1739900"/>
              <a:ext cx="6350000" cy="973455"/>
            </a:xfrm>
            <a:prstGeom prst="rect">
              <a:avLst/>
            </a:prstGeom>
          </p:spPr>
          <p:txBody>
            <a:bodyPr anchor="t" rtlCol="false" tIns="0" lIns="0" bIns="0" rIns="0">
              <a:spAutoFit/>
            </a:bodyPr>
            <a:lstStyle/>
            <a:p>
              <a:pPr algn="l">
                <a:lnSpc>
                  <a:spcPts val="2936"/>
                </a:lnSpc>
              </a:pPr>
              <a:r>
                <a:rPr lang="en-US" sz="2175" b="true">
                  <a:solidFill>
                    <a:srgbClr val="F7FBFF"/>
                  </a:solidFill>
                  <a:latin typeface="IBM Plex Sans Bold"/>
                  <a:ea typeface="IBM Plex Sans Bold"/>
                  <a:cs typeface="IBM Plex Sans Bold"/>
                  <a:sym typeface="IBM Plex Sans Bold"/>
                </a:rPr>
                <a:t>Test launch requested m5.large;</a:t>
              </a:r>
            </a:p>
            <a:p>
              <a:pPr algn="l">
                <a:lnSpc>
                  <a:spcPts val="2936"/>
                </a:lnSpc>
              </a:pPr>
              <a:r>
                <a:rPr lang="en-US" sz="2175" b="true">
                  <a:solidFill>
                    <a:srgbClr val="F7FBFF"/>
                  </a:solidFill>
                  <a:latin typeface="IBM Plex Sans Bold"/>
                  <a:ea typeface="IBM Plex Sans Bold"/>
                  <a:cs typeface="IBM Plex Sans Bold"/>
                  <a:sym typeface="IBM Plex Sans Bold"/>
                </a:rPr>
                <a:t>account eligibility blocked it.</a:t>
              </a:r>
            </a:p>
          </p:txBody>
        </p:sp>
        <p:grpSp>
          <p:nvGrpSpPr>
            <p:cNvPr name="Group 12" id="12"/>
            <p:cNvGrpSpPr/>
            <p:nvPr/>
          </p:nvGrpSpPr>
          <p:grpSpPr>
            <a:xfrm rot="0">
              <a:off x="431800" y="4191000"/>
              <a:ext cx="1270000" cy="63500"/>
              <a:chOff x="0" y="0"/>
              <a:chExt cx="1270000" cy="63500"/>
            </a:xfrm>
          </p:grpSpPr>
          <p:sp>
            <p:nvSpPr>
              <p:cNvPr name="Freeform 13" id="13"/>
              <p:cNvSpPr/>
              <p:nvPr/>
            </p:nvSpPr>
            <p:spPr>
              <a:xfrm flipH="false" flipV="false" rot="0">
                <a:off x="0" y="0"/>
                <a:ext cx="1270000" cy="63500"/>
              </a:xfrm>
              <a:custGeom>
                <a:avLst/>
                <a:gdLst/>
                <a:ahLst/>
                <a:cxnLst/>
                <a:rect r="r" b="b" t="t" l="l"/>
                <a:pathLst>
                  <a:path h="63500" w="1270000">
                    <a:moveTo>
                      <a:pt x="0" y="0"/>
                    </a:moveTo>
                    <a:lnTo>
                      <a:pt x="1270000" y="0"/>
                    </a:lnTo>
                    <a:lnTo>
                      <a:pt x="1270000" y="63500"/>
                    </a:lnTo>
                    <a:lnTo>
                      <a:pt x="0" y="63500"/>
                    </a:lnTo>
                    <a:close/>
                  </a:path>
                </a:pathLst>
              </a:custGeom>
              <a:solidFill>
                <a:srgbClr val="20A4F3"/>
              </a:solidFill>
              <a:ln cap="sq">
                <a:noFill/>
                <a:prstDash val="solid"/>
                <a:miter/>
              </a:ln>
            </p:spPr>
          </p:sp>
          <p:sp>
            <p:nvSpPr>
              <p:cNvPr name="TextBox 14" id="14"/>
              <p:cNvSpPr txBox="true"/>
              <p:nvPr/>
            </p:nvSpPr>
            <p:spPr>
              <a:xfrm>
                <a:off x="0" y="-38100"/>
                <a:ext cx="1270000" cy="1016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431800" y="4787900"/>
              <a:ext cx="6350000" cy="792480"/>
            </a:xfrm>
            <a:prstGeom prst="rect">
              <a:avLst/>
            </a:prstGeom>
          </p:spPr>
          <p:txBody>
            <a:bodyPr anchor="t" rtlCol="false" tIns="0" lIns="0" bIns="0" rIns="0">
              <a:spAutoFit/>
            </a:bodyPr>
            <a:lstStyle/>
            <a:p>
              <a:pPr algn="l">
                <a:lnSpc>
                  <a:spcPts val="2415"/>
                </a:lnSpc>
              </a:pPr>
              <a:r>
                <a:rPr lang="en-US" sz="1725">
                  <a:solidFill>
                    <a:srgbClr val="9BB0C7"/>
                  </a:solidFill>
                  <a:latin typeface="IBM Plex Sans"/>
                  <a:ea typeface="IBM Plex Sans"/>
                  <a:cs typeface="IBM Plex Sans"/>
                  <a:sym typeface="IBM Plex Sans"/>
                </a:rPr>
                <a:t>DECISION  Manual AWS web-farm deployed for a working demo.</a:t>
              </a:r>
            </a:p>
          </p:txBody>
        </p:sp>
      </p:grpSp>
      <p:grpSp>
        <p:nvGrpSpPr>
          <p:cNvPr name="Group 16" id="16"/>
          <p:cNvGrpSpPr/>
          <p:nvPr/>
        </p:nvGrpSpPr>
        <p:grpSpPr>
          <a:xfrm rot="0">
            <a:off x="6619875" y="2286000"/>
            <a:ext cx="5334000" cy="5810250"/>
            <a:chOff x="0" y="0"/>
            <a:chExt cx="7112000" cy="7747000"/>
          </a:xfrm>
        </p:grpSpPr>
        <p:grpSp>
          <p:nvGrpSpPr>
            <p:cNvPr name="Group 17" id="17"/>
            <p:cNvGrpSpPr/>
            <p:nvPr/>
          </p:nvGrpSpPr>
          <p:grpSpPr>
            <a:xfrm rot="0">
              <a:off x="0" y="0"/>
              <a:ext cx="7112000" cy="7747000"/>
              <a:chOff x="0" y="0"/>
              <a:chExt cx="7112000" cy="7747000"/>
            </a:xfrm>
          </p:grpSpPr>
          <p:sp>
            <p:nvSpPr>
              <p:cNvPr name="Freeform 18" id="18"/>
              <p:cNvSpPr/>
              <p:nvPr/>
            </p:nvSpPr>
            <p:spPr>
              <a:xfrm flipH="false" flipV="false" rot="0">
                <a:off x="0" y="0"/>
                <a:ext cx="7112000" cy="7747000"/>
              </a:xfrm>
              <a:custGeom>
                <a:avLst/>
                <a:gdLst/>
                <a:ahLst/>
                <a:cxnLst/>
                <a:rect r="r" b="b" t="t" l="l"/>
                <a:pathLst>
                  <a:path h="7747000" w="7112000">
                    <a:moveTo>
                      <a:pt x="0" y="0"/>
                    </a:moveTo>
                    <a:lnTo>
                      <a:pt x="7112000" y="0"/>
                    </a:lnTo>
                    <a:lnTo>
                      <a:pt x="7112000" y="7747000"/>
                    </a:lnTo>
                    <a:lnTo>
                      <a:pt x="0" y="7747000"/>
                    </a:lnTo>
                    <a:close/>
                  </a:path>
                </a:pathLst>
              </a:custGeom>
              <a:solidFill>
                <a:srgbClr val="101E31">
                  <a:alpha val="95686"/>
                </a:srgbClr>
              </a:solidFill>
              <a:ln w="9525" cap="sq">
                <a:solidFill>
                  <a:srgbClr val="29425F">
                    <a:alpha val="95686"/>
                  </a:srgbClr>
                </a:solidFill>
                <a:prstDash val="solid"/>
                <a:miter/>
              </a:ln>
            </p:spPr>
          </p:sp>
          <p:sp>
            <p:nvSpPr>
              <p:cNvPr name="TextBox 19" id="19"/>
              <p:cNvSpPr txBox="true"/>
              <p:nvPr/>
            </p:nvSpPr>
            <p:spPr>
              <a:xfrm>
                <a:off x="0" y="-38100"/>
                <a:ext cx="7112000" cy="77851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431800" y="542925"/>
              <a:ext cx="635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02  EC2 vCPU ACCOUNT LIMIT</a:t>
              </a:r>
            </a:p>
          </p:txBody>
        </p:sp>
        <p:sp>
          <p:nvSpPr>
            <p:cNvPr name="TextBox 21" id="21"/>
            <p:cNvSpPr txBox="true"/>
            <p:nvPr/>
          </p:nvSpPr>
          <p:spPr>
            <a:xfrm rot="0">
              <a:off x="431800" y="1739900"/>
              <a:ext cx="6350000" cy="973455"/>
            </a:xfrm>
            <a:prstGeom prst="rect">
              <a:avLst/>
            </a:prstGeom>
          </p:spPr>
          <p:txBody>
            <a:bodyPr anchor="t" rtlCol="false" tIns="0" lIns="0" bIns="0" rIns="0">
              <a:spAutoFit/>
            </a:bodyPr>
            <a:lstStyle/>
            <a:p>
              <a:pPr algn="l">
                <a:lnSpc>
                  <a:spcPts val="2936"/>
                </a:lnSpc>
              </a:pPr>
              <a:r>
                <a:rPr lang="en-US" sz="2175" b="true">
                  <a:solidFill>
                    <a:srgbClr val="F7FBFF"/>
                  </a:solidFill>
                  <a:latin typeface="IBM Plex Sans Bold"/>
                  <a:ea typeface="IBM Plex Sans Bold"/>
                  <a:cs typeface="IBM Plex Sans Bold"/>
                  <a:sym typeface="IBM Plex Sans Bold"/>
                </a:rPr>
                <a:t>Eight-server live scale was</a:t>
              </a:r>
            </a:p>
            <a:p>
              <a:pPr algn="l">
                <a:lnSpc>
                  <a:spcPts val="2936"/>
                </a:lnSpc>
              </a:pPr>
              <a:r>
                <a:rPr lang="en-US" sz="2175" b="true">
                  <a:solidFill>
                    <a:srgbClr val="F7FBFF"/>
                  </a:solidFill>
                  <a:latin typeface="IBM Plex Sans Bold"/>
                  <a:ea typeface="IBM Plex Sans Bold"/>
                  <a:cs typeface="IBM Plex Sans Bold"/>
                  <a:sym typeface="IBM Plex Sans Bold"/>
                </a:rPr>
                <a:t>not available in the account.</a:t>
              </a:r>
            </a:p>
          </p:txBody>
        </p:sp>
        <p:grpSp>
          <p:nvGrpSpPr>
            <p:cNvPr name="Group 22" id="22"/>
            <p:cNvGrpSpPr/>
            <p:nvPr/>
          </p:nvGrpSpPr>
          <p:grpSpPr>
            <a:xfrm rot="0">
              <a:off x="431800" y="4191000"/>
              <a:ext cx="1270000" cy="63500"/>
              <a:chOff x="0" y="0"/>
              <a:chExt cx="1270000" cy="63500"/>
            </a:xfrm>
          </p:grpSpPr>
          <p:sp>
            <p:nvSpPr>
              <p:cNvPr name="Freeform 23" id="23"/>
              <p:cNvSpPr/>
              <p:nvPr/>
            </p:nvSpPr>
            <p:spPr>
              <a:xfrm flipH="false" flipV="false" rot="0">
                <a:off x="0" y="0"/>
                <a:ext cx="1270000" cy="63500"/>
              </a:xfrm>
              <a:custGeom>
                <a:avLst/>
                <a:gdLst/>
                <a:ahLst/>
                <a:cxnLst/>
                <a:rect r="r" b="b" t="t" l="l"/>
                <a:pathLst>
                  <a:path h="63500" w="1270000">
                    <a:moveTo>
                      <a:pt x="0" y="0"/>
                    </a:moveTo>
                    <a:lnTo>
                      <a:pt x="1270000" y="0"/>
                    </a:lnTo>
                    <a:lnTo>
                      <a:pt x="1270000" y="63500"/>
                    </a:lnTo>
                    <a:lnTo>
                      <a:pt x="0" y="63500"/>
                    </a:lnTo>
                    <a:close/>
                  </a:path>
                </a:pathLst>
              </a:custGeom>
              <a:solidFill>
                <a:srgbClr val="20A4F3"/>
              </a:solidFill>
              <a:ln cap="sq">
                <a:noFill/>
                <a:prstDash val="solid"/>
                <a:miter/>
              </a:ln>
            </p:spPr>
          </p:sp>
          <p:sp>
            <p:nvSpPr>
              <p:cNvPr name="TextBox 24" id="24"/>
              <p:cNvSpPr txBox="true"/>
              <p:nvPr/>
            </p:nvSpPr>
            <p:spPr>
              <a:xfrm>
                <a:off x="0" y="-38100"/>
                <a:ext cx="1270000" cy="1016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431800" y="4787900"/>
              <a:ext cx="6350000" cy="792480"/>
            </a:xfrm>
            <a:prstGeom prst="rect">
              <a:avLst/>
            </a:prstGeom>
          </p:spPr>
          <p:txBody>
            <a:bodyPr anchor="t" rtlCol="false" tIns="0" lIns="0" bIns="0" rIns="0">
              <a:spAutoFit/>
            </a:bodyPr>
            <a:lstStyle/>
            <a:p>
              <a:pPr algn="l">
                <a:lnSpc>
                  <a:spcPts val="2415"/>
                </a:lnSpc>
              </a:pPr>
              <a:r>
                <a:rPr lang="en-US" sz="1725">
                  <a:solidFill>
                    <a:srgbClr val="9BB0C7"/>
                  </a:solidFill>
                  <a:latin typeface="IBM Plex Sans"/>
                  <a:ea typeface="IBM Plex Sans"/>
                  <a:cs typeface="IBM Plex Sans"/>
                  <a:sym typeface="IBM Plex Sans"/>
                </a:rPr>
                <a:t>DECISION  3-server live proof; 8-server target retained.</a:t>
              </a:r>
            </a:p>
          </p:txBody>
        </p:sp>
      </p:grpSp>
      <p:grpSp>
        <p:nvGrpSpPr>
          <p:cNvPr name="Group 26" id="26"/>
          <p:cNvGrpSpPr/>
          <p:nvPr/>
        </p:nvGrpSpPr>
        <p:grpSpPr>
          <a:xfrm rot="0">
            <a:off x="12430125" y="2286000"/>
            <a:ext cx="5334000" cy="5810250"/>
            <a:chOff x="0" y="0"/>
            <a:chExt cx="7112000" cy="7747000"/>
          </a:xfrm>
        </p:grpSpPr>
        <p:grpSp>
          <p:nvGrpSpPr>
            <p:cNvPr name="Group 27" id="27"/>
            <p:cNvGrpSpPr/>
            <p:nvPr/>
          </p:nvGrpSpPr>
          <p:grpSpPr>
            <a:xfrm rot="0">
              <a:off x="0" y="0"/>
              <a:ext cx="7112000" cy="7747000"/>
              <a:chOff x="0" y="0"/>
              <a:chExt cx="7112000" cy="7747000"/>
            </a:xfrm>
          </p:grpSpPr>
          <p:sp>
            <p:nvSpPr>
              <p:cNvPr name="Freeform 28" id="28"/>
              <p:cNvSpPr/>
              <p:nvPr/>
            </p:nvSpPr>
            <p:spPr>
              <a:xfrm flipH="false" flipV="false" rot="0">
                <a:off x="0" y="0"/>
                <a:ext cx="7112000" cy="7747000"/>
              </a:xfrm>
              <a:custGeom>
                <a:avLst/>
                <a:gdLst/>
                <a:ahLst/>
                <a:cxnLst/>
                <a:rect r="r" b="b" t="t" l="l"/>
                <a:pathLst>
                  <a:path h="7747000" w="7112000">
                    <a:moveTo>
                      <a:pt x="0" y="0"/>
                    </a:moveTo>
                    <a:lnTo>
                      <a:pt x="7112000" y="0"/>
                    </a:lnTo>
                    <a:lnTo>
                      <a:pt x="7112000" y="7747000"/>
                    </a:lnTo>
                    <a:lnTo>
                      <a:pt x="0" y="7747000"/>
                    </a:lnTo>
                    <a:close/>
                  </a:path>
                </a:pathLst>
              </a:custGeom>
              <a:solidFill>
                <a:srgbClr val="101E31">
                  <a:alpha val="95686"/>
                </a:srgbClr>
              </a:solidFill>
              <a:ln w="9525" cap="sq">
                <a:solidFill>
                  <a:srgbClr val="29425F">
                    <a:alpha val="95686"/>
                  </a:srgbClr>
                </a:solidFill>
                <a:prstDash val="solid"/>
                <a:miter/>
              </a:ln>
            </p:spPr>
          </p:sp>
          <p:sp>
            <p:nvSpPr>
              <p:cNvPr name="TextBox 29" id="29"/>
              <p:cNvSpPr txBox="true"/>
              <p:nvPr/>
            </p:nvSpPr>
            <p:spPr>
              <a:xfrm>
                <a:off x="0" y="-38100"/>
                <a:ext cx="7112000" cy="77851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431800" y="542925"/>
              <a:ext cx="6350000" cy="333375"/>
            </a:xfrm>
            <a:prstGeom prst="rect">
              <a:avLst/>
            </a:prstGeom>
          </p:spPr>
          <p:txBody>
            <a:bodyPr anchor="t" rtlCol="false" tIns="0" lIns="0" bIns="0" rIns="0">
              <a:spAutoFit/>
            </a:bodyPr>
            <a:lstStyle/>
            <a:p>
              <a:pPr algn="l">
                <a:lnSpc>
                  <a:spcPts val="2100"/>
                </a:lnSpc>
              </a:pPr>
              <a:r>
                <a:rPr lang="en-US" sz="1500" spc="120" b="true">
                  <a:solidFill>
                    <a:srgbClr val="FF9900"/>
                  </a:solidFill>
                  <a:latin typeface="IBM Plex Mono Bold"/>
                  <a:ea typeface="IBM Plex Mono Bold"/>
                  <a:cs typeface="IBM Plex Mono Bold"/>
                  <a:sym typeface="IBM Plex Mono Bold"/>
                </a:rPr>
                <a:t>03  SOURCE SERVER STOPPED</a:t>
              </a:r>
            </a:p>
          </p:txBody>
        </p:sp>
        <p:sp>
          <p:nvSpPr>
            <p:cNvPr name="TextBox 31" id="31"/>
            <p:cNvSpPr txBox="true"/>
            <p:nvPr/>
          </p:nvSpPr>
          <p:spPr>
            <a:xfrm rot="0">
              <a:off x="431800" y="1739900"/>
              <a:ext cx="6350000" cy="973455"/>
            </a:xfrm>
            <a:prstGeom prst="rect">
              <a:avLst/>
            </a:prstGeom>
          </p:spPr>
          <p:txBody>
            <a:bodyPr anchor="t" rtlCol="false" tIns="0" lIns="0" bIns="0" rIns="0">
              <a:spAutoFit/>
            </a:bodyPr>
            <a:lstStyle/>
            <a:p>
              <a:pPr algn="l">
                <a:lnSpc>
                  <a:spcPts val="2936"/>
                </a:lnSpc>
              </a:pPr>
              <a:r>
                <a:rPr lang="en-US" sz="2175" b="true">
                  <a:solidFill>
                    <a:srgbClr val="F7FBFF"/>
                  </a:solidFill>
                  <a:latin typeface="IBM Plex Sans Bold"/>
                  <a:ea typeface="IBM Plex Sans Bold"/>
                  <a:cs typeface="IBM Plex Sans Bold"/>
                  <a:sym typeface="IBM Plex Sans Bold"/>
                </a:rPr>
                <a:t>Replication status later stalled</a:t>
              </a:r>
            </a:p>
            <a:p>
              <a:pPr algn="l">
                <a:lnSpc>
                  <a:spcPts val="2936"/>
                </a:lnSpc>
              </a:pPr>
              <a:r>
                <a:rPr lang="en-US" sz="2175" b="true">
                  <a:solidFill>
                    <a:srgbClr val="F7FBFF"/>
                  </a:solidFill>
                  <a:latin typeface="IBM Plex Sans Bold"/>
                  <a:ea typeface="IBM Plex Sans Bold"/>
                  <a:cs typeface="IBM Plex Sans Bold"/>
                  <a:sym typeface="IBM Plex Sans Bold"/>
                </a:rPr>
                <a:t>after source shutdown.</a:t>
              </a:r>
            </a:p>
          </p:txBody>
        </p:sp>
        <p:grpSp>
          <p:nvGrpSpPr>
            <p:cNvPr name="Group 32" id="32"/>
            <p:cNvGrpSpPr/>
            <p:nvPr/>
          </p:nvGrpSpPr>
          <p:grpSpPr>
            <a:xfrm rot="0">
              <a:off x="431800" y="4191000"/>
              <a:ext cx="1270000" cy="63500"/>
              <a:chOff x="0" y="0"/>
              <a:chExt cx="1270000" cy="63500"/>
            </a:xfrm>
          </p:grpSpPr>
          <p:sp>
            <p:nvSpPr>
              <p:cNvPr name="Freeform 33" id="33"/>
              <p:cNvSpPr/>
              <p:nvPr/>
            </p:nvSpPr>
            <p:spPr>
              <a:xfrm flipH="false" flipV="false" rot="0">
                <a:off x="0" y="0"/>
                <a:ext cx="1270000" cy="63500"/>
              </a:xfrm>
              <a:custGeom>
                <a:avLst/>
                <a:gdLst/>
                <a:ahLst/>
                <a:cxnLst/>
                <a:rect r="r" b="b" t="t" l="l"/>
                <a:pathLst>
                  <a:path h="63500" w="1270000">
                    <a:moveTo>
                      <a:pt x="0" y="0"/>
                    </a:moveTo>
                    <a:lnTo>
                      <a:pt x="1270000" y="0"/>
                    </a:lnTo>
                    <a:lnTo>
                      <a:pt x="1270000" y="63500"/>
                    </a:lnTo>
                    <a:lnTo>
                      <a:pt x="0" y="63500"/>
                    </a:lnTo>
                    <a:close/>
                  </a:path>
                </a:pathLst>
              </a:custGeom>
              <a:solidFill>
                <a:srgbClr val="FF9900"/>
              </a:solidFill>
              <a:ln cap="sq">
                <a:noFill/>
                <a:prstDash val="solid"/>
                <a:miter/>
              </a:ln>
            </p:spPr>
          </p:sp>
          <p:sp>
            <p:nvSpPr>
              <p:cNvPr name="TextBox 34" id="34"/>
              <p:cNvSpPr txBox="true"/>
              <p:nvPr/>
            </p:nvSpPr>
            <p:spPr>
              <a:xfrm>
                <a:off x="0" y="-38100"/>
                <a:ext cx="1270000" cy="101600"/>
              </a:xfrm>
              <a:prstGeom prst="rect">
                <a:avLst/>
              </a:prstGeom>
            </p:spPr>
            <p:txBody>
              <a:bodyPr anchor="ctr" rtlCol="false" tIns="50800" lIns="50800" bIns="50800" rIns="50800"/>
              <a:lstStyle/>
              <a:p>
                <a:pPr algn="l">
                  <a:lnSpc>
                    <a:spcPts val="1679"/>
                  </a:lnSpc>
                </a:pPr>
              </a:p>
            </p:txBody>
          </p:sp>
        </p:grpSp>
        <p:sp>
          <p:nvSpPr>
            <p:cNvPr name="TextBox 35" id="35"/>
            <p:cNvSpPr txBox="true"/>
            <p:nvPr/>
          </p:nvSpPr>
          <p:spPr>
            <a:xfrm rot="0">
              <a:off x="431800" y="4787900"/>
              <a:ext cx="6350000" cy="792480"/>
            </a:xfrm>
            <a:prstGeom prst="rect">
              <a:avLst/>
            </a:prstGeom>
          </p:spPr>
          <p:txBody>
            <a:bodyPr anchor="t" rtlCol="false" tIns="0" lIns="0" bIns="0" rIns="0">
              <a:spAutoFit/>
            </a:bodyPr>
            <a:lstStyle/>
            <a:p>
              <a:pPr algn="l">
                <a:lnSpc>
                  <a:spcPts val="2415"/>
                </a:lnSpc>
              </a:pPr>
              <a:r>
                <a:rPr lang="en-US" sz="1725">
                  <a:solidFill>
                    <a:srgbClr val="9BB0C7"/>
                  </a:solidFill>
                  <a:latin typeface="IBM Plex Sans"/>
                  <a:ea typeface="IBM Plex Sans"/>
                  <a:cs typeface="IBM Plex Sans"/>
                  <a:sym typeface="IBM Plex Sans"/>
                </a:rPr>
                <a:t>EVIDENCE  8/8 GiB and Ready for Testing achieved first.</a:t>
              </a:r>
            </a:p>
          </p:txBody>
        </p:sp>
      </p:grpSp>
      <p:sp>
        <p:nvSpPr>
          <p:cNvPr name="TextBox 36" id="36"/>
          <p:cNvSpPr txBox="true"/>
          <p:nvPr/>
        </p:nvSpPr>
        <p:spPr>
          <a:xfrm rot="0">
            <a:off x="838200" y="9763125"/>
            <a:ext cx="6858000" cy="232410"/>
          </a:xfrm>
          <a:prstGeom prst="rect">
            <a:avLst/>
          </a:prstGeom>
        </p:spPr>
        <p:txBody>
          <a:bodyPr anchor="t" rtlCol="false" tIns="0" lIns="0" bIns="0" rIns="0">
            <a:spAutoFit/>
          </a:bodyPr>
          <a:lstStyle/>
          <a:p>
            <a:pPr algn="l">
              <a:lnSpc>
                <a:spcPts val="1889"/>
              </a:lnSpc>
            </a:pPr>
            <a:r>
              <a:rPr lang="en-US" sz="1350">
                <a:solidFill>
                  <a:srgbClr val="9BB0C7"/>
                </a:solidFill>
                <a:latin typeface="IBM Plex Mono"/>
                <a:ea typeface="IBM Plex Mono"/>
                <a:cs typeface="IBM Plex Mono"/>
                <a:sym typeface="IBM Plex Mono"/>
              </a:rPr>
              <a:t>Y24-SAA-Team391  •  24CC3014-P109  •  12</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838200" y="514350"/>
            <a:ext cx="16592550" cy="893445"/>
            <a:chOff x="0" y="0"/>
            <a:chExt cx="22123400" cy="1191260"/>
          </a:xfrm>
        </p:grpSpPr>
        <p:sp>
          <p:nvSpPr>
            <p:cNvPr name="TextBox 3" id="3"/>
            <p:cNvSpPr txBox="true"/>
            <p:nvPr/>
          </p:nvSpPr>
          <p:spPr>
            <a:xfrm rot="0">
              <a:off x="0" y="-28575"/>
              <a:ext cx="8890000" cy="333375"/>
            </a:xfrm>
            <a:prstGeom prst="rect">
              <a:avLst/>
            </a:prstGeom>
          </p:spPr>
          <p:txBody>
            <a:bodyPr anchor="t" rtlCol="false" tIns="0" lIns="0" bIns="0" rIns="0">
              <a:spAutoFit/>
            </a:bodyPr>
            <a:lstStyle/>
            <a:p>
              <a:pPr algn="l">
                <a:lnSpc>
                  <a:spcPts val="2100"/>
                </a:lnSpc>
              </a:pPr>
              <a:r>
                <a:rPr lang="en-US" sz="1500" spc="120" b="true">
                  <a:solidFill>
                    <a:srgbClr val="57D7FF"/>
                  </a:solidFill>
                  <a:latin typeface="IBM Plex Mono Bold"/>
                  <a:ea typeface="IBM Plex Mono Bold"/>
                  <a:cs typeface="IBM Plex Mono Bold"/>
                  <a:sym typeface="IBM Plex Mono Bold"/>
                </a:rPr>
                <a:t>PRODUCTION PATH</a:t>
              </a:r>
            </a:p>
          </p:txBody>
        </p:sp>
        <p:sp>
          <p:nvSpPr>
            <p:cNvPr name="TextBox 4" id="4"/>
            <p:cNvSpPr txBox="true"/>
            <p:nvPr/>
          </p:nvSpPr>
          <p:spPr>
            <a:xfrm rot="0">
              <a:off x="0" y="508000"/>
              <a:ext cx="18034000" cy="683260"/>
            </a:xfrm>
            <a:prstGeom prst="rect">
              <a:avLst/>
            </a:prstGeom>
          </p:spPr>
          <p:txBody>
            <a:bodyPr anchor="t" rtlCol="false" tIns="0" lIns="0" bIns="0" rIns="0">
              <a:spAutoFit/>
            </a:bodyPr>
            <a:lstStyle/>
            <a:p>
              <a:pPr algn="l">
                <a:lnSpc>
                  <a:spcPts val="3960"/>
                </a:lnSpc>
              </a:pPr>
              <a:r>
                <a:rPr lang="en-US" sz="3600" b="true">
                  <a:solidFill>
                    <a:srgbClr val="F7FBFF"/>
                  </a:solidFill>
                  <a:latin typeface="Montserrat Bold"/>
                  <a:ea typeface="Montserrat Bold"/>
                  <a:cs typeface="Montserrat Bold"/>
                  <a:sym typeface="Montserrat Bold"/>
                </a:rPr>
                <a:t>Future architecture &amp; conclusion</a:t>
              </a:r>
            </a:p>
          </p:txBody>
        </p:sp>
        <p:sp>
          <p:nvSpPr>
            <p:cNvPr name="TextBox 5" id="5"/>
            <p:cNvSpPr txBox="true"/>
            <p:nvPr/>
          </p:nvSpPr>
          <p:spPr>
            <a:xfrm rot="0">
              <a:off x="20345400" y="98425"/>
              <a:ext cx="1778000" cy="333375"/>
            </a:xfrm>
            <a:prstGeom prst="rect">
              <a:avLst/>
            </a:prstGeom>
          </p:spPr>
          <p:txBody>
            <a:bodyPr anchor="t" rtlCol="false" tIns="0" lIns="0" bIns="0" rIns="0">
              <a:spAutoFit/>
            </a:bodyPr>
            <a:lstStyle/>
            <a:p>
              <a:pPr algn="r">
                <a:lnSpc>
                  <a:spcPts val="2100"/>
                </a:lnSpc>
              </a:pPr>
              <a:r>
                <a:rPr lang="en-US" sz="1500">
                  <a:solidFill>
                    <a:srgbClr val="9BB0C7"/>
                  </a:solidFill>
                  <a:latin typeface="IBM Plex Mono"/>
                  <a:ea typeface="IBM Plex Mono"/>
                  <a:cs typeface="IBM Plex Mono"/>
                  <a:sym typeface="IBM Plex Mono"/>
                </a:rPr>
                <a:t>12</a:t>
              </a:r>
            </a:p>
          </p:txBody>
        </p:sp>
      </p:grpSp>
      <p:grpSp>
        <p:nvGrpSpPr>
          <p:cNvPr name="Group 6" id="6"/>
          <p:cNvGrpSpPr/>
          <p:nvPr/>
        </p:nvGrpSpPr>
        <p:grpSpPr>
          <a:xfrm rot="0">
            <a:off x="809625" y="2714625"/>
            <a:ext cx="2476500" cy="1190625"/>
            <a:chOff x="0" y="0"/>
            <a:chExt cx="3302000" cy="1587500"/>
          </a:xfrm>
        </p:grpSpPr>
        <p:sp>
          <p:nvSpPr>
            <p:cNvPr name="Freeform 7" id="7"/>
            <p:cNvSpPr/>
            <p:nvPr/>
          </p:nvSpPr>
          <p:spPr>
            <a:xfrm flipH="false" flipV="false" rot="0">
              <a:off x="0" y="0"/>
              <a:ext cx="3302000" cy="1587500"/>
            </a:xfrm>
            <a:custGeom>
              <a:avLst/>
              <a:gdLst/>
              <a:ahLst/>
              <a:cxnLst/>
              <a:rect r="r" b="b" t="t" l="l"/>
              <a:pathLst>
                <a:path h="1587500" w="3302000">
                  <a:moveTo>
                    <a:pt x="68385" y="0"/>
                  </a:moveTo>
                  <a:lnTo>
                    <a:pt x="3233615" y="0"/>
                  </a:lnTo>
                  <a:cubicBezTo>
                    <a:pt x="3251752" y="0"/>
                    <a:pt x="3269146" y="7205"/>
                    <a:pt x="3281971" y="20029"/>
                  </a:cubicBezTo>
                  <a:cubicBezTo>
                    <a:pt x="3294795" y="32854"/>
                    <a:pt x="3302000" y="50248"/>
                    <a:pt x="3302000" y="68385"/>
                  </a:cubicBezTo>
                  <a:lnTo>
                    <a:pt x="3302000" y="1519115"/>
                  </a:lnTo>
                  <a:cubicBezTo>
                    <a:pt x="3302000" y="1537252"/>
                    <a:pt x="3294795" y="1554646"/>
                    <a:pt x="3281971" y="1567471"/>
                  </a:cubicBezTo>
                  <a:cubicBezTo>
                    <a:pt x="3269146" y="1580295"/>
                    <a:pt x="3251752" y="1587500"/>
                    <a:pt x="3233615" y="1587500"/>
                  </a:cubicBezTo>
                  <a:lnTo>
                    <a:pt x="68385" y="1587500"/>
                  </a:lnTo>
                  <a:cubicBezTo>
                    <a:pt x="50248" y="1587500"/>
                    <a:pt x="32854" y="1580295"/>
                    <a:pt x="20029" y="1567471"/>
                  </a:cubicBezTo>
                  <a:cubicBezTo>
                    <a:pt x="7205" y="1554646"/>
                    <a:pt x="0" y="1537252"/>
                    <a:pt x="0" y="1519115"/>
                  </a:cubicBezTo>
                  <a:lnTo>
                    <a:pt x="0" y="68385"/>
                  </a:lnTo>
                  <a:cubicBezTo>
                    <a:pt x="0" y="50248"/>
                    <a:pt x="7205" y="32854"/>
                    <a:pt x="20029" y="20029"/>
                  </a:cubicBezTo>
                  <a:cubicBezTo>
                    <a:pt x="32854" y="7205"/>
                    <a:pt x="50248" y="0"/>
                    <a:pt x="68385" y="0"/>
                  </a:cubicBezTo>
                  <a:close/>
                </a:path>
              </a:pathLst>
            </a:custGeom>
            <a:solidFill>
              <a:srgbClr val="142A42"/>
            </a:solidFill>
            <a:ln w="19050" cap="sq">
              <a:solidFill>
                <a:srgbClr val="20A4F3"/>
              </a:solidFill>
              <a:prstDash val="solid"/>
              <a:miter/>
            </a:ln>
          </p:spPr>
        </p:sp>
        <p:sp>
          <p:nvSpPr>
            <p:cNvPr name="TextBox 8" id="8"/>
            <p:cNvSpPr txBox="true"/>
            <p:nvPr/>
          </p:nvSpPr>
          <p:spPr>
            <a:xfrm>
              <a:off x="0" y="-38100"/>
              <a:ext cx="3302000" cy="16256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Route 53</a:t>
              </a:r>
            </a:p>
          </p:txBody>
        </p:sp>
      </p:grpSp>
      <p:sp>
        <p:nvSpPr>
          <p:cNvPr name="AutoShape 9" id="9"/>
          <p:cNvSpPr/>
          <p:nvPr/>
        </p:nvSpPr>
        <p:spPr>
          <a:xfrm>
            <a:off x="3286125" y="3305175"/>
            <a:ext cx="666750" cy="0"/>
          </a:xfrm>
          <a:prstGeom prst="line">
            <a:avLst/>
          </a:prstGeom>
          <a:ln cap="rnd" w="47625">
            <a:solidFill>
              <a:srgbClr val="20A4F3"/>
            </a:solidFill>
            <a:prstDash val="solid"/>
            <a:headEnd type="none" len="sm" w="sm"/>
            <a:tailEnd type="none" len="sm" w="sm"/>
          </a:ln>
        </p:spPr>
      </p:sp>
      <p:grpSp>
        <p:nvGrpSpPr>
          <p:cNvPr name="Group 10" id="10"/>
          <p:cNvGrpSpPr/>
          <p:nvPr/>
        </p:nvGrpSpPr>
        <p:grpSpPr>
          <a:xfrm rot="0">
            <a:off x="4048125" y="2714625"/>
            <a:ext cx="2476500" cy="1190625"/>
            <a:chOff x="0" y="0"/>
            <a:chExt cx="3302000" cy="1587500"/>
          </a:xfrm>
        </p:grpSpPr>
        <p:sp>
          <p:nvSpPr>
            <p:cNvPr name="Freeform 11" id="11"/>
            <p:cNvSpPr/>
            <p:nvPr/>
          </p:nvSpPr>
          <p:spPr>
            <a:xfrm flipH="false" flipV="false" rot="0">
              <a:off x="0" y="0"/>
              <a:ext cx="3302000" cy="1587500"/>
            </a:xfrm>
            <a:custGeom>
              <a:avLst/>
              <a:gdLst/>
              <a:ahLst/>
              <a:cxnLst/>
              <a:rect r="r" b="b" t="t" l="l"/>
              <a:pathLst>
                <a:path h="1587500" w="3302000">
                  <a:moveTo>
                    <a:pt x="68385" y="0"/>
                  </a:moveTo>
                  <a:lnTo>
                    <a:pt x="3233615" y="0"/>
                  </a:lnTo>
                  <a:cubicBezTo>
                    <a:pt x="3251752" y="0"/>
                    <a:pt x="3269146" y="7205"/>
                    <a:pt x="3281971" y="20029"/>
                  </a:cubicBezTo>
                  <a:cubicBezTo>
                    <a:pt x="3294795" y="32854"/>
                    <a:pt x="3302000" y="50248"/>
                    <a:pt x="3302000" y="68385"/>
                  </a:cubicBezTo>
                  <a:lnTo>
                    <a:pt x="3302000" y="1519115"/>
                  </a:lnTo>
                  <a:cubicBezTo>
                    <a:pt x="3302000" y="1537252"/>
                    <a:pt x="3294795" y="1554646"/>
                    <a:pt x="3281971" y="1567471"/>
                  </a:cubicBezTo>
                  <a:cubicBezTo>
                    <a:pt x="3269146" y="1580295"/>
                    <a:pt x="3251752" y="1587500"/>
                    <a:pt x="3233615" y="1587500"/>
                  </a:cubicBezTo>
                  <a:lnTo>
                    <a:pt x="68385" y="1587500"/>
                  </a:lnTo>
                  <a:cubicBezTo>
                    <a:pt x="50248" y="1587500"/>
                    <a:pt x="32854" y="1580295"/>
                    <a:pt x="20029" y="1567471"/>
                  </a:cubicBezTo>
                  <a:cubicBezTo>
                    <a:pt x="7205" y="1554646"/>
                    <a:pt x="0" y="1537252"/>
                    <a:pt x="0" y="1519115"/>
                  </a:cubicBezTo>
                  <a:lnTo>
                    <a:pt x="0" y="68385"/>
                  </a:lnTo>
                  <a:cubicBezTo>
                    <a:pt x="0" y="50248"/>
                    <a:pt x="7205" y="32854"/>
                    <a:pt x="20029" y="20029"/>
                  </a:cubicBezTo>
                  <a:cubicBezTo>
                    <a:pt x="32854" y="7205"/>
                    <a:pt x="50248" y="0"/>
                    <a:pt x="68385" y="0"/>
                  </a:cubicBezTo>
                  <a:close/>
                </a:path>
              </a:pathLst>
            </a:custGeom>
            <a:solidFill>
              <a:srgbClr val="142A42"/>
            </a:solidFill>
            <a:ln w="19050" cap="sq">
              <a:solidFill>
                <a:srgbClr val="20A4F3"/>
              </a:solidFill>
              <a:prstDash val="solid"/>
              <a:miter/>
            </a:ln>
          </p:spPr>
        </p:sp>
        <p:sp>
          <p:nvSpPr>
            <p:cNvPr name="TextBox 12" id="12"/>
            <p:cNvSpPr txBox="true"/>
            <p:nvPr/>
          </p:nvSpPr>
          <p:spPr>
            <a:xfrm>
              <a:off x="0" y="-38100"/>
              <a:ext cx="3302000" cy="16256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ALB</a:t>
              </a:r>
            </a:p>
          </p:txBody>
        </p:sp>
      </p:grpSp>
      <p:sp>
        <p:nvSpPr>
          <p:cNvPr name="AutoShape 13" id="13"/>
          <p:cNvSpPr/>
          <p:nvPr/>
        </p:nvSpPr>
        <p:spPr>
          <a:xfrm>
            <a:off x="6524625" y="3305175"/>
            <a:ext cx="666750" cy="0"/>
          </a:xfrm>
          <a:prstGeom prst="line">
            <a:avLst/>
          </a:prstGeom>
          <a:ln cap="rnd" w="47625">
            <a:solidFill>
              <a:srgbClr val="20A4F3"/>
            </a:solidFill>
            <a:prstDash val="solid"/>
            <a:headEnd type="none" len="sm" w="sm"/>
            <a:tailEnd type="none" len="sm" w="sm"/>
          </a:ln>
        </p:spPr>
      </p:sp>
      <p:grpSp>
        <p:nvGrpSpPr>
          <p:cNvPr name="Group 14" id="14"/>
          <p:cNvGrpSpPr/>
          <p:nvPr/>
        </p:nvGrpSpPr>
        <p:grpSpPr>
          <a:xfrm rot="0">
            <a:off x="7286625" y="2714625"/>
            <a:ext cx="2476500" cy="1190625"/>
            <a:chOff x="0" y="0"/>
            <a:chExt cx="3302000" cy="1587500"/>
          </a:xfrm>
        </p:grpSpPr>
        <p:sp>
          <p:nvSpPr>
            <p:cNvPr name="Freeform 15" id="15"/>
            <p:cNvSpPr/>
            <p:nvPr/>
          </p:nvSpPr>
          <p:spPr>
            <a:xfrm flipH="false" flipV="false" rot="0">
              <a:off x="0" y="0"/>
              <a:ext cx="3302000" cy="1587500"/>
            </a:xfrm>
            <a:custGeom>
              <a:avLst/>
              <a:gdLst/>
              <a:ahLst/>
              <a:cxnLst/>
              <a:rect r="r" b="b" t="t" l="l"/>
              <a:pathLst>
                <a:path h="1587500" w="3302000">
                  <a:moveTo>
                    <a:pt x="68385" y="0"/>
                  </a:moveTo>
                  <a:lnTo>
                    <a:pt x="3233615" y="0"/>
                  </a:lnTo>
                  <a:cubicBezTo>
                    <a:pt x="3251752" y="0"/>
                    <a:pt x="3269146" y="7205"/>
                    <a:pt x="3281971" y="20029"/>
                  </a:cubicBezTo>
                  <a:cubicBezTo>
                    <a:pt x="3294795" y="32854"/>
                    <a:pt x="3302000" y="50248"/>
                    <a:pt x="3302000" y="68385"/>
                  </a:cubicBezTo>
                  <a:lnTo>
                    <a:pt x="3302000" y="1519115"/>
                  </a:lnTo>
                  <a:cubicBezTo>
                    <a:pt x="3302000" y="1537252"/>
                    <a:pt x="3294795" y="1554646"/>
                    <a:pt x="3281971" y="1567471"/>
                  </a:cubicBezTo>
                  <a:cubicBezTo>
                    <a:pt x="3269146" y="1580295"/>
                    <a:pt x="3251752" y="1587500"/>
                    <a:pt x="3233615" y="1587500"/>
                  </a:cubicBezTo>
                  <a:lnTo>
                    <a:pt x="68385" y="1587500"/>
                  </a:lnTo>
                  <a:cubicBezTo>
                    <a:pt x="50248" y="1587500"/>
                    <a:pt x="32854" y="1580295"/>
                    <a:pt x="20029" y="1567471"/>
                  </a:cubicBezTo>
                  <a:cubicBezTo>
                    <a:pt x="7205" y="1554646"/>
                    <a:pt x="0" y="1537252"/>
                    <a:pt x="0" y="1519115"/>
                  </a:cubicBezTo>
                  <a:lnTo>
                    <a:pt x="0" y="68385"/>
                  </a:lnTo>
                  <a:cubicBezTo>
                    <a:pt x="0" y="50248"/>
                    <a:pt x="7205" y="32854"/>
                    <a:pt x="20029" y="20029"/>
                  </a:cubicBezTo>
                  <a:cubicBezTo>
                    <a:pt x="32854" y="7205"/>
                    <a:pt x="50248" y="0"/>
                    <a:pt x="68385" y="0"/>
                  </a:cubicBezTo>
                  <a:close/>
                </a:path>
              </a:pathLst>
            </a:custGeom>
            <a:solidFill>
              <a:srgbClr val="142A42"/>
            </a:solidFill>
            <a:ln w="19050" cap="sq">
              <a:solidFill>
                <a:srgbClr val="FF9900"/>
              </a:solidFill>
              <a:prstDash val="solid"/>
              <a:miter/>
            </a:ln>
          </p:spPr>
        </p:sp>
        <p:sp>
          <p:nvSpPr>
            <p:cNvPr name="TextBox 16" id="16"/>
            <p:cNvSpPr txBox="true"/>
            <p:nvPr/>
          </p:nvSpPr>
          <p:spPr>
            <a:xfrm>
              <a:off x="0" y="-38100"/>
              <a:ext cx="3302000" cy="16256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Auto Scaling</a:t>
              </a:r>
            </a:p>
            <a:p>
              <a:pPr algn="ctr">
                <a:lnSpc>
                  <a:spcPts val="2310"/>
                </a:lnSpc>
              </a:pPr>
              <a:r>
                <a:rPr lang="en-US" sz="1650" b="true">
                  <a:solidFill>
                    <a:srgbClr val="F7FBFF"/>
                  </a:solidFill>
                  <a:latin typeface="IBM Plex Sans Bold"/>
                  <a:ea typeface="IBM Plex Sans Bold"/>
                  <a:cs typeface="IBM Plex Sans Bold"/>
                  <a:sym typeface="IBM Plex Sans Bold"/>
                </a:rPr>
                <a:t>Group</a:t>
              </a:r>
            </a:p>
          </p:txBody>
        </p:sp>
      </p:grpSp>
      <p:sp>
        <p:nvSpPr>
          <p:cNvPr name="AutoShape 17" id="17"/>
          <p:cNvSpPr/>
          <p:nvPr/>
        </p:nvSpPr>
        <p:spPr>
          <a:xfrm>
            <a:off x="9763125" y="3305175"/>
            <a:ext cx="666750" cy="0"/>
          </a:xfrm>
          <a:prstGeom prst="line">
            <a:avLst/>
          </a:prstGeom>
          <a:ln cap="rnd" w="47625">
            <a:solidFill>
              <a:srgbClr val="20A4F3"/>
            </a:solidFill>
            <a:prstDash val="solid"/>
            <a:headEnd type="none" len="sm" w="sm"/>
            <a:tailEnd type="none" len="sm" w="sm"/>
          </a:ln>
        </p:spPr>
      </p:sp>
      <p:grpSp>
        <p:nvGrpSpPr>
          <p:cNvPr name="Group 18" id="18"/>
          <p:cNvGrpSpPr/>
          <p:nvPr/>
        </p:nvGrpSpPr>
        <p:grpSpPr>
          <a:xfrm rot="0">
            <a:off x="10525125" y="2714625"/>
            <a:ext cx="2476500" cy="1190625"/>
            <a:chOff x="0" y="0"/>
            <a:chExt cx="3302000" cy="1587500"/>
          </a:xfrm>
        </p:grpSpPr>
        <p:sp>
          <p:nvSpPr>
            <p:cNvPr name="Freeform 19" id="19"/>
            <p:cNvSpPr/>
            <p:nvPr/>
          </p:nvSpPr>
          <p:spPr>
            <a:xfrm flipH="false" flipV="false" rot="0">
              <a:off x="0" y="0"/>
              <a:ext cx="3302000" cy="1587500"/>
            </a:xfrm>
            <a:custGeom>
              <a:avLst/>
              <a:gdLst/>
              <a:ahLst/>
              <a:cxnLst/>
              <a:rect r="r" b="b" t="t" l="l"/>
              <a:pathLst>
                <a:path h="1587500" w="3302000">
                  <a:moveTo>
                    <a:pt x="68385" y="0"/>
                  </a:moveTo>
                  <a:lnTo>
                    <a:pt x="3233615" y="0"/>
                  </a:lnTo>
                  <a:cubicBezTo>
                    <a:pt x="3251752" y="0"/>
                    <a:pt x="3269146" y="7205"/>
                    <a:pt x="3281971" y="20029"/>
                  </a:cubicBezTo>
                  <a:cubicBezTo>
                    <a:pt x="3294795" y="32854"/>
                    <a:pt x="3302000" y="50248"/>
                    <a:pt x="3302000" y="68385"/>
                  </a:cubicBezTo>
                  <a:lnTo>
                    <a:pt x="3302000" y="1519115"/>
                  </a:lnTo>
                  <a:cubicBezTo>
                    <a:pt x="3302000" y="1537252"/>
                    <a:pt x="3294795" y="1554646"/>
                    <a:pt x="3281971" y="1567471"/>
                  </a:cubicBezTo>
                  <a:cubicBezTo>
                    <a:pt x="3269146" y="1580295"/>
                    <a:pt x="3251752" y="1587500"/>
                    <a:pt x="3233615" y="1587500"/>
                  </a:cubicBezTo>
                  <a:lnTo>
                    <a:pt x="68385" y="1587500"/>
                  </a:lnTo>
                  <a:cubicBezTo>
                    <a:pt x="50248" y="1587500"/>
                    <a:pt x="32854" y="1580295"/>
                    <a:pt x="20029" y="1567471"/>
                  </a:cubicBezTo>
                  <a:cubicBezTo>
                    <a:pt x="7205" y="1554646"/>
                    <a:pt x="0" y="1537252"/>
                    <a:pt x="0" y="1519115"/>
                  </a:cubicBezTo>
                  <a:lnTo>
                    <a:pt x="0" y="68385"/>
                  </a:lnTo>
                  <a:cubicBezTo>
                    <a:pt x="0" y="50248"/>
                    <a:pt x="7205" y="32854"/>
                    <a:pt x="20029" y="20029"/>
                  </a:cubicBezTo>
                  <a:cubicBezTo>
                    <a:pt x="32854" y="7205"/>
                    <a:pt x="50248" y="0"/>
                    <a:pt x="68385" y="0"/>
                  </a:cubicBezTo>
                  <a:close/>
                </a:path>
              </a:pathLst>
            </a:custGeom>
            <a:solidFill>
              <a:srgbClr val="142A42"/>
            </a:solidFill>
            <a:ln w="19050" cap="sq">
              <a:solidFill>
                <a:srgbClr val="20A4F3"/>
              </a:solidFill>
              <a:prstDash val="solid"/>
              <a:miter/>
            </a:ln>
          </p:spPr>
        </p:sp>
        <p:sp>
          <p:nvSpPr>
            <p:cNvPr name="TextBox 20" id="20"/>
            <p:cNvSpPr txBox="true"/>
            <p:nvPr/>
          </p:nvSpPr>
          <p:spPr>
            <a:xfrm>
              <a:off x="0" y="-38100"/>
              <a:ext cx="3302000" cy="16256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8 × EC2</a:t>
              </a:r>
            </a:p>
            <a:p>
              <a:pPr algn="ctr">
                <a:lnSpc>
                  <a:spcPts val="2310"/>
                </a:lnSpc>
              </a:pPr>
              <a:r>
                <a:rPr lang="en-US" sz="1650" b="true">
                  <a:solidFill>
                    <a:srgbClr val="F7FBFF"/>
                  </a:solidFill>
                  <a:latin typeface="IBM Plex Sans Bold"/>
                  <a:ea typeface="IBM Plex Sans Bold"/>
                  <a:cs typeface="IBM Plex Sans Bold"/>
                  <a:sym typeface="IBM Plex Sans Bold"/>
                </a:rPr>
                <a:t>Multi-AZ</a:t>
              </a:r>
            </a:p>
          </p:txBody>
        </p:sp>
      </p:grpSp>
      <p:sp>
        <p:nvSpPr>
          <p:cNvPr name="AutoShape 21" id="21"/>
          <p:cNvSpPr/>
          <p:nvPr/>
        </p:nvSpPr>
        <p:spPr>
          <a:xfrm>
            <a:off x="13001625" y="3305175"/>
            <a:ext cx="666750" cy="0"/>
          </a:xfrm>
          <a:prstGeom prst="line">
            <a:avLst/>
          </a:prstGeom>
          <a:ln cap="rnd" w="47625">
            <a:solidFill>
              <a:srgbClr val="20A4F3"/>
            </a:solidFill>
            <a:prstDash val="solid"/>
            <a:headEnd type="none" len="sm" w="sm"/>
            <a:tailEnd type="none" len="sm" w="sm"/>
          </a:ln>
        </p:spPr>
      </p:sp>
      <p:grpSp>
        <p:nvGrpSpPr>
          <p:cNvPr name="Group 22" id="22"/>
          <p:cNvGrpSpPr/>
          <p:nvPr/>
        </p:nvGrpSpPr>
        <p:grpSpPr>
          <a:xfrm rot="0">
            <a:off x="13763625" y="2714625"/>
            <a:ext cx="2476500" cy="1190625"/>
            <a:chOff x="0" y="0"/>
            <a:chExt cx="3302000" cy="1587500"/>
          </a:xfrm>
        </p:grpSpPr>
        <p:sp>
          <p:nvSpPr>
            <p:cNvPr name="Freeform 23" id="23"/>
            <p:cNvSpPr/>
            <p:nvPr/>
          </p:nvSpPr>
          <p:spPr>
            <a:xfrm flipH="false" flipV="false" rot="0">
              <a:off x="0" y="0"/>
              <a:ext cx="3302000" cy="1587500"/>
            </a:xfrm>
            <a:custGeom>
              <a:avLst/>
              <a:gdLst/>
              <a:ahLst/>
              <a:cxnLst/>
              <a:rect r="r" b="b" t="t" l="l"/>
              <a:pathLst>
                <a:path h="1587500" w="3302000">
                  <a:moveTo>
                    <a:pt x="68385" y="0"/>
                  </a:moveTo>
                  <a:lnTo>
                    <a:pt x="3233615" y="0"/>
                  </a:lnTo>
                  <a:cubicBezTo>
                    <a:pt x="3251752" y="0"/>
                    <a:pt x="3269146" y="7205"/>
                    <a:pt x="3281971" y="20029"/>
                  </a:cubicBezTo>
                  <a:cubicBezTo>
                    <a:pt x="3294795" y="32854"/>
                    <a:pt x="3302000" y="50248"/>
                    <a:pt x="3302000" y="68385"/>
                  </a:cubicBezTo>
                  <a:lnTo>
                    <a:pt x="3302000" y="1519115"/>
                  </a:lnTo>
                  <a:cubicBezTo>
                    <a:pt x="3302000" y="1537252"/>
                    <a:pt x="3294795" y="1554646"/>
                    <a:pt x="3281971" y="1567471"/>
                  </a:cubicBezTo>
                  <a:cubicBezTo>
                    <a:pt x="3269146" y="1580295"/>
                    <a:pt x="3251752" y="1587500"/>
                    <a:pt x="3233615" y="1587500"/>
                  </a:cubicBezTo>
                  <a:lnTo>
                    <a:pt x="68385" y="1587500"/>
                  </a:lnTo>
                  <a:cubicBezTo>
                    <a:pt x="50248" y="1587500"/>
                    <a:pt x="32854" y="1580295"/>
                    <a:pt x="20029" y="1567471"/>
                  </a:cubicBezTo>
                  <a:cubicBezTo>
                    <a:pt x="7205" y="1554646"/>
                    <a:pt x="0" y="1537252"/>
                    <a:pt x="0" y="1519115"/>
                  </a:cubicBezTo>
                  <a:lnTo>
                    <a:pt x="0" y="68385"/>
                  </a:lnTo>
                  <a:cubicBezTo>
                    <a:pt x="0" y="50248"/>
                    <a:pt x="7205" y="32854"/>
                    <a:pt x="20029" y="20029"/>
                  </a:cubicBezTo>
                  <a:cubicBezTo>
                    <a:pt x="32854" y="7205"/>
                    <a:pt x="50248" y="0"/>
                    <a:pt x="68385" y="0"/>
                  </a:cubicBezTo>
                  <a:close/>
                </a:path>
              </a:pathLst>
            </a:custGeom>
            <a:solidFill>
              <a:srgbClr val="142A42"/>
            </a:solidFill>
            <a:ln w="19050" cap="sq">
              <a:solidFill>
                <a:srgbClr val="20A4F3"/>
              </a:solidFill>
              <a:prstDash val="solid"/>
              <a:miter/>
            </a:ln>
          </p:spPr>
        </p:sp>
        <p:sp>
          <p:nvSpPr>
            <p:cNvPr name="TextBox 24" id="24"/>
            <p:cNvSpPr txBox="true"/>
            <p:nvPr/>
          </p:nvSpPr>
          <p:spPr>
            <a:xfrm>
              <a:off x="0" y="-38100"/>
              <a:ext cx="3302000" cy="16256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CloudWatch</a:t>
              </a:r>
            </a:p>
          </p:txBody>
        </p:sp>
      </p:grpSp>
      <p:grpSp>
        <p:nvGrpSpPr>
          <p:cNvPr name="Group 25" id="25"/>
          <p:cNvGrpSpPr/>
          <p:nvPr/>
        </p:nvGrpSpPr>
        <p:grpSpPr>
          <a:xfrm rot="0">
            <a:off x="1143000" y="4857750"/>
            <a:ext cx="3429000" cy="685800"/>
            <a:chOff x="0" y="0"/>
            <a:chExt cx="4572000" cy="914400"/>
          </a:xfrm>
        </p:grpSpPr>
        <p:sp>
          <p:nvSpPr>
            <p:cNvPr name="Freeform 26" id="26"/>
            <p:cNvSpPr/>
            <p:nvPr/>
          </p:nvSpPr>
          <p:spPr>
            <a:xfrm flipH="false" flipV="false" rot="0">
              <a:off x="0" y="0"/>
              <a:ext cx="4572000" cy="914400"/>
            </a:xfrm>
            <a:custGeom>
              <a:avLst/>
              <a:gdLst/>
              <a:ahLst/>
              <a:cxnLst/>
              <a:rect r="r" b="b" t="t" l="l"/>
              <a:pathLst>
                <a:path h="914400" w="4572000">
                  <a:moveTo>
                    <a:pt x="49389" y="0"/>
                  </a:moveTo>
                  <a:lnTo>
                    <a:pt x="4522611" y="0"/>
                  </a:lnTo>
                  <a:cubicBezTo>
                    <a:pt x="4549888" y="0"/>
                    <a:pt x="4572000" y="22112"/>
                    <a:pt x="4572000" y="49389"/>
                  </a:cubicBezTo>
                  <a:lnTo>
                    <a:pt x="4572000" y="865011"/>
                  </a:lnTo>
                  <a:cubicBezTo>
                    <a:pt x="4572000" y="892288"/>
                    <a:pt x="4549888" y="914400"/>
                    <a:pt x="4522611" y="914400"/>
                  </a:cubicBezTo>
                  <a:lnTo>
                    <a:pt x="49389" y="914400"/>
                  </a:lnTo>
                  <a:cubicBezTo>
                    <a:pt x="22112" y="914400"/>
                    <a:pt x="0" y="892288"/>
                    <a:pt x="0" y="865011"/>
                  </a:cubicBezTo>
                  <a:lnTo>
                    <a:pt x="0" y="49389"/>
                  </a:lnTo>
                  <a:cubicBezTo>
                    <a:pt x="0" y="22112"/>
                    <a:pt x="22112" y="0"/>
                    <a:pt x="49389" y="0"/>
                  </a:cubicBezTo>
                  <a:close/>
                </a:path>
              </a:pathLst>
            </a:custGeom>
            <a:solidFill>
              <a:srgbClr val="101E31"/>
            </a:solidFill>
            <a:ln w="19050" cap="sq">
              <a:solidFill>
                <a:srgbClr val="29425F"/>
              </a:solidFill>
              <a:prstDash val="solid"/>
              <a:miter/>
            </a:ln>
          </p:spPr>
        </p:sp>
        <p:sp>
          <p:nvSpPr>
            <p:cNvPr name="TextBox 27" id="27"/>
            <p:cNvSpPr txBox="true"/>
            <p:nvPr/>
          </p:nvSpPr>
          <p:spPr>
            <a:xfrm>
              <a:off x="0" y="-38100"/>
              <a:ext cx="4572000" cy="9525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HTTPS + ACM</a:t>
              </a:r>
            </a:p>
          </p:txBody>
        </p:sp>
      </p:grpSp>
      <p:grpSp>
        <p:nvGrpSpPr>
          <p:cNvPr name="Group 28" id="28"/>
          <p:cNvGrpSpPr/>
          <p:nvPr/>
        </p:nvGrpSpPr>
        <p:grpSpPr>
          <a:xfrm rot="0">
            <a:off x="5238750" y="4857750"/>
            <a:ext cx="3429000" cy="685800"/>
            <a:chOff x="0" y="0"/>
            <a:chExt cx="4572000" cy="914400"/>
          </a:xfrm>
        </p:grpSpPr>
        <p:sp>
          <p:nvSpPr>
            <p:cNvPr name="Freeform 29" id="29"/>
            <p:cNvSpPr/>
            <p:nvPr/>
          </p:nvSpPr>
          <p:spPr>
            <a:xfrm flipH="false" flipV="false" rot="0">
              <a:off x="0" y="0"/>
              <a:ext cx="4572000" cy="914400"/>
            </a:xfrm>
            <a:custGeom>
              <a:avLst/>
              <a:gdLst/>
              <a:ahLst/>
              <a:cxnLst/>
              <a:rect r="r" b="b" t="t" l="l"/>
              <a:pathLst>
                <a:path h="914400" w="4572000">
                  <a:moveTo>
                    <a:pt x="49389" y="0"/>
                  </a:moveTo>
                  <a:lnTo>
                    <a:pt x="4522611" y="0"/>
                  </a:lnTo>
                  <a:cubicBezTo>
                    <a:pt x="4549888" y="0"/>
                    <a:pt x="4572000" y="22112"/>
                    <a:pt x="4572000" y="49389"/>
                  </a:cubicBezTo>
                  <a:lnTo>
                    <a:pt x="4572000" y="865011"/>
                  </a:lnTo>
                  <a:cubicBezTo>
                    <a:pt x="4572000" y="892288"/>
                    <a:pt x="4549888" y="914400"/>
                    <a:pt x="4522611" y="914400"/>
                  </a:cubicBezTo>
                  <a:lnTo>
                    <a:pt x="49389" y="914400"/>
                  </a:lnTo>
                  <a:cubicBezTo>
                    <a:pt x="22112" y="914400"/>
                    <a:pt x="0" y="892288"/>
                    <a:pt x="0" y="865011"/>
                  </a:cubicBezTo>
                  <a:lnTo>
                    <a:pt x="0" y="49389"/>
                  </a:lnTo>
                  <a:cubicBezTo>
                    <a:pt x="0" y="22112"/>
                    <a:pt x="22112" y="0"/>
                    <a:pt x="49389" y="0"/>
                  </a:cubicBezTo>
                  <a:close/>
                </a:path>
              </a:pathLst>
            </a:custGeom>
            <a:solidFill>
              <a:srgbClr val="101E31"/>
            </a:solidFill>
            <a:ln w="19050" cap="sq">
              <a:solidFill>
                <a:srgbClr val="29425F"/>
              </a:solidFill>
              <a:prstDash val="solid"/>
              <a:miter/>
            </a:ln>
          </p:spPr>
        </p:sp>
        <p:sp>
          <p:nvSpPr>
            <p:cNvPr name="TextBox 30" id="30"/>
            <p:cNvSpPr txBox="true"/>
            <p:nvPr/>
          </p:nvSpPr>
          <p:spPr>
            <a:xfrm>
              <a:off x="0" y="-38100"/>
              <a:ext cx="4572000" cy="9525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AWS WAF</a:t>
              </a:r>
            </a:p>
          </p:txBody>
        </p:sp>
      </p:grpSp>
      <p:grpSp>
        <p:nvGrpSpPr>
          <p:cNvPr name="Group 31" id="31"/>
          <p:cNvGrpSpPr/>
          <p:nvPr/>
        </p:nvGrpSpPr>
        <p:grpSpPr>
          <a:xfrm rot="0">
            <a:off x="9334500" y="4857750"/>
            <a:ext cx="3429000" cy="685800"/>
            <a:chOff x="0" y="0"/>
            <a:chExt cx="4572000" cy="914400"/>
          </a:xfrm>
        </p:grpSpPr>
        <p:sp>
          <p:nvSpPr>
            <p:cNvPr name="Freeform 32" id="32"/>
            <p:cNvSpPr/>
            <p:nvPr/>
          </p:nvSpPr>
          <p:spPr>
            <a:xfrm flipH="false" flipV="false" rot="0">
              <a:off x="0" y="0"/>
              <a:ext cx="4572000" cy="914400"/>
            </a:xfrm>
            <a:custGeom>
              <a:avLst/>
              <a:gdLst/>
              <a:ahLst/>
              <a:cxnLst/>
              <a:rect r="r" b="b" t="t" l="l"/>
              <a:pathLst>
                <a:path h="914400" w="4572000">
                  <a:moveTo>
                    <a:pt x="49389" y="0"/>
                  </a:moveTo>
                  <a:lnTo>
                    <a:pt x="4522611" y="0"/>
                  </a:lnTo>
                  <a:cubicBezTo>
                    <a:pt x="4549888" y="0"/>
                    <a:pt x="4572000" y="22112"/>
                    <a:pt x="4572000" y="49389"/>
                  </a:cubicBezTo>
                  <a:lnTo>
                    <a:pt x="4572000" y="865011"/>
                  </a:lnTo>
                  <a:cubicBezTo>
                    <a:pt x="4572000" y="892288"/>
                    <a:pt x="4549888" y="914400"/>
                    <a:pt x="4522611" y="914400"/>
                  </a:cubicBezTo>
                  <a:lnTo>
                    <a:pt x="49389" y="914400"/>
                  </a:lnTo>
                  <a:cubicBezTo>
                    <a:pt x="22112" y="914400"/>
                    <a:pt x="0" y="892288"/>
                    <a:pt x="0" y="865011"/>
                  </a:cubicBezTo>
                  <a:lnTo>
                    <a:pt x="0" y="49389"/>
                  </a:lnTo>
                  <a:cubicBezTo>
                    <a:pt x="0" y="22112"/>
                    <a:pt x="22112" y="0"/>
                    <a:pt x="49389" y="0"/>
                  </a:cubicBezTo>
                  <a:close/>
                </a:path>
              </a:pathLst>
            </a:custGeom>
            <a:solidFill>
              <a:srgbClr val="101E31"/>
            </a:solidFill>
            <a:ln w="19050" cap="sq">
              <a:solidFill>
                <a:srgbClr val="29425F"/>
              </a:solidFill>
              <a:prstDash val="solid"/>
              <a:miter/>
            </a:ln>
          </p:spPr>
        </p:sp>
        <p:sp>
          <p:nvSpPr>
            <p:cNvPr name="TextBox 33" id="33"/>
            <p:cNvSpPr txBox="true"/>
            <p:nvPr/>
          </p:nvSpPr>
          <p:spPr>
            <a:xfrm>
              <a:off x="0" y="-38100"/>
              <a:ext cx="4572000" cy="9525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CUSTOM DOMAIN</a:t>
              </a:r>
            </a:p>
          </p:txBody>
        </p:sp>
      </p:grpSp>
      <p:grpSp>
        <p:nvGrpSpPr>
          <p:cNvPr name="Group 34" id="34"/>
          <p:cNvGrpSpPr/>
          <p:nvPr/>
        </p:nvGrpSpPr>
        <p:grpSpPr>
          <a:xfrm rot="0">
            <a:off x="13430250" y="4857750"/>
            <a:ext cx="3429000" cy="685800"/>
            <a:chOff x="0" y="0"/>
            <a:chExt cx="4572000" cy="914400"/>
          </a:xfrm>
        </p:grpSpPr>
        <p:sp>
          <p:nvSpPr>
            <p:cNvPr name="Freeform 35" id="35"/>
            <p:cNvSpPr/>
            <p:nvPr/>
          </p:nvSpPr>
          <p:spPr>
            <a:xfrm flipH="false" flipV="false" rot="0">
              <a:off x="0" y="0"/>
              <a:ext cx="4572000" cy="914400"/>
            </a:xfrm>
            <a:custGeom>
              <a:avLst/>
              <a:gdLst/>
              <a:ahLst/>
              <a:cxnLst/>
              <a:rect r="r" b="b" t="t" l="l"/>
              <a:pathLst>
                <a:path h="914400" w="4572000">
                  <a:moveTo>
                    <a:pt x="49389" y="0"/>
                  </a:moveTo>
                  <a:lnTo>
                    <a:pt x="4522611" y="0"/>
                  </a:lnTo>
                  <a:cubicBezTo>
                    <a:pt x="4549888" y="0"/>
                    <a:pt x="4572000" y="22112"/>
                    <a:pt x="4572000" y="49389"/>
                  </a:cubicBezTo>
                  <a:lnTo>
                    <a:pt x="4572000" y="865011"/>
                  </a:lnTo>
                  <a:cubicBezTo>
                    <a:pt x="4572000" y="892288"/>
                    <a:pt x="4549888" y="914400"/>
                    <a:pt x="4522611" y="914400"/>
                  </a:cubicBezTo>
                  <a:lnTo>
                    <a:pt x="49389" y="914400"/>
                  </a:lnTo>
                  <a:cubicBezTo>
                    <a:pt x="22112" y="914400"/>
                    <a:pt x="0" y="892288"/>
                    <a:pt x="0" y="865011"/>
                  </a:cubicBezTo>
                  <a:lnTo>
                    <a:pt x="0" y="49389"/>
                  </a:lnTo>
                  <a:cubicBezTo>
                    <a:pt x="0" y="22112"/>
                    <a:pt x="22112" y="0"/>
                    <a:pt x="49389" y="0"/>
                  </a:cubicBezTo>
                  <a:close/>
                </a:path>
              </a:pathLst>
            </a:custGeom>
            <a:solidFill>
              <a:srgbClr val="101E31"/>
            </a:solidFill>
            <a:ln w="19050" cap="sq">
              <a:solidFill>
                <a:srgbClr val="29425F"/>
              </a:solidFill>
              <a:prstDash val="solid"/>
              <a:miter/>
            </a:ln>
          </p:spPr>
        </p:sp>
        <p:sp>
          <p:nvSpPr>
            <p:cNvPr name="TextBox 36" id="36"/>
            <p:cNvSpPr txBox="true"/>
            <p:nvPr/>
          </p:nvSpPr>
          <p:spPr>
            <a:xfrm>
              <a:off x="0" y="-38100"/>
              <a:ext cx="4572000" cy="9525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RDS MULTI-AZ</a:t>
              </a:r>
            </a:p>
          </p:txBody>
        </p:sp>
      </p:grpSp>
      <p:grpSp>
        <p:nvGrpSpPr>
          <p:cNvPr name="Group 37" id="37"/>
          <p:cNvGrpSpPr/>
          <p:nvPr/>
        </p:nvGrpSpPr>
        <p:grpSpPr>
          <a:xfrm rot="0">
            <a:off x="1143000" y="5905500"/>
            <a:ext cx="3429000" cy="685800"/>
            <a:chOff x="0" y="0"/>
            <a:chExt cx="4572000" cy="914400"/>
          </a:xfrm>
        </p:grpSpPr>
        <p:sp>
          <p:nvSpPr>
            <p:cNvPr name="Freeform 38" id="38"/>
            <p:cNvSpPr/>
            <p:nvPr/>
          </p:nvSpPr>
          <p:spPr>
            <a:xfrm flipH="false" flipV="false" rot="0">
              <a:off x="0" y="0"/>
              <a:ext cx="4572000" cy="914400"/>
            </a:xfrm>
            <a:custGeom>
              <a:avLst/>
              <a:gdLst/>
              <a:ahLst/>
              <a:cxnLst/>
              <a:rect r="r" b="b" t="t" l="l"/>
              <a:pathLst>
                <a:path h="914400" w="4572000">
                  <a:moveTo>
                    <a:pt x="49389" y="0"/>
                  </a:moveTo>
                  <a:lnTo>
                    <a:pt x="4522611" y="0"/>
                  </a:lnTo>
                  <a:cubicBezTo>
                    <a:pt x="4549888" y="0"/>
                    <a:pt x="4572000" y="22112"/>
                    <a:pt x="4572000" y="49389"/>
                  </a:cubicBezTo>
                  <a:lnTo>
                    <a:pt x="4572000" y="865011"/>
                  </a:lnTo>
                  <a:cubicBezTo>
                    <a:pt x="4572000" y="892288"/>
                    <a:pt x="4549888" y="914400"/>
                    <a:pt x="4522611" y="914400"/>
                  </a:cubicBezTo>
                  <a:lnTo>
                    <a:pt x="49389" y="914400"/>
                  </a:lnTo>
                  <a:cubicBezTo>
                    <a:pt x="22112" y="914400"/>
                    <a:pt x="0" y="892288"/>
                    <a:pt x="0" y="865011"/>
                  </a:cubicBezTo>
                  <a:lnTo>
                    <a:pt x="0" y="49389"/>
                  </a:lnTo>
                  <a:cubicBezTo>
                    <a:pt x="0" y="22112"/>
                    <a:pt x="22112" y="0"/>
                    <a:pt x="49389" y="0"/>
                  </a:cubicBezTo>
                  <a:close/>
                </a:path>
              </a:pathLst>
            </a:custGeom>
            <a:solidFill>
              <a:srgbClr val="101E31"/>
            </a:solidFill>
            <a:ln w="19050" cap="sq">
              <a:solidFill>
                <a:srgbClr val="29425F"/>
              </a:solidFill>
              <a:prstDash val="solid"/>
              <a:miter/>
            </a:ln>
          </p:spPr>
        </p:sp>
        <p:sp>
          <p:nvSpPr>
            <p:cNvPr name="TextBox 39" id="39"/>
            <p:cNvSpPr txBox="true"/>
            <p:nvPr/>
          </p:nvSpPr>
          <p:spPr>
            <a:xfrm>
              <a:off x="0" y="-38100"/>
              <a:ext cx="4572000" cy="9525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CENTRAL LOGGING</a:t>
              </a:r>
            </a:p>
          </p:txBody>
        </p:sp>
      </p:grpSp>
      <p:grpSp>
        <p:nvGrpSpPr>
          <p:cNvPr name="Group 40" id="40"/>
          <p:cNvGrpSpPr/>
          <p:nvPr/>
        </p:nvGrpSpPr>
        <p:grpSpPr>
          <a:xfrm rot="0">
            <a:off x="5238750" y="5905500"/>
            <a:ext cx="3429000" cy="685800"/>
            <a:chOff x="0" y="0"/>
            <a:chExt cx="4572000" cy="914400"/>
          </a:xfrm>
        </p:grpSpPr>
        <p:sp>
          <p:nvSpPr>
            <p:cNvPr name="Freeform 41" id="41"/>
            <p:cNvSpPr/>
            <p:nvPr/>
          </p:nvSpPr>
          <p:spPr>
            <a:xfrm flipH="false" flipV="false" rot="0">
              <a:off x="0" y="0"/>
              <a:ext cx="4572000" cy="914400"/>
            </a:xfrm>
            <a:custGeom>
              <a:avLst/>
              <a:gdLst/>
              <a:ahLst/>
              <a:cxnLst/>
              <a:rect r="r" b="b" t="t" l="l"/>
              <a:pathLst>
                <a:path h="914400" w="4572000">
                  <a:moveTo>
                    <a:pt x="49389" y="0"/>
                  </a:moveTo>
                  <a:lnTo>
                    <a:pt x="4522611" y="0"/>
                  </a:lnTo>
                  <a:cubicBezTo>
                    <a:pt x="4549888" y="0"/>
                    <a:pt x="4572000" y="22112"/>
                    <a:pt x="4572000" y="49389"/>
                  </a:cubicBezTo>
                  <a:lnTo>
                    <a:pt x="4572000" y="865011"/>
                  </a:lnTo>
                  <a:cubicBezTo>
                    <a:pt x="4572000" y="892288"/>
                    <a:pt x="4549888" y="914400"/>
                    <a:pt x="4522611" y="914400"/>
                  </a:cubicBezTo>
                  <a:lnTo>
                    <a:pt x="49389" y="914400"/>
                  </a:lnTo>
                  <a:cubicBezTo>
                    <a:pt x="22112" y="914400"/>
                    <a:pt x="0" y="892288"/>
                    <a:pt x="0" y="865011"/>
                  </a:cubicBezTo>
                  <a:lnTo>
                    <a:pt x="0" y="49389"/>
                  </a:lnTo>
                  <a:cubicBezTo>
                    <a:pt x="0" y="22112"/>
                    <a:pt x="22112" y="0"/>
                    <a:pt x="49389" y="0"/>
                  </a:cubicBezTo>
                  <a:close/>
                </a:path>
              </a:pathLst>
            </a:custGeom>
            <a:solidFill>
              <a:srgbClr val="101E31"/>
            </a:solidFill>
            <a:ln w="19050" cap="sq">
              <a:solidFill>
                <a:srgbClr val="29425F"/>
              </a:solidFill>
              <a:prstDash val="solid"/>
              <a:miter/>
            </a:ln>
          </p:spPr>
        </p:sp>
        <p:sp>
          <p:nvSpPr>
            <p:cNvPr name="TextBox 42" id="42"/>
            <p:cNvSpPr txBox="true"/>
            <p:nvPr/>
          </p:nvSpPr>
          <p:spPr>
            <a:xfrm>
              <a:off x="0" y="-38100"/>
              <a:ext cx="4572000" cy="9525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AUTOMATED CUTOVER</a:t>
              </a:r>
            </a:p>
          </p:txBody>
        </p:sp>
      </p:grpSp>
      <p:grpSp>
        <p:nvGrpSpPr>
          <p:cNvPr name="Group 43" id="43"/>
          <p:cNvGrpSpPr/>
          <p:nvPr/>
        </p:nvGrpSpPr>
        <p:grpSpPr>
          <a:xfrm rot="0">
            <a:off x="9334500" y="5905500"/>
            <a:ext cx="3429000" cy="685800"/>
            <a:chOff x="0" y="0"/>
            <a:chExt cx="4572000" cy="914400"/>
          </a:xfrm>
        </p:grpSpPr>
        <p:sp>
          <p:nvSpPr>
            <p:cNvPr name="Freeform 44" id="44"/>
            <p:cNvSpPr/>
            <p:nvPr/>
          </p:nvSpPr>
          <p:spPr>
            <a:xfrm flipH="false" flipV="false" rot="0">
              <a:off x="0" y="0"/>
              <a:ext cx="4572000" cy="914400"/>
            </a:xfrm>
            <a:custGeom>
              <a:avLst/>
              <a:gdLst/>
              <a:ahLst/>
              <a:cxnLst/>
              <a:rect r="r" b="b" t="t" l="l"/>
              <a:pathLst>
                <a:path h="914400" w="4572000">
                  <a:moveTo>
                    <a:pt x="49389" y="0"/>
                  </a:moveTo>
                  <a:lnTo>
                    <a:pt x="4522611" y="0"/>
                  </a:lnTo>
                  <a:cubicBezTo>
                    <a:pt x="4549888" y="0"/>
                    <a:pt x="4572000" y="22112"/>
                    <a:pt x="4572000" y="49389"/>
                  </a:cubicBezTo>
                  <a:lnTo>
                    <a:pt x="4572000" y="865011"/>
                  </a:lnTo>
                  <a:cubicBezTo>
                    <a:pt x="4572000" y="892288"/>
                    <a:pt x="4549888" y="914400"/>
                    <a:pt x="4522611" y="914400"/>
                  </a:cubicBezTo>
                  <a:lnTo>
                    <a:pt x="49389" y="914400"/>
                  </a:lnTo>
                  <a:cubicBezTo>
                    <a:pt x="22112" y="914400"/>
                    <a:pt x="0" y="892288"/>
                    <a:pt x="0" y="865011"/>
                  </a:cubicBezTo>
                  <a:lnTo>
                    <a:pt x="0" y="49389"/>
                  </a:lnTo>
                  <a:cubicBezTo>
                    <a:pt x="0" y="22112"/>
                    <a:pt x="22112" y="0"/>
                    <a:pt x="49389" y="0"/>
                  </a:cubicBezTo>
                  <a:close/>
                </a:path>
              </a:pathLst>
            </a:custGeom>
            <a:solidFill>
              <a:srgbClr val="101E31"/>
            </a:solidFill>
            <a:ln w="19050" cap="sq">
              <a:solidFill>
                <a:srgbClr val="29425F"/>
              </a:solidFill>
              <a:prstDash val="solid"/>
              <a:miter/>
            </a:ln>
          </p:spPr>
        </p:sp>
        <p:sp>
          <p:nvSpPr>
            <p:cNvPr name="TextBox 45" id="45"/>
            <p:cNvSpPr txBox="true"/>
            <p:nvPr/>
          </p:nvSpPr>
          <p:spPr>
            <a:xfrm>
              <a:off x="0" y="-38100"/>
              <a:ext cx="4572000" cy="952500"/>
            </a:xfrm>
            <a:prstGeom prst="rect">
              <a:avLst/>
            </a:prstGeom>
          </p:spPr>
          <p:txBody>
            <a:bodyPr anchor="ctr" rtlCol="false" tIns="50800" lIns="50800" bIns="50800" rIns="50800"/>
            <a:lstStyle/>
            <a:p>
              <a:pPr algn="ctr">
                <a:lnSpc>
                  <a:spcPts val="2310"/>
                </a:lnSpc>
              </a:pPr>
              <a:r>
                <a:rPr lang="en-US" sz="1650" b="true">
                  <a:solidFill>
                    <a:srgbClr val="F7FBFF"/>
                  </a:solidFill>
                  <a:latin typeface="IBM Plex Sans Bold"/>
                  <a:ea typeface="IBM Plex Sans Bold"/>
                  <a:cs typeface="IBM Plex Sans Bold"/>
                  <a:sym typeface="IBM Plex Sans Bold"/>
                </a:rPr>
                <a:t>PROD DASHBOARD</a:t>
              </a:r>
            </a:p>
          </p:txBody>
        </p:sp>
      </p:grpSp>
      <p:sp>
        <p:nvSpPr>
          <p:cNvPr name="TextBox 46" id="46"/>
          <p:cNvSpPr txBox="true"/>
          <p:nvPr/>
        </p:nvSpPr>
        <p:spPr>
          <a:xfrm rot="0">
            <a:off x="1714500" y="7448550"/>
            <a:ext cx="14859000" cy="747713"/>
          </a:xfrm>
          <a:prstGeom prst="rect">
            <a:avLst/>
          </a:prstGeom>
        </p:spPr>
        <p:txBody>
          <a:bodyPr anchor="t" rtlCol="false" tIns="0" lIns="0" bIns="0" rIns="0">
            <a:spAutoFit/>
          </a:bodyPr>
          <a:lstStyle/>
          <a:p>
            <a:pPr algn="ctr">
              <a:lnSpc>
                <a:spcPts val="3037"/>
              </a:lnSpc>
            </a:pPr>
            <a:r>
              <a:rPr lang="en-US" sz="2250" b="true">
                <a:solidFill>
                  <a:srgbClr val="F7FBFF"/>
                </a:solidFill>
                <a:latin typeface="IBM Plex Sans Bold"/>
                <a:ea typeface="IBM Plex Sans Bold"/>
                <a:cs typeface="IBM Plex Sans Bold"/>
                <a:sym typeface="IBM Plex Sans Bold"/>
              </a:rPr>
              <a:t>Core MGN replication, a working multi-server web farm, ALB traffic distribution and CloudWatch monitoring are proven. The architecture is ready to scale toward the original eight-server target.</a:t>
            </a:r>
          </a:p>
        </p:txBody>
      </p:sp>
      <p:sp>
        <p:nvSpPr>
          <p:cNvPr name="TextBox 47" id="47"/>
          <p:cNvSpPr txBox="true"/>
          <p:nvPr/>
        </p:nvSpPr>
        <p:spPr>
          <a:xfrm rot="0">
            <a:off x="4953000" y="9010650"/>
            <a:ext cx="8382000" cy="306705"/>
          </a:xfrm>
          <a:prstGeom prst="rect">
            <a:avLst/>
          </a:prstGeom>
        </p:spPr>
        <p:txBody>
          <a:bodyPr anchor="t" rtlCol="false" tIns="0" lIns="0" bIns="0" rIns="0">
            <a:spAutoFit/>
          </a:bodyPr>
          <a:lstStyle/>
          <a:p>
            <a:pPr algn="ctr">
              <a:lnSpc>
                <a:spcPts val="2520"/>
              </a:lnSpc>
            </a:pPr>
            <a:r>
              <a:rPr lang="en-US" sz="1800" b="true">
                <a:solidFill>
                  <a:srgbClr val="FF9900"/>
                </a:solidFill>
                <a:latin typeface="IBM Plex Mono Bold"/>
                <a:ea typeface="IBM Plex Mono Bold"/>
                <a:cs typeface="IBM Plex Mono Bold"/>
                <a:sym typeface="IBM Plex Mono Bold"/>
              </a:rPr>
              <a:t>EVIDENCE DELIVERED  •  PRODUCTION PATH DEFINED</a:t>
            </a:r>
          </a:p>
        </p:txBody>
      </p:sp>
      <p:sp>
        <p:nvSpPr>
          <p:cNvPr name="TextBox 48" id="48"/>
          <p:cNvSpPr txBox="true"/>
          <p:nvPr/>
        </p:nvSpPr>
        <p:spPr>
          <a:xfrm rot="0">
            <a:off x="838200" y="9763125"/>
            <a:ext cx="6858000" cy="232410"/>
          </a:xfrm>
          <a:prstGeom prst="rect">
            <a:avLst/>
          </a:prstGeom>
        </p:spPr>
        <p:txBody>
          <a:bodyPr anchor="t" rtlCol="false" tIns="0" lIns="0" bIns="0" rIns="0">
            <a:spAutoFit/>
          </a:bodyPr>
          <a:lstStyle/>
          <a:p>
            <a:pPr algn="l">
              <a:lnSpc>
                <a:spcPts val="1889"/>
              </a:lnSpc>
            </a:pPr>
            <a:r>
              <a:rPr lang="en-US" sz="1350">
                <a:solidFill>
                  <a:srgbClr val="9BB0C7"/>
                </a:solidFill>
                <a:latin typeface="IBM Plex Mono"/>
                <a:ea typeface="IBM Plex Mono"/>
                <a:cs typeface="IBM Plex Mono"/>
                <a:sym typeface="IBM Plex Mono"/>
              </a:rPr>
              <a:t>Y24-SAA-Team391  •  24CC3014-P109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DAHW_XgKc2Y</dc:identifier>
  <dcterms:modified xsi:type="dcterms:W3CDTF">2011-08-01T06:04:30Z</dcterms:modified>
  <cp:revision>1</cp:revision>
  <dc:title>AWS MGN Web Farm Review</dc:title>
</cp:coreProperties>
</file>